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5"/>
  </p:notesMasterIdLst>
  <p:sldIdLst>
    <p:sldId id="423" r:id="rId2"/>
    <p:sldId id="479" r:id="rId3"/>
    <p:sldId id="480" r:id="rId4"/>
    <p:sldId id="481" r:id="rId5"/>
    <p:sldId id="482" r:id="rId6"/>
    <p:sldId id="483" r:id="rId7"/>
    <p:sldId id="484" r:id="rId8"/>
    <p:sldId id="486" r:id="rId9"/>
    <p:sldId id="487" r:id="rId10"/>
    <p:sldId id="485" r:id="rId11"/>
    <p:sldId id="489" r:id="rId12"/>
    <p:sldId id="490" r:id="rId13"/>
    <p:sldId id="491" r:id="rId14"/>
    <p:sldId id="492" r:id="rId15"/>
    <p:sldId id="493" r:id="rId16"/>
    <p:sldId id="494" r:id="rId17"/>
    <p:sldId id="495" r:id="rId18"/>
    <p:sldId id="496" r:id="rId19"/>
    <p:sldId id="497" r:id="rId20"/>
    <p:sldId id="512" r:id="rId21"/>
    <p:sldId id="513" r:id="rId22"/>
    <p:sldId id="514" r:id="rId23"/>
    <p:sldId id="515" r:id="rId24"/>
    <p:sldId id="499" r:id="rId25"/>
    <p:sldId id="500" r:id="rId26"/>
    <p:sldId id="501" r:id="rId27"/>
    <p:sldId id="516" r:id="rId28"/>
    <p:sldId id="502" r:id="rId29"/>
    <p:sldId id="503" r:id="rId30"/>
    <p:sldId id="504" r:id="rId31"/>
    <p:sldId id="517" r:id="rId32"/>
    <p:sldId id="540" r:id="rId33"/>
    <p:sldId id="541" r:id="rId34"/>
    <p:sldId id="505" r:id="rId35"/>
    <p:sldId id="506" r:id="rId36"/>
    <p:sldId id="518" r:id="rId37"/>
    <p:sldId id="542" r:id="rId38"/>
    <p:sldId id="543" r:id="rId39"/>
    <p:sldId id="544" r:id="rId40"/>
    <p:sldId id="545" r:id="rId41"/>
    <p:sldId id="546" r:id="rId42"/>
    <p:sldId id="547" r:id="rId43"/>
    <p:sldId id="548" r:id="rId44"/>
    <p:sldId id="549" r:id="rId45"/>
    <p:sldId id="550" r:id="rId46"/>
    <p:sldId id="551" r:id="rId47"/>
    <p:sldId id="552" r:id="rId48"/>
    <p:sldId id="553" r:id="rId49"/>
    <p:sldId id="554" r:id="rId50"/>
    <p:sldId id="555" r:id="rId51"/>
    <p:sldId id="556" r:id="rId52"/>
    <p:sldId id="557" r:id="rId53"/>
    <p:sldId id="558" r:id="rId54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66" autoAdjust="0"/>
    <p:restoredTop sz="90723" autoAdjust="0"/>
  </p:normalViewPr>
  <p:slideViewPr>
    <p:cSldViewPr>
      <p:cViewPr varScale="1">
        <p:scale>
          <a:sx n="78" d="100"/>
          <a:sy n="78" d="100"/>
        </p:scale>
        <p:origin x="1622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1909B8-69A8-4794-9070-E77F58452345}" type="datetimeFigureOut">
              <a:rPr lang="en-US" smtClean="0"/>
              <a:t>10/22/2023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C8D979-50C6-4BCE-A341-36018BAC8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05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8D979-50C6-4BCE-A341-36018BAC88E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914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8D979-50C6-4BCE-A341-36018BAC88E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59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80727-6435-4FD8-8AAF-C1A1D019B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A0836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060D67-F8CB-4292-A9C3-AA0FB5713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A0836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F28BC-1ABC-40FE-8889-3D533EC8B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547AD3-105E-47C4-B707-28FDC31819FA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083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A0836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6799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rgbClr val="8C735A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>
            <a:extLst>
              <a:ext uri="{FF2B5EF4-FFF2-40B4-BE49-F238E27FC236}">
                <a16:creationId xmlns:a16="http://schemas.microsoft.com/office/drawing/2014/main" id="{DE1104CE-9A09-4D86-8ACB-6478EA6BFFA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872538" cy="6858000"/>
            <a:chOff x="0" y="0"/>
            <a:chExt cx="5589" cy="4320"/>
          </a:xfrm>
        </p:grpSpPr>
        <p:sp>
          <p:nvSpPr>
            <p:cNvPr id="3075" name="Rectangle 3">
              <a:extLst>
                <a:ext uri="{FF2B5EF4-FFF2-40B4-BE49-F238E27FC236}">
                  <a16:creationId xmlns:a16="http://schemas.microsoft.com/office/drawing/2014/main" id="{2C56BC7D-7F61-4BB3-A62E-B9765C553AF1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336" y="150"/>
              <a:ext cx="5253" cy="40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02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pic>
          <p:nvPicPr>
            <p:cNvPr id="3076" name="Picture 4" descr="minispir">
              <a:extLst>
                <a:ext uri="{FF2B5EF4-FFF2-40B4-BE49-F238E27FC236}">
                  <a16:creationId xmlns:a16="http://schemas.microsoft.com/office/drawing/2014/main" id="{C7ED9034-E9F0-41A8-8739-28959A95DB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ltGray">
            <a:xfrm>
              <a:off x="0" y="0"/>
              <a:ext cx="670" cy="4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77" name="Line 5">
              <a:extLst>
                <a:ext uri="{FF2B5EF4-FFF2-40B4-BE49-F238E27FC236}">
                  <a16:creationId xmlns:a16="http://schemas.microsoft.com/office/drawing/2014/main" id="{09FC7426-7867-4D01-83E7-A73D64F1E5D6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640" y="1008"/>
              <a:ext cx="4880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02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8" name="Rectangle 6">
            <a:extLst>
              <a:ext uri="{FF2B5EF4-FFF2-40B4-BE49-F238E27FC236}">
                <a16:creationId xmlns:a16="http://schemas.microsoft.com/office/drawing/2014/main" id="{BCCB29D0-F6CD-4C65-86A3-6EBA705403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457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28398" dir="3806097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Haga clic para modificar el estilo de título del patrón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70DB1E2F-A9DC-44EC-B936-AA506F4E28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18288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Haga clic para modificar el estilo de texto del patrón</a:t>
            </a:r>
          </a:p>
          <a:p>
            <a:pPr lvl="1"/>
            <a:r>
              <a:rPr lang="en-US" altLang="en-US"/>
              <a:t>Segundo nivel</a:t>
            </a:r>
          </a:p>
          <a:p>
            <a:pPr lvl="2"/>
            <a:r>
              <a:rPr lang="en-US" altLang="en-US"/>
              <a:t>Tercer nivel</a:t>
            </a:r>
          </a:p>
          <a:p>
            <a:pPr lvl="3"/>
            <a:r>
              <a:rPr lang="en-US" altLang="en-US"/>
              <a:t>Cuarto nivel</a:t>
            </a:r>
          </a:p>
          <a:p>
            <a:pPr lvl="4"/>
            <a:r>
              <a:rPr lang="en-US" altLang="en-US"/>
              <a:t>Quinto nivel</a:t>
            </a:r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ABB46CE9-3863-44B7-8ACD-1C7D53BD4A1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0960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A0836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81" name="Rectangle 9">
            <a:extLst>
              <a:ext uri="{FF2B5EF4-FFF2-40B4-BE49-F238E27FC236}">
                <a16:creationId xmlns:a16="http://schemas.microsoft.com/office/drawing/2014/main" id="{3F28BEA7-B163-4826-A4AD-3297DBA8B5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0960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A0836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82" name="Rectangle 10">
            <a:extLst>
              <a:ext uri="{FF2B5EF4-FFF2-40B4-BE49-F238E27FC236}">
                <a16:creationId xmlns:a16="http://schemas.microsoft.com/office/drawing/2014/main" id="{712D4EC9-4327-4CE6-97DD-7C1CC94C8A8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0960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96EE8A9-8D1B-44BF-970F-46383B3E0E7C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A083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A0836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8488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Monotype Sorts" pitchFamily="2" charset="2"/>
        <a:buChar char="4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27.png"/><Relationship Id="rId7" Type="http://schemas.openxmlformats.org/officeDocument/2006/relationships/image" Target="../media/image14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4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2.png"/><Relationship Id="rId7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4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58.png"/><Relationship Id="rId7" Type="http://schemas.openxmlformats.org/officeDocument/2006/relationships/image" Target="../media/image59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0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9" Type="http://schemas.openxmlformats.org/officeDocument/2006/relationships/image" Target="../media/image6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0.png"/><Relationship Id="rId3" Type="http://schemas.openxmlformats.org/officeDocument/2006/relationships/image" Target="../media/image26.png"/><Relationship Id="rId7" Type="http://schemas.openxmlformats.org/officeDocument/2006/relationships/image" Target="../media/image280.pn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73.png"/><Relationship Id="rId5" Type="http://schemas.openxmlformats.org/officeDocument/2006/relationships/image" Target="../media/image71.png"/><Relationship Id="rId10" Type="http://schemas.openxmlformats.org/officeDocument/2006/relationships/image" Target="../media/image720.png"/><Relationship Id="rId4" Type="http://schemas.openxmlformats.org/officeDocument/2006/relationships/image" Target="../media/image70.png"/><Relationship Id="rId9" Type="http://schemas.openxmlformats.org/officeDocument/2006/relationships/image" Target="../media/image29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image" Target="../media/image87.png"/><Relationship Id="rId16" Type="http://schemas.openxmlformats.org/officeDocument/2006/relationships/image" Target="../media/image9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94.png"/><Relationship Id="rId5" Type="http://schemas.openxmlformats.org/officeDocument/2006/relationships/image" Target="../media/image90.png"/><Relationship Id="rId15" Type="http://schemas.openxmlformats.org/officeDocument/2006/relationships/image" Target="../media/image98.png"/><Relationship Id="rId10" Type="http://schemas.openxmlformats.org/officeDocument/2006/relationships/image" Target="../media/image931.png"/><Relationship Id="rId4" Type="http://schemas.openxmlformats.org/officeDocument/2006/relationships/image" Target="../media/image89.png"/><Relationship Id="rId9" Type="http://schemas.openxmlformats.org/officeDocument/2006/relationships/image" Target="../media/image921.png"/><Relationship Id="rId14" Type="http://schemas.openxmlformats.org/officeDocument/2006/relationships/image" Target="../media/image9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19.png"/><Relationship Id="rId18" Type="http://schemas.openxmlformats.org/officeDocument/2006/relationships/image" Target="../media/image1040.png"/><Relationship Id="rId3" Type="http://schemas.openxmlformats.org/officeDocument/2006/relationships/image" Target="../media/image115.png"/><Relationship Id="rId7" Type="http://schemas.openxmlformats.org/officeDocument/2006/relationships/image" Target="../media/image930.png"/><Relationship Id="rId12" Type="http://schemas.openxmlformats.org/officeDocument/2006/relationships/image" Target="../media/image980.png"/><Relationship Id="rId17" Type="http://schemas.openxmlformats.org/officeDocument/2006/relationships/image" Target="../media/image1030.png"/><Relationship Id="rId2" Type="http://schemas.openxmlformats.org/officeDocument/2006/relationships/image" Target="../media/image114.png"/><Relationship Id="rId16" Type="http://schemas.openxmlformats.org/officeDocument/2006/relationships/image" Target="../media/image10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0.png"/><Relationship Id="rId11" Type="http://schemas.openxmlformats.org/officeDocument/2006/relationships/image" Target="../media/image970.png"/><Relationship Id="rId5" Type="http://schemas.openxmlformats.org/officeDocument/2006/relationships/image" Target="../media/image910.png"/><Relationship Id="rId15" Type="http://schemas.openxmlformats.org/officeDocument/2006/relationships/image" Target="../media/image1010.png"/><Relationship Id="rId10" Type="http://schemas.openxmlformats.org/officeDocument/2006/relationships/image" Target="../media/image960.png"/><Relationship Id="rId4" Type="http://schemas.openxmlformats.org/officeDocument/2006/relationships/image" Target="../media/image116.png"/><Relationship Id="rId9" Type="http://schemas.openxmlformats.org/officeDocument/2006/relationships/image" Target="../media/image118.png"/><Relationship Id="rId14" Type="http://schemas.openxmlformats.org/officeDocument/2006/relationships/image" Target="../media/image12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5" Type="http://schemas.openxmlformats.org/officeDocument/2006/relationships/image" Target="../media/image123.png"/><Relationship Id="rId10" Type="http://schemas.openxmlformats.org/officeDocument/2006/relationships/image" Target="../media/image128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120.png"/><Relationship Id="rId7" Type="http://schemas.openxmlformats.org/officeDocument/2006/relationships/image" Target="../media/image134.png"/><Relationship Id="rId2" Type="http://schemas.openxmlformats.org/officeDocument/2006/relationships/image" Target="../media/image1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5" Type="http://schemas.openxmlformats.org/officeDocument/2006/relationships/image" Target="../media/image1140.png"/><Relationship Id="rId4" Type="http://schemas.openxmlformats.org/officeDocument/2006/relationships/image" Target="../media/image11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7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3" Type="http://schemas.openxmlformats.org/officeDocument/2006/relationships/image" Target="../media/image150.png"/><Relationship Id="rId7" Type="http://schemas.openxmlformats.org/officeDocument/2006/relationships/image" Target="../media/image151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0.png"/><Relationship Id="rId5" Type="http://schemas.openxmlformats.org/officeDocument/2006/relationships/image" Target="../media/image1340.png"/><Relationship Id="rId4" Type="http://schemas.openxmlformats.org/officeDocument/2006/relationships/image" Target="../media/image133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6.png"/><Relationship Id="rId4" Type="http://schemas.openxmlformats.org/officeDocument/2006/relationships/image" Target="../media/image15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image" Target="../media/image1430.png"/><Relationship Id="rId7" Type="http://schemas.openxmlformats.org/officeDocument/2006/relationships/image" Target="../media/image15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60.png"/><Relationship Id="rId11" Type="http://schemas.openxmlformats.org/officeDocument/2006/relationships/image" Target="../media/image1520.png"/><Relationship Id="rId5" Type="http://schemas.openxmlformats.org/officeDocument/2006/relationships/image" Target="../media/image1450.png"/><Relationship Id="rId10" Type="http://schemas.openxmlformats.org/officeDocument/2006/relationships/image" Target="../media/image1510.png"/><Relationship Id="rId4" Type="http://schemas.openxmlformats.org/officeDocument/2006/relationships/image" Target="../media/image1440.png"/><Relationship Id="rId9" Type="http://schemas.openxmlformats.org/officeDocument/2006/relationships/image" Target="../media/image16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0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13" Type="http://schemas.openxmlformats.org/officeDocument/2006/relationships/image" Target="../media/image174.png"/><Relationship Id="rId3" Type="http://schemas.openxmlformats.org/officeDocument/2006/relationships/image" Target="../media/image170.png"/><Relationship Id="rId7" Type="http://schemas.openxmlformats.org/officeDocument/2006/relationships/image" Target="../media/image171.png"/><Relationship Id="rId12" Type="http://schemas.openxmlformats.org/officeDocument/2006/relationships/image" Target="../media/image173.png"/><Relationship Id="rId17" Type="http://schemas.openxmlformats.org/officeDocument/2006/relationships/image" Target="../media/image177.png"/><Relationship Id="rId2" Type="http://schemas.openxmlformats.org/officeDocument/2006/relationships/image" Target="../media/image169.png"/><Relationship Id="rId16" Type="http://schemas.openxmlformats.org/officeDocument/2006/relationships/image" Target="../media/image1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60.png"/><Relationship Id="rId11" Type="http://schemas.openxmlformats.org/officeDocument/2006/relationships/image" Target="../media/image1710.png"/><Relationship Id="rId5" Type="http://schemas.openxmlformats.org/officeDocument/2006/relationships/image" Target="../media/image1650.png"/><Relationship Id="rId15" Type="http://schemas.openxmlformats.org/officeDocument/2006/relationships/image" Target="../media/image175.png"/><Relationship Id="rId10" Type="http://schemas.openxmlformats.org/officeDocument/2006/relationships/image" Target="../media/image1700.png"/><Relationship Id="rId4" Type="http://schemas.openxmlformats.org/officeDocument/2006/relationships/image" Target="../media/image1640.png"/><Relationship Id="rId9" Type="http://schemas.openxmlformats.org/officeDocument/2006/relationships/image" Target="../media/image1690.png"/><Relationship Id="rId14" Type="http://schemas.openxmlformats.org/officeDocument/2006/relationships/image" Target="../media/image174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3" Type="http://schemas.openxmlformats.org/officeDocument/2006/relationships/image" Target="../media/image128.png"/><Relationship Id="rId7" Type="http://schemas.openxmlformats.org/officeDocument/2006/relationships/image" Target="../media/image181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0.png"/><Relationship Id="rId5" Type="http://schemas.openxmlformats.org/officeDocument/2006/relationships/image" Target="../media/image179.png"/><Relationship Id="rId10" Type="http://schemas.openxmlformats.org/officeDocument/2006/relationships/image" Target="../media/image184.png"/><Relationship Id="rId4" Type="http://schemas.openxmlformats.org/officeDocument/2006/relationships/image" Target="../media/image178.png"/><Relationship Id="rId9" Type="http://schemas.openxmlformats.org/officeDocument/2006/relationships/image" Target="../media/image1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/>
              <a:t>Un </a:t>
            </a:r>
            <a:r>
              <a:rPr lang="en-US" sz="3600" dirty="0" err="1"/>
              <a:t>ejemplo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/>
              <p:nvPr/>
            </p:nvSpPr>
            <p:spPr>
              <a:xfrm>
                <a:off x="1043607" y="2365135"/>
                <a:ext cx="7688533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hangingPunct="1"/>
                <a:r>
                  <a:rPr lang="es-ES" altLang="en-US" sz="2400" dirty="0"/>
                  <a:t>Una agencia de protección al consumidor desea poner a prueba la afirmación de un fabricante de pinturas según la cual el tiempo medio de secado de su nueva pintura de </a:t>
                </a:r>
                <a:r>
                  <a:rPr lang="es-ES" altLang="en-US" sz="2400" i="1" dirty="0"/>
                  <a:t>secado rápido</a:t>
                </a:r>
                <a:r>
                  <a:rPr lang="es-ES" altLang="en-US" sz="2400" dirty="0"/>
                  <a:t> es de no más de </a:t>
                </a:r>
                <a14:m>
                  <m:oMath xmlns:m="http://schemas.openxmlformats.org/officeDocument/2006/math">
                    <m:r>
                      <a:rPr lang="es-ES" altLang="en-US" sz="2400" i="1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s-ES" altLang="en-US" sz="2400" dirty="0"/>
                  <a:t> min. 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7" y="2365135"/>
                <a:ext cx="7688533" cy="1569660"/>
              </a:xfrm>
              <a:prstGeom prst="rect">
                <a:avLst/>
              </a:prstGeom>
              <a:blipFill>
                <a:blip r:embed="rId2"/>
                <a:stretch>
                  <a:fillRect l="-1190" t="-2724" r="-1269" b="-856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2381FF9-3BF6-4E7C-9D8C-B63D23CA78D1}"/>
                  </a:ext>
                </a:extLst>
              </p:cNvPr>
              <p:cNvSpPr/>
              <p:nvPr/>
            </p:nvSpPr>
            <p:spPr>
              <a:xfrm>
                <a:off x="1043606" y="4581128"/>
                <a:ext cx="766885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ES" altLang="en-US" sz="2400" dirty="0"/>
                  <a:t>Para ello se pintan </a:t>
                </a:r>
                <a14:m>
                  <m:oMath xmlns:m="http://schemas.openxmlformats.org/officeDocument/2006/math">
                    <m:r>
                      <a:rPr lang="es-ES" altLang="en-US" sz="2400" dirty="0"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lang="es-ES" altLang="en-US" sz="2400" dirty="0"/>
                  <a:t> tableros, con el contenido de </a:t>
                </a:r>
                <a14:m>
                  <m:oMath xmlns:m="http://schemas.openxmlformats.org/officeDocument/2006/math">
                    <m:r>
                      <a:rPr lang="es-ES" altLang="en-US" sz="2400" dirty="0"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lang="es-ES" altLang="en-US" sz="2400" dirty="0"/>
                  <a:t> latas distintas y se mide el tiempo medio de secado.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2381FF9-3BF6-4E7C-9D8C-B63D23CA78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6" y="4581128"/>
                <a:ext cx="7668853" cy="830997"/>
              </a:xfrm>
              <a:prstGeom prst="rect">
                <a:avLst/>
              </a:prstGeom>
              <a:blipFill>
                <a:blip r:embed="rId3"/>
                <a:stretch>
                  <a:fillRect l="-1192" t="-5109" r="-318" b="-160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418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/>
              <a:t>Un </a:t>
            </a:r>
            <a:r>
              <a:rPr lang="en-US" sz="3600" dirty="0" err="1"/>
              <a:t>ejemplo</a:t>
            </a:r>
            <a:endParaRPr 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8EC67E-C974-4934-90FA-85ADD21BE5CE}"/>
              </a:ext>
            </a:extLst>
          </p:cNvPr>
          <p:cNvSpPr/>
          <p:nvPr/>
        </p:nvSpPr>
        <p:spPr>
          <a:xfrm>
            <a:off x="971600" y="1827258"/>
            <a:ext cx="77408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s-ES" altLang="en-US" sz="2400" dirty="0"/>
              <a:t>Supongamos que el valor medio de secado de los 36 tableros da 21 min.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381FF9-3BF6-4E7C-9D8C-B63D23CA78D1}"/>
              </a:ext>
            </a:extLst>
          </p:cNvPr>
          <p:cNvSpPr/>
          <p:nvPr/>
        </p:nvSpPr>
        <p:spPr>
          <a:xfrm>
            <a:off x="971600" y="3293032"/>
            <a:ext cx="77408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s-ES" altLang="en-US" sz="2400" dirty="0"/>
              <a:t>¿Estará mintiendo el fabricante?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D0E1CC-BF2E-4AD6-A7DE-54E17A88B257}"/>
              </a:ext>
            </a:extLst>
          </p:cNvPr>
          <p:cNvSpPr/>
          <p:nvPr/>
        </p:nvSpPr>
        <p:spPr>
          <a:xfrm>
            <a:off x="935602" y="4381881"/>
            <a:ext cx="77408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s-ES" altLang="en-US" sz="2400" dirty="0"/>
              <a:t>¿O es simplemente que el azar hizo que el promedio sea superior en esta prueba? </a:t>
            </a:r>
          </a:p>
        </p:txBody>
      </p:sp>
    </p:spTree>
    <p:extLst>
      <p:ext uri="{BB962C8B-B14F-4D97-AF65-F5344CB8AC3E}">
        <p14:creationId xmlns:p14="http://schemas.microsoft.com/office/powerpoint/2010/main" val="4091662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/>
              <a:t>Un </a:t>
            </a:r>
            <a:r>
              <a:rPr lang="en-US" sz="3600" dirty="0" err="1"/>
              <a:t>ejemplo</a:t>
            </a:r>
            <a:endParaRPr 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8EC67E-C974-4934-90FA-85ADD21BE5CE}"/>
              </a:ext>
            </a:extLst>
          </p:cNvPr>
          <p:cNvSpPr/>
          <p:nvPr/>
        </p:nvSpPr>
        <p:spPr>
          <a:xfrm>
            <a:off x="971600" y="1827258"/>
            <a:ext cx="77408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s-ES" altLang="en-US" sz="2400" dirty="0"/>
              <a:t>Claramente, hay dos </a:t>
            </a:r>
            <a:r>
              <a:rPr lang="es-ES" altLang="en-US" sz="2400" dirty="0" err="1"/>
              <a:t>hipótesis</a:t>
            </a:r>
            <a:r>
              <a:rPr lang="es-ES" altLang="en-US" sz="2400" dirty="0"/>
              <a:t> posibles: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2381FF9-3BF6-4E7C-9D8C-B63D23CA78D1}"/>
                  </a:ext>
                </a:extLst>
              </p:cNvPr>
              <p:cNvSpPr/>
              <p:nvPr/>
            </p:nvSpPr>
            <p:spPr>
              <a:xfrm>
                <a:off x="1296794" y="2873736"/>
                <a:ext cx="7380814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s-ES" altLang="en-US" sz="2400" dirty="0">
                    <a:solidFill>
                      <a:schemeClr val="tx1"/>
                    </a:solidFill>
                  </a:rPr>
                  <a:t>El fabricante dice la verdad: el tiempo medio de secado es </a:t>
                </a:r>
                <a:r>
                  <a:rPr lang="es-ES" altLang="en-US" sz="2400" b="1" dirty="0">
                    <a:solidFill>
                      <a:schemeClr val="tx1"/>
                    </a:solidFill>
                  </a:rPr>
                  <a:t>menor o igual</a:t>
                </a:r>
                <a:r>
                  <a:rPr lang="es-ES" altLang="en-US" sz="2400" dirty="0">
                    <a:solidFill>
                      <a:schemeClr val="tx1"/>
                    </a:solidFill>
                  </a:rPr>
                  <a:t> a </a:t>
                </a:r>
                <a14:m>
                  <m:oMath xmlns:m="http://schemas.openxmlformats.org/officeDocument/2006/math"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 min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2381FF9-3BF6-4E7C-9D8C-B63D23CA78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794" y="2873736"/>
                <a:ext cx="7380814" cy="830997"/>
              </a:xfrm>
              <a:prstGeom prst="rect">
                <a:avLst/>
              </a:prstGeom>
              <a:blipFill>
                <a:blip r:embed="rId2"/>
                <a:stretch>
                  <a:fillRect l="-1322" t="-5109" r="-1322" b="-160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25E0D61-F88B-42DF-B0D9-754A000CED4B}"/>
                  </a:ext>
                </a:extLst>
              </p:cNvPr>
              <p:cNvSpPr/>
              <p:nvPr/>
            </p:nvSpPr>
            <p:spPr>
              <a:xfrm>
                <a:off x="1281095" y="4153579"/>
                <a:ext cx="7380814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s-ES" altLang="en-US" sz="2400" dirty="0">
                    <a:solidFill>
                      <a:schemeClr val="tx1"/>
                    </a:solidFill>
                  </a:rPr>
                  <a:t>El fabricante miente: el tiempo medio de secado es </a:t>
                </a:r>
                <a:r>
                  <a:rPr lang="es-ES" altLang="en-US" sz="2400" b="1" dirty="0">
                    <a:solidFill>
                      <a:schemeClr val="tx1"/>
                    </a:solidFill>
                  </a:rPr>
                  <a:t>superior</a:t>
                </a:r>
                <a:r>
                  <a:rPr lang="es-ES" altLang="en-US" sz="2400" dirty="0">
                    <a:solidFill>
                      <a:schemeClr val="tx1"/>
                    </a:solidFill>
                  </a:rPr>
                  <a:t> a </a:t>
                </a:r>
                <a14:m>
                  <m:oMath xmlns:m="http://schemas.openxmlformats.org/officeDocument/2006/math"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 min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25E0D61-F88B-42DF-B0D9-754A000CED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095" y="4153579"/>
                <a:ext cx="7380814" cy="830997"/>
              </a:xfrm>
              <a:prstGeom prst="rect">
                <a:avLst/>
              </a:prstGeom>
              <a:blipFill>
                <a:blip r:embed="rId3"/>
                <a:stretch>
                  <a:fillRect l="-1239" t="-5109" r="-1321" b="-160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5108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/>
              <a:t>Un </a:t>
            </a:r>
            <a:r>
              <a:rPr lang="en-US" sz="3600" dirty="0" err="1"/>
              <a:t>ejemplo</a:t>
            </a:r>
            <a:endParaRPr 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8EC67E-C974-4934-90FA-85ADD21BE5CE}"/>
              </a:ext>
            </a:extLst>
          </p:cNvPr>
          <p:cNvSpPr/>
          <p:nvPr/>
        </p:nvSpPr>
        <p:spPr>
          <a:xfrm>
            <a:off x="1007598" y="1769516"/>
            <a:ext cx="64447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s-ES" altLang="en-US" sz="2400" dirty="0"/>
              <a:t>Claramente, hay dos </a:t>
            </a:r>
            <a:r>
              <a:rPr lang="es-ES" altLang="en-US" sz="2400" dirty="0" err="1"/>
              <a:t>hipótesis</a:t>
            </a:r>
            <a:r>
              <a:rPr lang="es-ES" altLang="en-US" sz="2400" dirty="0"/>
              <a:t> posibles: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2381FF9-3BF6-4E7C-9D8C-B63D23CA78D1}"/>
                  </a:ext>
                </a:extLst>
              </p:cNvPr>
              <p:cNvSpPr/>
              <p:nvPr/>
            </p:nvSpPr>
            <p:spPr>
              <a:xfrm>
                <a:off x="1296794" y="2873736"/>
                <a:ext cx="7380814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s-ES" altLang="en-US" sz="2400" dirty="0">
                    <a:solidFill>
                      <a:schemeClr val="tx1"/>
                    </a:solidFill>
                  </a:rPr>
                  <a:t>Hipótesis nula: el tiempo medio de secado es </a:t>
                </a:r>
                <a:r>
                  <a:rPr lang="es-ES" altLang="en-US" sz="2400" b="1" dirty="0">
                    <a:solidFill>
                      <a:schemeClr val="tx1"/>
                    </a:solidFill>
                  </a:rPr>
                  <a:t>menor o igual</a:t>
                </a:r>
                <a:r>
                  <a:rPr lang="es-ES" altLang="en-US" sz="2400" dirty="0">
                    <a:solidFill>
                      <a:schemeClr val="tx1"/>
                    </a:solidFill>
                  </a:rPr>
                  <a:t> a </a:t>
                </a:r>
                <a14:m>
                  <m:oMath xmlns:m="http://schemas.openxmlformats.org/officeDocument/2006/math"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 min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2381FF9-3BF6-4E7C-9D8C-B63D23CA78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794" y="2873736"/>
                <a:ext cx="7380814" cy="830997"/>
              </a:xfrm>
              <a:prstGeom prst="rect">
                <a:avLst/>
              </a:prstGeom>
              <a:blipFill>
                <a:blip r:embed="rId2"/>
                <a:stretch>
                  <a:fillRect l="-1322" t="-5109" r="-1322" b="-160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25E0D61-F88B-42DF-B0D9-754A000CED4B}"/>
                  </a:ext>
                </a:extLst>
              </p:cNvPr>
              <p:cNvSpPr/>
              <p:nvPr/>
            </p:nvSpPr>
            <p:spPr>
              <a:xfrm>
                <a:off x="1281095" y="4153579"/>
                <a:ext cx="7380814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s-ES" altLang="en-US" sz="2400" dirty="0">
                    <a:solidFill>
                      <a:schemeClr val="tx1"/>
                    </a:solidFill>
                  </a:rPr>
                  <a:t>Hipótesis alternativa: el tiempo medio de secado es </a:t>
                </a:r>
                <a:r>
                  <a:rPr lang="es-ES" altLang="en-US" sz="2400" b="1" dirty="0">
                    <a:solidFill>
                      <a:schemeClr val="tx1"/>
                    </a:solidFill>
                  </a:rPr>
                  <a:t>superior</a:t>
                </a:r>
                <a:r>
                  <a:rPr lang="es-ES" altLang="en-US" sz="2400" dirty="0">
                    <a:solidFill>
                      <a:schemeClr val="tx1"/>
                    </a:solidFill>
                  </a:rPr>
                  <a:t> a </a:t>
                </a:r>
                <a14:m>
                  <m:oMath xmlns:m="http://schemas.openxmlformats.org/officeDocument/2006/math"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 min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25E0D61-F88B-42DF-B0D9-754A000CED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095" y="4153579"/>
                <a:ext cx="7380814" cy="830997"/>
              </a:xfrm>
              <a:prstGeom prst="rect">
                <a:avLst/>
              </a:prstGeom>
              <a:blipFill>
                <a:blip r:embed="rId3"/>
                <a:stretch>
                  <a:fillRect l="-1239" t="-5109" r="-1321" b="-160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7618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/>
              <a:t>Un </a:t>
            </a:r>
            <a:r>
              <a:rPr lang="en-US" sz="3600" dirty="0" err="1"/>
              <a:t>ejemplo</a:t>
            </a:r>
            <a:endParaRPr 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8EC67E-C974-4934-90FA-85ADD21BE5CE}"/>
              </a:ext>
            </a:extLst>
          </p:cNvPr>
          <p:cNvSpPr/>
          <p:nvPr/>
        </p:nvSpPr>
        <p:spPr>
          <a:xfrm>
            <a:off x="971600" y="1827258"/>
            <a:ext cx="8280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s-ES" altLang="en-US" sz="2400" dirty="0"/>
              <a:t>Claramente, hay dos </a:t>
            </a:r>
            <a:r>
              <a:rPr lang="es-ES" altLang="en-US" sz="2400" dirty="0" err="1"/>
              <a:t>hipótesis</a:t>
            </a:r>
            <a:r>
              <a:rPr lang="es-ES" altLang="en-US" sz="2400" dirty="0"/>
              <a:t> posibles: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2381FF9-3BF6-4E7C-9D8C-B63D23CA78D1}"/>
                  </a:ext>
                </a:extLst>
              </p:cNvPr>
              <p:cNvSpPr/>
              <p:nvPr/>
            </p:nvSpPr>
            <p:spPr>
              <a:xfrm>
                <a:off x="1296794" y="2873736"/>
                <a:ext cx="738081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s-ES" altLang="en-US" sz="2400" dirty="0">
                    <a:solidFill>
                      <a:schemeClr val="tx1"/>
                    </a:solidFill>
                  </a:rPr>
                  <a:t>Hipótesis nula: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AR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AR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a:rPr lang="es-AR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AR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≤20</m:t>
                    </m:r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 min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2381FF9-3BF6-4E7C-9D8C-B63D23CA78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794" y="2873736"/>
                <a:ext cx="7380814" cy="461665"/>
              </a:xfrm>
              <a:prstGeom prst="rect">
                <a:avLst/>
              </a:prstGeom>
              <a:blipFill>
                <a:blip r:embed="rId2"/>
                <a:stretch>
                  <a:fillRect l="-1322" t="-9211" b="-302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25E0D61-F88B-42DF-B0D9-754A000CED4B}"/>
                  </a:ext>
                </a:extLst>
              </p:cNvPr>
              <p:cNvSpPr/>
              <p:nvPr/>
            </p:nvSpPr>
            <p:spPr>
              <a:xfrm>
                <a:off x="1281095" y="4153579"/>
                <a:ext cx="738081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s-ES" altLang="en-US" sz="2400" dirty="0">
                    <a:solidFill>
                      <a:schemeClr val="tx1"/>
                    </a:solidFill>
                  </a:rPr>
                  <a:t>Hipótesis alternativa: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AR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AR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a:rPr lang="es-AR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AR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s-AR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 min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25E0D61-F88B-42DF-B0D9-754A000CED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095" y="4153579"/>
                <a:ext cx="7380814" cy="461665"/>
              </a:xfrm>
              <a:prstGeom prst="rect">
                <a:avLst/>
              </a:prstGeom>
              <a:blipFill>
                <a:blip r:embed="rId3"/>
                <a:stretch>
                  <a:fillRect l="-1239" t="-9211" b="-302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987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/>
              <a:t>Un </a:t>
            </a:r>
            <a:r>
              <a:rPr lang="en-US" sz="3600" dirty="0" err="1"/>
              <a:t>ejemplo</a:t>
            </a:r>
            <a:endParaRPr 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8EC67E-C974-4934-90FA-85ADD21BE5CE}"/>
              </a:ext>
            </a:extLst>
          </p:cNvPr>
          <p:cNvSpPr/>
          <p:nvPr/>
        </p:nvSpPr>
        <p:spPr>
          <a:xfrm>
            <a:off x="1043608" y="1841502"/>
            <a:ext cx="8280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s-ES" altLang="en-US" sz="2400" dirty="0"/>
              <a:t>Cual jurado, debemos tomar una decisión: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381FF9-3BF6-4E7C-9D8C-B63D23CA78D1}"/>
              </a:ext>
            </a:extLst>
          </p:cNvPr>
          <p:cNvSpPr/>
          <p:nvPr/>
        </p:nvSpPr>
        <p:spPr>
          <a:xfrm>
            <a:off x="1296794" y="2873736"/>
            <a:ext cx="73808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s-AR" altLang="en-US" sz="2400" dirty="0"/>
              <a:t>¿Dice la verdad el fabricante o miente?</a:t>
            </a:r>
            <a:endParaRPr lang="es-ES" altLang="en-US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5E0D61-F88B-42DF-B0D9-754A000CED4B}"/>
              </a:ext>
            </a:extLst>
          </p:cNvPr>
          <p:cNvSpPr/>
          <p:nvPr/>
        </p:nvSpPr>
        <p:spPr>
          <a:xfrm>
            <a:off x="1281095" y="4153579"/>
            <a:ext cx="73808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s-AR" altLang="en-US" sz="2400" dirty="0"/>
              <a:t>¿Es verdadera o falsa la </a:t>
            </a:r>
            <a:r>
              <a:rPr lang="es-AR" altLang="en-US" sz="2400" dirty="0" err="1"/>
              <a:t>hipótesis</a:t>
            </a:r>
            <a:r>
              <a:rPr lang="es-AR" altLang="en-US" sz="2400" dirty="0"/>
              <a:t> nula?</a:t>
            </a:r>
            <a:endParaRPr lang="es-ES" alt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F11465-4665-4259-9900-D40A26B8CD9F}"/>
              </a:ext>
            </a:extLst>
          </p:cNvPr>
          <p:cNvSpPr/>
          <p:nvPr/>
        </p:nvSpPr>
        <p:spPr>
          <a:xfrm>
            <a:off x="1043608" y="5416645"/>
            <a:ext cx="74888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s-AR" altLang="en-US" sz="2400" dirty="0"/>
              <a:t>Pero, sea cual sea la decisión que tomemos, el azar hace podamos cometer un error.</a:t>
            </a:r>
            <a:endParaRPr lang="es-E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87844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Errores</a:t>
            </a:r>
            <a:r>
              <a:rPr lang="en-US" sz="3600" dirty="0"/>
              <a:t> </a:t>
            </a:r>
            <a:r>
              <a:rPr lang="en-US" sz="3600" dirty="0" err="1"/>
              <a:t>en</a:t>
            </a:r>
            <a:r>
              <a:rPr lang="en-US" sz="3600" dirty="0"/>
              <a:t> </a:t>
            </a:r>
            <a:r>
              <a:rPr lang="en-US" sz="3600" dirty="0" err="1"/>
              <a:t>prueba</a:t>
            </a:r>
            <a:r>
              <a:rPr lang="en-US" sz="3600" dirty="0"/>
              <a:t> de </a:t>
            </a:r>
            <a:r>
              <a:rPr lang="en-US" sz="3600" dirty="0" err="1"/>
              <a:t>hipótesis</a:t>
            </a:r>
            <a:endParaRPr lang="en-US" sz="3600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C8B6E276-7F34-4E05-8B62-66D1A4551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724119"/>
              </p:ext>
            </p:extLst>
          </p:nvPr>
        </p:nvGraphicFramePr>
        <p:xfrm>
          <a:off x="1043608" y="2060848"/>
          <a:ext cx="7704855" cy="3960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7192">
                  <a:extLst>
                    <a:ext uri="{9D8B030D-6E8A-4147-A177-3AD203B41FA5}">
                      <a16:colId xmlns:a16="http://schemas.microsoft.com/office/drawing/2014/main" val="2185279401"/>
                    </a:ext>
                  </a:extLst>
                </a:gridCol>
                <a:gridCol w="2136444">
                  <a:extLst>
                    <a:ext uri="{9D8B030D-6E8A-4147-A177-3AD203B41FA5}">
                      <a16:colId xmlns:a16="http://schemas.microsoft.com/office/drawing/2014/main" val="1903667833"/>
                    </a:ext>
                  </a:extLst>
                </a:gridCol>
                <a:gridCol w="2221219">
                  <a:extLst>
                    <a:ext uri="{9D8B030D-6E8A-4147-A177-3AD203B41FA5}">
                      <a16:colId xmlns:a16="http://schemas.microsoft.com/office/drawing/2014/main" val="1015629092"/>
                    </a:ext>
                  </a:extLst>
                </a:gridCol>
              </a:tblGrid>
              <a:tr h="1320147">
                <a:tc>
                  <a:txBody>
                    <a:bodyPr/>
                    <a:lstStyle/>
                    <a:p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Aceptamos la </a:t>
                      </a:r>
                      <a:r>
                        <a:rPr lang="es-AR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hipótesis</a:t>
                      </a:r>
                      <a:r>
                        <a:rPr lang="es-AR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nula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Rechazamos la </a:t>
                      </a:r>
                      <a:r>
                        <a:rPr lang="es-AR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hipótesis</a:t>
                      </a:r>
                      <a:r>
                        <a:rPr lang="es-AR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nula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3412132"/>
                  </a:ext>
                </a:extLst>
              </a:tr>
              <a:tr h="1320147">
                <a:tc>
                  <a:txBody>
                    <a:bodyPr/>
                    <a:lstStyle/>
                    <a:p>
                      <a:pPr algn="l"/>
                      <a:r>
                        <a:rPr lang="es-AR" sz="2400" b="1" i="0" baseline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Hipótesis</a:t>
                      </a:r>
                      <a:r>
                        <a:rPr lang="es-AR" sz="2400" b="1" i="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nula verdadera</a:t>
                      </a:r>
                      <a:endParaRPr lang="en-US" sz="2400" b="1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38100" cmpd="sng">
                      <a:noFill/>
                    </a:lnT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Error Tipo I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7957"/>
                  </a:ext>
                </a:extLst>
              </a:tr>
              <a:tr h="1320147">
                <a:tc>
                  <a:txBody>
                    <a:bodyPr/>
                    <a:lstStyle/>
                    <a:p>
                      <a:r>
                        <a:rPr lang="es-AR" sz="2400" b="1" i="0" baseline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Hipótesis</a:t>
                      </a:r>
                      <a:r>
                        <a:rPr lang="es-AR" sz="2400" b="1" i="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nula falsa</a:t>
                      </a:r>
                      <a:endParaRPr lang="en-US" sz="2400" b="1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Error Tipo II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518214"/>
                  </a:ext>
                </a:extLst>
              </a:tr>
            </a:tbl>
          </a:graphicData>
        </a:graphic>
      </p:graphicFrame>
      <p:sp>
        <p:nvSpPr>
          <p:cNvPr id="17" name="Smiley Face 16">
            <a:extLst>
              <a:ext uri="{FF2B5EF4-FFF2-40B4-BE49-F238E27FC236}">
                <a16:creationId xmlns:a16="http://schemas.microsoft.com/office/drawing/2014/main" id="{AE3A250A-5992-41FA-8F32-92B903EE703E}"/>
              </a:ext>
            </a:extLst>
          </p:cNvPr>
          <p:cNvSpPr/>
          <p:nvPr/>
        </p:nvSpPr>
        <p:spPr>
          <a:xfrm>
            <a:off x="4667131" y="3591018"/>
            <a:ext cx="936104" cy="900100"/>
          </a:xfrm>
          <a:prstGeom prst="smileyFac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miley Face 17">
            <a:extLst>
              <a:ext uri="{FF2B5EF4-FFF2-40B4-BE49-F238E27FC236}">
                <a16:creationId xmlns:a16="http://schemas.microsoft.com/office/drawing/2014/main" id="{376B565A-6471-4EA2-96EA-7DECD063D57F}"/>
              </a:ext>
            </a:extLst>
          </p:cNvPr>
          <p:cNvSpPr/>
          <p:nvPr/>
        </p:nvSpPr>
        <p:spPr>
          <a:xfrm>
            <a:off x="7308304" y="4941168"/>
            <a:ext cx="936104" cy="900100"/>
          </a:xfrm>
          <a:prstGeom prst="smileyFac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32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Probabilidades</a:t>
            </a:r>
            <a:r>
              <a:rPr lang="en-US" sz="3600" dirty="0"/>
              <a:t> de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3">
                <a:extLst>
                  <a:ext uri="{FF2B5EF4-FFF2-40B4-BE49-F238E27FC236}">
                    <a16:creationId xmlns:a16="http://schemas.microsoft.com/office/drawing/2014/main" id="{C8B6E276-7F34-4E05-8B62-66D1A4551A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2562572"/>
                  </p:ext>
                </p:extLst>
              </p:nvPr>
            </p:nvGraphicFramePr>
            <p:xfrm>
              <a:off x="1043608" y="2060848"/>
              <a:ext cx="7704855" cy="39604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47192">
                      <a:extLst>
                        <a:ext uri="{9D8B030D-6E8A-4147-A177-3AD203B41FA5}">
                          <a16:colId xmlns:a16="http://schemas.microsoft.com/office/drawing/2014/main" val="2185279401"/>
                        </a:ext>
                      </a:extLst>
                    </a:gridCol>
                    <a:gridCol w="2136444">
                      <a:extLst>
                        <a:ext uri="{9D8B030D-6E8A-4147-A177-3AD203B41FA5}">
                          <a16:colId xmlns:a16="http://schemas.microsoft.com/office/drawing/2014/main" val="1903667833"/>
                        </a:ext>
                      </a:extLst>
                    </a:gridCol>
                    <a:gridCol w="2221219">
                      <a:extLst>
                        <a:ext uri="{9D8B030D-6E8A-4147-A177-3AD203B41FA5}">
                          <a16:colId xmlns:a16="http://schemas.microsoft.com/office/drawing/2014/main" val="1015629092"/>
                        </a:ext>
                      </a:extLst>
                    </a:gridCol>
                  </a:tblGrid>
                  <a:tr h="1320147"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Aceptamos la </a:t>
                          </a:r>
                          <a:r>
                            <a:rPr lang="es-AR" sz="2400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hipótesis</a:t>
                          </a:r>
                          <a:r>
                            <a:rPr lang="es-AR" sz="24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nula</a:t>
                          </a:r>
                          <a:endPara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Rechazamos la </a:t>
                          </a:r>
                          <a:r>
                            <a:rPr lang="es-AR" sz="2400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hipótesis</a:t>
                          </a:r>
                          <a:r>
                            <a:rPr lang="es-AR" sz="24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nula</a:t>
                          </a:r>
                          <a:endPara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3412132"/>
                      </a:ext>
                    </a:extLst>
                  </a:tr>
                  <a:tr h="13201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AR" sz="2400" b="1" i="0" baseline="0" dirty="0" err="1">
                              <a:solidFill>
                                <a:schemeClr val="bg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Hipótesis</a:t>
                          </a:r>
                          <a:r>
                            <a:rPr lang="es-AR" sz="2400" b="1" i="0" baseline="0" dirty="0">
                              <a:solidFill>
                                <a:schemeClr val="bg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nula verdadera</a:t>
                          </a:r>
                          <a:endParaRPr lang="en-US" sz="2400" b="1" i="0" baseline="0" dirty="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8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𝜶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857957"/>
                      </a:ext>
                    </a:extLst>
                  </a:tr>
                  <a:tr h="1320147">
                    <a:tc>
                      <a:txBody>
                        <a:bodyPr/>
                        <a:lstStyle/>
                        <a:p>
                          <a:r>
                            <a:rPr lang="es-AR" sz="2400" b="1" i="0" baseline="0" dirty="0" err="1">
                              <a:solidFill>
                                <a:schemeClr val="bg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Hipótesis</a:t>
                          </a:r>
                          <a:r>
                            <a:rPr lang="es-AR" sz="2400" b="1" i="0" baseline="0" dirty="0">
                              <a:solidFill>
                                <a:schemeClr val="bg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nula falsa</a:t>
                          </a:r>
                          <a:endParaRPr lang="en-US" sz="2400" b="1" i="0" baseline="0" dirty="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8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𝜷</m:t>
                                </m:r>
                              </m:oMath>
                            </m:oMathPara>
                          </a14:m>
                          <a:endPara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35182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3">
                <a:extLst>
                  <a:ext uri="{FF2B5EF4-FFF2-40B4-BE49-F238E27FC236}">
                    <a16:creationId xmlns:a16="http://schemas.microsoft.com/office/drawing/2014/main" id="{C8B6E276-7F34-4E05-8B62-66D1A4551A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2562572"/>
                  </p:ext>
                </p:extLst>
              </p:nvPr>
            </p:nvGraphicFramePr>
            <p:xfrm>
              <a:off x="1043608" y="2060848"/>
              <a:ext cx="7704855" cy="39604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47192">
                      <a:extLst>
                        <a:ext uri="{9D8B030D-6E8A-4147-A177-3AD203B41FA5}">
                          <a16:colId xmlns:a16="http://schemas.microsoft.com/office/drawing/2014/main" val="2185279401"/>
                        </a:ext>
                      </a:extLst>
                    </a:gridCol>
                    <a:gridCol w="2136444">
                      <a:extLst>
                        <a:ext uri="{9D8B030D-6E8A-4147-A177-3AD203B41FA5}">
                          <a16:colId xmlns:a16="http://schemas.microsoft.com/office/drawing/2014/main" val="1903667833"/>
                        </a:ext>
                      </a:extLst>
                    </a:gridCol>
                    <a:gridCol w="2221219">
                      <a:extLst>
                        <a:ext uri="{9D8B030D-6E8A-4147-A177-3AD203B41FA5}">
                          <a16:colId xmlns:a16="http://schemas.microsoft.com/office/drawing/2014/main" val="1015629092"/>
                        </a:ext>
                      </a:extLst>
                    </a:gridCol>
                  </a:tblGrid>
                  <a:tr h="1320147"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Aceptamos la </a:t>
                          </a:r>
                          <a:r>
                            <a:rPr lang="es-AR" sz="2400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hipótesis</a:t>
                          </a:r>
                          <a:r>
                            <a:rPr lang="es-AR" sz="24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nula</a:t>
                          </a:r>
                          <a:endPara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Rechazamos la </a:t>
                          </a:r>
                          <a:r>
                            <a:rPr lang="es-AR" sz="2400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hipótesis</a:t>
                          </a:r>
                          <a:r>
                            <a:rPr lang="es-AR" sz="24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nula</a:t>
                          </a:r>
                          <a:endPara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3412132"/>
                      </a:ext>
                    </a:extLst>
                  </a:tr>
                  <a:tr h="13201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AR" sz="2400" b="1" i="0" baseline="0" dirty="0" err="1">
                              <a:solidFill>
                                <a:schemeClr val="bg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Hipótesis</a:t>
                          </a:r>
                          <a:r>
                            <a:rPr lang="es-AR" sz="2400" b="1" i="0" baseline="0" dirty="0">
                              <a:solidFill>
                                <a:schemeClr val="bg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nula verdadera</a:t>
                          </a:r>
                          <a:endParaRPr lang="en-US" sz="2400" b="1" i="0" baseline="0" dirty="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T w="38100" cmpd="sng">
                          <a:noFill/>
                        </a:lnT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6849" t="-100926" r="-1096" b="-1013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857957"/>
                      </a:ext>
                    </a:extLst>
                  </a:tr>
                  <a:tr h="1320147">
                    <a:tc>
                      <a:txBody>
                        <a:bodyPr/>
                        <a:lstStyle/>
                        <a:p>
                          <a:r>
                            <a:rPr lang="es-AR" sz="2400" b="1" i="0" baseline="0" dirty="0" err="1">
                              <a:solidFill>
                                <a:schemeClr val="bg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Hipótesis</a:t>
                          </a:r>
                          <a:r>
                            <a:rPr lang="es-AR" sz="2400" b="1" i="0" baseline="0" dirty="0">
                              <a:solidFill>
                                <a:schemeClr val="bg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nula falsa</a:t>
                          </a:r>
                          <a:endParaRPr lang="en-US" sz="2400" b="1" i="0" baseline="0" dirty="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7429" t="-200000" r="-105429" b="-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351821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Smiley Face 16">
            <a:extLst>
              <a:ext uri="{FF2B5EF4-FFF2-40B4-BE49-F238E27FC236}">
                <a16:creationId xmlns:a16="http://schemas.microsoft.com/office/drawing/2014/main" id="{AE3A250A-5992-41FA-8F32-92B903EE703E}"/>
              </a:ext>
            </a:extLst>
          </p:cNvPr>
          <p:cNvSpPr/>
          <p:nvPr/>
        </p:nvSpPr>
        <p:spPr>
          <a:xfrm>
            <a:off x="4667131" y="3591018"/>
            <a:ext cx="936104" cy="900100"/>
          </a:xfrm>
          <a:prstGeom prst="smileyFac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miley Face 17">
            <a:extLst>
              <a:ext uri="{FF2B5EF4-FFF2-40B4-BE49-F238E27FC236}">
                <a16:creationId xmlns:a16="http://schemas.microsoft.com/office/drawing/2014/main" id="{376B565A-6471-4EA2-96EA-7DECD063D57F}"/>
              </a:ext>
            </a:extLst>
          </p:cNvPr>
          <p:cNvSpPr/>
          <p:nvPr/>
        </p:nvSpPr>
        <p:spPr>
          <a:xfrm>
            <a:off x="7308304" y="4941168"/>
            <a:ext cx="936104" cy="900100"/>
          </a:xfrm>
          <a:prstGeom prst="smileyFac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77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Probabilidades</a:t>
            </a:r>
            <a:r>
              <a:rPr lang="en-US" sz="3600" dirty="0"/>
              <a:t> de error</a:t>
            </a:r>
          </a:p>
        </p:txBody>
      </p:sp>
      <p:pic>
        <p:nvPicPr>
          <p:cNvPr id="1026" name="Picture 2" descr="Image result for seesaw">
            <a:extLst>
              <a:ext uri="{FF2B5EF4-FFF2-40B4-BE49-F238E27FC236}">
                <a16:creationId xmlns:a16="http://schemas.microsoft.com/office/drawing/2014/main" id="{E81E9F17-7250-4AC0-B469-D9931C9EE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765" y="980728"/>
            <a:ext cx="5153583" cy="3575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F29E1D6-1F19-4674-B63A-A909772BB311}"/>
                  </a:ext>
                </a:extLst>
              </p:cNvPr>
              <p:cNvSpPr/>
              <p:nvPr/>
            </p:nvSpPr>
            <p:spPr>
              <a:xfrm>
                <a:off x="4067938" y="3140968"/>
                <a:ext cx="1008112" cy="93000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4000" dirty="0">
                  <a:solidFill>
                    <a:prstClr val="black"/>
                  </a:solidFill>
                  <a:latin typeface="Arial" charset="0"/>
                  <a:cs typeface="Arial" charset="0"/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F29E1D6-1F19-4674-B63A-A909772BB3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38" y="3140968"/>
                <a:ext cx="1008112" cy="930007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76A54B37-1715-4878-8FC9-CE21071BD1A5}"/>
                  </a:ext>
                </a:extLst>
              </p:cNvPr>
              <p:cNvSpPr/>
              <p:nvPr/>
            </p:nvSpPr>
            <p:spPr>
              <a:xfrm>
                <a:off x="8050713" y="360675"/>
                <a:ext cx="1008112" cy="93000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4000" dirty="0">
                  <a:solidFill>
                    <a:prstClr val="black"/>
                  </a:solidFill>
                  <a:latin typeface="Arial" charset="0"/>
                  <a:cs typeface="Arial" charset="0"/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76A54B37-1715-4878-8FC9-CE21071BD1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0713" y="360675"/>
                <a:ext cx="1008112" cy="930007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D7FD3A2-94AB-49D6-8CB4-B499A52AC198}"/>
                  </a:ext>
                </a:extLst>
              </p:cNvPr>
              <p:cNvSpPr/>
              <p:nvPr/>
            </p:nvSpPr>
            <p:spPr>
              <a:xfrm>
                <a:off x="921186" y="1557519"/>
                <a:ext cx="3578806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lang="es-ES" altLang="en-US" sz="2400" dirty="0"/>
                  <a:t>Si siempre aceptamos la </a:t>
                </a:r>
                <a:r>
                  <a:rPr lang="es-ES" altLang="en-US" sz="2400" dirty="0" err="1"/>
                  <a:t>hipótesis</a:t>
                </a:r>
                <a:r>
                  <a:rPr lang="es-ES" altLang="en-US" sz="2400" dirty="0"/>
                  <a:t> nula, </a:t>
                </a:r>
                <a14:m>
                  <m:oMath xmlns:m="http://schemas.openxmlformats.org/officeDocument/2006/math">
                    <m:r>
                      <a:rPr lang="es-ES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s-ES" altLang="en-US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alt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" altLang="en-US" sz="2400" dirty="0"/>
                  <a:t>, pero corremos un alto riesgo de equivocarnos si fuera falsa (</a:t>
                </a:r>
                <a14:m>
                  <m:oMath xmlns:m="http://schemas.openxmlformats.org/officeDocument/2006/math">
                    <m:r>
                      <a:rPr lang="es-ES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s-ES" alt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altLang="en-US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s-AR" altLang="en-US" sz="2400" b="0" i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s-ES" altLang="en-US" sz="24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D7FD3A2-94AB-49D6-8CB4-B499A52AC1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186" y="1557519"/>
                <a:ext cx="3578806" cy="1938992"/>
              </a:xfrm>
              <a:prstGeom prst="rect">
                <a:avLst/>
              </a:prstGeom>
              <a:blipFill>
                <a:blip r:embed="rId5"/>
                <a:stretch>
                  <a:fillRect l="-2555" t="-2194" r="-3578" b="-62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DBEC2AC-9DC7-4876-A905-7432FE5868E2}"/>
                  </a:ext>
                </a:extLst>
              </p:cNvPr>
              <p:cNvSpPr/>
              <p:nvPr/>
            </p:nvSpPr>
            <p:spPr>
              <a:xfrm>
                <a:off x="928952" y="3933056"/>
                <a:ext cx="32110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lang="es-ES" altLang="en-US" sz="2400" dirty="0"/>
                  <a:t>Si siempre rechazamos la </a:t>
                </a:r>
                <a:r>
                  <a:rPr lang="es-ES" altLang="en-US" sz="2400" dirty="0" err="1"/>
                  <a:t>hipótesis</a:t>
                </a:r>
                <a:r>
                  <a:rPr lang="es-ES" altLang="en-US" sz="2400" dirty="0"/>
                  <a:t> nula, </a:t>
                </a:r>
                <a14:m>
                  <m:oMath xmlns:m="http://schemas.openxmlformats.org/officeDocument/2006/math">
                    <m:r>
                      <a:rPr lang="es-ES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s-ES" altLang="en-US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alt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" altLang="en-US" sz="2400" dirty="0"/>
                  <a:t>, entonces corremos un alto riesgo de equivocarnos si fuera verdadera (</a:t>
                </a:r>
                <a14:m>
                  <m:oMath xmlns:m="http://schemas.openxmlformats.org/officeDocument/2006/math">
                    <m:r>
                      <a:rPr lang="es-ES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s-ES" alt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altLang="en-US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s-AR" altLang="en-US" sz="2400" b="0" i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s-ES" altLang="en-US" sz="24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DBEC2AC-9DC7-4876-A905-7432FE5868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952" y="3933056"/>
                <a:ext cx="3211000" cy="2677656"/>
              </a:xfrm>
              <a:prstGeom prst="rect">
                <a:avLst/>
              </a:prstGeom>
              <a:blipFill>
                <a:blip r:embed="rId6"/>
                <a:stretch>
                  <a:fillRect l="-2846" t="-1595" r="-5313" b="-4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DE791AB6-EC90-4DD1-9E58-9271E0FEA751}"/>
              </a:ext>
            </a:extLst>
          </p:cNvPr>
          <p:cNvSpPr/>
          <p:nvPr/>
        </p:nvSpPr>
        <p:spPr>
          <a:xfrm>
            <a:off x="4975963" y="5409151"/>
            <a:ext cx="35788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s-AR" altLang="en-US" sz="2400" dirty="0"/>
              <a:t>Hay que buscar un balance</a:t>
            </a:r>
            <a:endParaRPr lang="es-E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2926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Varias</a:t>
            </a:r>
            <a:r>
              <a:rPr lang="en-US" sz="3600" dirty="0"/>
              <a:t> </a:t>
            </a:r>
            <a:r>
              <a:rPr lang="en-US" sz="3600" dirty="0" err="1"/>
              <a:t>estrategias</a:t>
            </a:r>
            <a:endParaRPr 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8EC67E-C974-4934-90FA-85ADD21BE5CE}"/>
              </a:ext>
            </a:extLst>
          </p:cNvPr>
          <p:cNvSpPr/>
          <p:nvPr/>
        </p:nvSpPr>
        <p:spPr>
          <a:xfrm>
            <a:off x="1043608" y="1827258"/>
            <a:ext cx="766884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s-ES" altLang="en-US" sz="2400" dirty="0"/>
              <a:t>Existen varias posibilidades, pero todas se basan en escoger un </a:t>
            </a:r>
            <a:r>
              <a:rPr lang="es-ES" altLang="en-US" sz="2400" b="1" dirty="0"/>
              <a:t>estadístico </a:t>
            </a:r>
            <a:r>
              <a:rPr lang="es-ES" altLang="en-US" sz="2400" dirty="0"/>
              <a:t>apropiado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381FF9-3BF6-4E7C-9D8C-B63D23CA78D1}"/>
              </a:ext>
            </a:extLst>
          </p:cNvPr>
          <p:cNvSpPr/>
          <p:nvPr/>
        </p:nvSpPr>
        <p:spPr>
          <a:xfrm>
            <a:off x="1296794" y="2873736"/>
            <a:ext cx="73808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s-AR" altLang="en-US" sz="2000" dirty="0"/>
              <a:t>Recordemos que un estadístico es una función de la muestra</a:t>
            </a:r>
            <a:endParaRPr lang="es-ES" altLang="en-US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5E0D61-F88B-42DF-B0D9-754A000CED4B}"/>
              </a:ext>
            </a:extLst>
          </p:cNvPr>
          <p:cNvSpPr/>
          <p:nvPr/>
        </p:nvSpPr>
        <p:spPr>
          <a:xfrm>
            <a:off x="1043608" y="3500091"/>
            <a:ext cx="67687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s-AR" altLang="en-US" sz="2400" dirty="0"/>
              <a:t>Dos estrategias habituales:</a:t>
            </a:r>
            <a:endParaRPr lang="es-ES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7F11465-4665-4259-9900-D40A26B8CD9F}"/>
                  </a:ext>
                </a:extLst>
              </p:cNvPr>
              <p:cNvSpPr/>
              <p:nvPr/>
            </p:nvSpPr>
            <p:spPr>
              <a:xfrm>
                <a:off x="1187624" y="4129924"/>
                <a:ext cx="7489984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:r>
                  <a:rPr lang="es-AR" altLang="en-US" sz="2400" dirty="0">
                    <a:solidFill>
                      <a:schemeClr val="tx1"/>
                    </a:solidFill>
                  </a:rPr>
                  <a:t>Fijamos, de antemano, una regla de decisión que garantice que la probabilidad de error de tipo I no será superior a un valor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s-AR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AR" altLang="en-US" sz="2400" dirty="0">
                    <a:solidFill>
                      <a:schemeClr val="tx1"/>
                    </a:solidFill>
                  </a:rPr>
                  <a:t> pre-fijado.</a:t>
                </a:r>
                <a:endParaRPr lang="es-ES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7F11465-4665-4259-9900-D40A26B8C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4129924"/>
                <a:ext cx="7489984" cy="1200329"/>
              </a:xfrm>
              <a:prstGeom prst="rect">
                <a:avLst/>
              </a:prstGeom>
              <a:blipFill>
                <a:blip r:embed="rId2"/>
                <a:stretch>
                  <a:fillRect l="-1140" t="-3553" r="-1221" b="-1116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CB3C41B2-F4F3-42CF-878C-FC44761F9FA4}"/>
              </a:ext>
            </a:extLst>
          </p:cNvPr>
          <p:cNvSpPr/>
          <p:nvPr/>
        </p:nvSpPr>
        <p:spPr>
          <a:xfrm>
            <a:off x="1187624" y="5397023"/>
            <a:ext cx="74899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s-AR" altLang="en-US" sz="2400" dirty="0"/>
              <a:t>Simplemente reportamos qué tan probable es que una muestra haya sido tan contraria a la </a:t>
            </a:r>
            <a:r>
              <a:rPr lang="es-AR" altLang="en-US" sz="2400" dirty="0" err="1"/>
              <a:t>hipótesis</a:t>
            </a:r>
            <a:r>
              <a:rPr lang="es-AR" altLang="en-US" sz="2400" dirty="0"/>
              <a:t> nula: valor p.</a:t>
            </a:r>
            <a:endParaRPr lang="es-E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5612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7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Regla</a:t>
            </a:r>
            <a:r>
              <a:rPr lang="en-US" sz="3600" dirty="0"/>
              <a:t> de </a:t>
            </a:r>
            <a:r>
              <a:rPr lang="en-US" sz="3600" dirty="0" err="1"/>
              <a:t>decisión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/>
              <p:nvPr/>
            </p:nvSpPr>
            <p:spPr>
              <a:xfrm>
                <a:off x="1043608" y="1827258"/>
                <a:ext cx="7668846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hangingPunct="1"/>
                <a:r>
                  <a:rPr lang="es-ES" altLang="en-US" sz="2400" dirty="0">
                    <a:solidFill>
                      <a:schemeClr val="tx1"/>
                    </a:solidFill>
                  </a:rPr>
                  <a:t>El caso más simple es el de una variable aleatoria </a:t>
                </a:r>
                <a14:m>
                  <m:oMath xmlns:m="http://schemas.openxmlformats.org/officeDocument/2006/math"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1827258"/>
                <a:ext cx="7668846" cy="830997"/>
              </a:xfrm>
              <a:prstGeom prst="rect">
                <a:avLst/>
              </a:prstGeom>
              <a:blipFill>
                <a:blip r:embed="rId2"/>
                <a:stretch>
                  <a:fillRect l="-1192" t="-5147" r="-1272" b="-169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25E0D61-F88B-42DF-B0D9-754A000CED4B}"/>
                  </a:ext>
                </a:extLst>
              </p:cNvPr>
              <p:cNvSpPr/>
              <p:nvPr/>
            </p:nvSpPr>
            <p:spPr>
              <a:xfrm>
                <a:off x="1008762" y="2844970"/>
                <a:ext cx="7668846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s-AR" altLang="en-US" sz="2400" dirty="0">
                    <a:solidFill>
                      <a:schemeClr val="tx1"/>
                    </a:solidFill>
                  </a:rPr>
                  <a:t>Supondremos que, mágicamente, </a:t>
                </a:r>
                <a14:m>
                  <m:oMath xmlns:m="http://schemas.openxmlformats.org/officeDocument/2006/math">
                    <m:r>
                      <a:rPr lang="es-E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s-AR" altLang="en-US" sz="2400" dirty="0">
                    <a:solidFill>
                      <a:schemeClr val="tx1"/>
                    </a:solidFill>
                  </a:rPr>
                  <a:t> es conocido: algo parecido hicimos en el caso de los intervalos de confianza.</a:t>
                </a:r>
                <a:endParaRPr lang="es-ES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25E0D61-F88B-42DF-B0D9-754A000CED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762" y="2844970"/>
                <a:ext cx="7668846" cy="1200329"/>
              </a:xfrm>
              <a:prstGeom prst="rect">
                <a:avLst/>
              </a:prstGeom>
              <a:blipFill>
                <a:blip r:embed="rId3"/>
                <a:stretch>
                  <a:fillRect l="-1192" t="-3553" r="-1272" b="-1116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57F11465-4665-4259-9900-D40A26B8CD9F}"/>
              </a:ext>
            </a:extLst>
          </p:cNvPr>
          <p:cNvSpPr/>
          <p:nvPr/>
        </p:nvSpPr>
        <p:spPr>
          <a:xfrm>
            <a:off x="985386" y="4065867"/>
            <a:ext cx="766884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s-AR" altLang="en-US" sz="2400" dirty="0"/>
              <a:t>Como en los intervalos de confianza, las fórmulas que deduciremos se podrán aplicar para variables aleatorias arbitrarias, si la muestra es suficientemente grande (¡gracias al TCL!).</a:t>
            </a:r>
            <a:endParaRPr lang="es-ES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B3C41B2-F4F3-42CF-878C-FC44761F9FA4}"/>
                  </a:ext>
                </a:extLst>
              </p:cNvPr>
              <p:cNvSpPr/>
              <p:nvPr/>
            </p:nvSpPr>
            <p:spPr>
              <a:xfrm>
                <a:off x="1036413" y="5766355"/>
                <a:ext cx="7668846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s-AR" altLang="en-US" sz="2400" dirty="0">
                    <a:solidFill>
                      <a:schemeClr val="tx1"/>
                    </a:solidFill>
                  </a:rPr>
                  <a:t>Y con muestra </a:t>
                </a:r>
                <a:r>
                  <a:rPr lang="es-AR" altLang="en-US" sz="2400" b="1" dirty="0">
                    <a:solidFill>
                      <a:schemeClr val="tx1"/>
                    </a:solidFill>
                  </a:rPr>
                  <a:t>muy</a:t>
                </a:r>
                <a:r>
                  <a:rPr lang="es-AR" altLang="en-US" sz="2400" dirty="0">
                    <a:solidFill>
                      <a:schemeClr val="tx1"/>
                    </a:solidFill>
                  </a:rPr>
                  <a:t> grande, hasta podremos reemplazar </a:t>
                </a:r>
                <a14:m>
                  <m:oMath xmlns:m="http://schemas.openxmlformats.org/officeDocument/2006/math">
                    <m:r>
                      <a:rPr lang="es-E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s-AR" altLang="en-US" sz="2400" dirty="0">
                    <a:solidFill>
                      <a:schemeClr val="tx1"/>
                    </a:solidFill>
                  </a:rPr>
                  <a:t> por </a:t>
                </a:r>
                <a14:m>
                  <m:oMath xmlns:m="http://schemas.openxmlformats.org/officeDocument/2006/math">
                    <m:r>
                      <a:rPr lang="es-AR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s-AR" altLang="en-US" sz="2400" dirty="0">
                    <a:solidFill>
                      <a:schemeClr val="tx1"/>
                    </a:solidFill>
                  </a:rPr>
                  <a:t> (desvío muestral). </a:t>
                </a:r>
                <a:endParaRPr lang="es-ES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B3C41B2-F4F3-42CF-878C-FC44761F9F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413" y="5766355"/>
                <a:ext cx="7668846" cy="830997"/>
              </a:xfrm>
              <a:prstGeom prst="rect">
                <a:avLst/>
              </a:prstGeom>
              <a:blipFill>
                <a:blip r:embed="rId4"/>
                <a:stretch>
                  <a:fillRect l="-1192" t="-5147" r="-1272" b="-169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088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7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Regla</a:t>
            </a:r>
            <a:r>
              <a:rPr lang="en-US" sz="3600" dirty="0"/>
              <a:t> de </a:t>
            </a:r>
            <a:r>
              <a:rPr lang="en-US" sz="3600" dirty="0" err="1"/>
              <a:t>decisión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/>
              <p:nvPr/>
            </p:nvSpPr>
            <p:spPr>
              <a:xfrm>
                <a:off x="431534" y="1827258"/>
                <a:ext cx="828092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eaLnBrk="1" hangingPunct="1"/>
                <a14:m>
                  <m:oMath xmlns:m="http://schemas.openxmlformats.org/officeDocument/2006/math">
                    <m:r>
                      <a:rPr lang="es-ES" alt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" altLang="en-US" sz="2400" i="1" dirty="0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m:rPr>
                        <m:nor/>
                      </m:rPr>
                      <a:rPr lang="es-ES" altLang="en-US" sz="2400" i="0" dirty="0" smtClean="0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s-ES" alt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alt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ES" altLang="en-US" sz="2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alt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s-ES" altLang="en-US" sz="2400" dirty="0"/>
                  <a:t>, </a:t>
                </a:r>
                <a14:m>
                  <m:oMath xmlns:m="http://schemas.openxmlformats.org/officeDocument/2006/math">
                    <m:r>
                      <a:rPr lang="es-ES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s-AR" altLang="en-US" sz="2400" dirty="0">
                    <a:solidFill>
                      <a:prstClr val="black"/>
                    </a:solidFill>
                  </a:rPr>
                  <a:t> es conocido</a:t>
                </a:r>
                <a:r>
                  <a:rPr lang="es-ES" altLang="en-US" sz="2400" dirty="0"/>
                  <a:t>.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34" y="1827258"/>
                <a:ext cx="8280920" cy="461665"/>
              </a:xfrm>
              <a:prstGeom prst="rect">
                <a:avLst/>
              </a:prstGeom>
              <a:blipFill>
                <a:blip r:embed="rId2"/>
                <a:stretch>
                  <a:fillRect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541A53-F421-4942-852C-009DBE489110}"/>
                  </a:ext>
                </a:extLst>
              </p:cNvPr>
              <p:cNvSpPr/>
              <p:nvPr/>
            </p:nvSpPr>
            <p:spPr>
              <a:xfrm>
                <a:off x="3717850" y="3198167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541A53-F421-4942-852C-009DBE4891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850" y="3198167"/>
                <a:ext cx="1708288" cy="461665"/>
              </a:xfrm>
              <a:prstGeom prst="rect">
                <a:avLst/>
              </a:prstGeom>
              <a:blipFill>
                <a:blip r:embed="rId3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AC33B5D-97BC-4A7E-9BC4-8C56D122D407}"/>
                  </a:ext>
                </a:extLst>
              </p:cNvPr>
              <p:cNvSpPr/>
              <p:nvPr/>
            </p:nvSpPr>
            <p:spPr>
              <a:xfrm>
                <a:off x="3703817" y="2551838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AC33B5D-97BC-4A7E-9BC4-8C56D122D4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817" y="2551838"/>
                <a:ext cx="1708288" cy="461665"/>
              </a:xfrm>
              <a:prstGeom prst="rect">
                <a:avLst/>
              </a:prstGeom>
              <a:blipFill>
                <a:blip r:embed="rId4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320E476-E4AA-46C8-AE6A-4503B9E9645F}"/>
                  </a:ext>
                </a:extLst>
              </p:cNvPr>
              <p:cNvSpPr/>
              <p:nvPr/>
            </p:nvSpPr>
            <p:spPr>
              <a:xfrm>
                <a:off x="1115615" y="3812847"/>
                <a:ext cx="7582805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hangingPunct="1"/>
                <a:r>
                  <a:rPr lang="es-AR" altLang="en-US" sz="2400" dirty="0">
                    <a:solidFill>
                      <a:schemeClr val="tx1"/>
                    </a:solidFill>
                  </a:rPr>
                  <a:t>Se fija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s-AR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AR" altLang="en-US" sz="2400" dirty="0">
                    <a:solidFill>
                      <a:schemeClr val="tx1"/>
                    </a:solidFill>
                  </a:rPr>
                  <a:t>la máxima probabilidad de cometer un error de tipo I que es posible admitir: </a:t>
                </a:r>
                <a:r>
                  <a:rPr lang="es-AR" altLang="en-US" sz="2400" b="1" dirty="0">
                    <a:solidFill>
                      <a:schemeClr val="tx1"/>
                    </a:solidFill>
                  </a:rPr>
                  <a:t>nivel de significación de la prueba.</a:t>
                </a:r>
                <a:endParaRPr lang="es-ES" alt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320E476-E4AA-46C8-AE6A-4503B9E964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5" y="3812847"/>
                <a:ext cx="7582805" cy="1200329"/>
              </a:xfrm>
              <a:prstGeom prst="rect">
                <a:avLst/>
              </a:prstGeom>
              <a:blipFill>
                <a:blip r:embed="rId5"/>
                <a:stretch>
                  <a:fillRect l="-1206" t="-3553" r="-1286" b="-1116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EDD5878-DA43-4188-9448-A6367E4EE73C}"/>
                  </a:ext>
                </a:extLst>
              </p:cNvPr>
              <p:cNvSpPr/>
              <p:nvPr/>
            </p:nvSpPr>
            <p:spPr>
              <a:xfrm>
                <a:off x="1115614" y="5085184"/>
                <a:ext cx="7552121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hangingPunct="1"/>
                <a:r>
                  <a:rPr lang="es-AR" altLang="en-US" sz="2400" dirty="0">
                    <a:solidFill>
                      <a:schemeClr val="tx1"/>
                    </a:solidFill>
                  </a:rPr>
                  <a:t>Como estadístico de prueba, se utilizará el valor medio: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s-AR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AR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s-AR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s-ES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EDD5878-DA43-4188-9448-A6367E4EE7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4" y="5085184"/>
                <a:ext cx="7552121" cy="830997"/>
              </a:xfrm>
              <a:prstGeom prst="rect">
                <a:avLst/>
              </a:prstGeom>
              <a:blipFill>
                <a:blip r:embed="rId6"/>
                <a:stretch>
                  <a:fillRect l="-1211" t="-5109" r="-1291" b="-160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ED3F944-AE96-48C3-97D8-A2D1366403FA}"/>
                  </a:ext>
                </a:extLst>
              </p:cNvPr>
              <p:cNvSpPr/>
              <p:nvPr/>
            </p:nvSpPr>
            <p:spPr>
              <a:xfrm>
                <a:off x="1144989" y="6090703"/>
                <a:ext cx="7552122" cy="465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s-AR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AR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AR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nor/>
                      </m:rPr>
                      <a:rPr lang="es-AR" alt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s-AR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AR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s-AR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s-AR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s-AR" alt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AR" alt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e>
                    </m:d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 donde </a:t>
                </a:r>
                <a14:m>
                  <m:oMath xmlns:m="http://schemas.openxmlformats.org/officeDocument/2006/math">
                    <m:r>
                      <a:rPr lang="es-AR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 es el tamaño de la muestra.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ED3F944-AE96-48C3-97D8-A2D1366403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989" y="6090703"/>
                <a:ext cx="7552122" cy="465769"/>
              </a:xfrm>
              <a:prstGeom prst="rect">
                <a:avLst/>
              </a:prstGeom>
              <a:blipFill>
                <a:blip r:embed="rId7"/>
                <a:stretch>
                  <a:fillRect l="-242" t="-9091" b="-285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12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12" grpId="0"/>
      <p:bldP spid="13" grpId="0"/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Regla</a:t>
            </a:r>
            <a:r>
              <a:rPr lang="en-US" sz="3600" dirty="0"/>
              <a:t> de </a:t>
            </a:r>
            <a:r>
              <a:rPr lang="en-US" sz="3600" dirty="0" err="1"/>
              <a:t>decisión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/>
              <p:nvPr/>
            </p:nvSpPr>
            <p:spPr>
              <a:xfrm>
                <a:off x="431534" y="1827258"/>
                <a:ext cx="828092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eaLnBrk="1" hangingPunct="1"/>
                <a14:m>
                  <m:oMath xmlns:m="http://schemas.openxmlformats.org/officeDocument/2006/math"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m:rPr>
                        <m:nor/>
                      </m:rPr>
                      <a:rPr lang="es-ES" altLang="en-US" sz="24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s-E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s-AR" altLang="en-US" sz="2400" dirty="0">
                    <a:solidFill>
                      <a:schemeClr val="tx1"/>
                    </a:solidFill>
                  </a:rPr>
                  <a:t> es conocido</a:t>
                </a:r>
                <a:r>
                  <a:rPr lang="es-ES" altLang="en-US" sz="2400" dirty="0">
                    <a:solidFill>
                      <a:schemeClr val="tx1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34" y="1827258"/>
                <a:ext cx="8280920" cy="461665"/>
              </a:xfrm>
              <a:prstGeom prst="rect">
                <a:avLst/>
              </a:prstGeom>
              <a:blipFill>
                <a:blip r:embed="rId2"/>
                <a:stretch>
                  <a:fillRect t="-9333" b="-3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541A53-F421-4942-852C-009DBE489110}"/>
                  </a:ext>
                </a:extLst>
              </p:cNvPr>
              <p:cNvSpPr/>
              <p:nvPr/>
            </p:nvSpPr>
            <p:spPr>
              <a:xfrm>
                <a:off x="3717850" y="3198167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541A53-F421-4942-852C-009DBE4891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850" y="3198167"/>
                <a:ext cx="1708288" cy="461665"/>
              </a:xfrm>
              <a:prstGeom prst="rect">
                <a:avLst/>
              </a:prstGeom>
              <a:blipFill>
                <a:blip r:embed="rId3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AC33B5D-97BC-4A7E-9BC4-8C56D122D407}"/>
                  </a:ext>
                </a:extLst>
              </p:cNvPr>
              <p:cNvSpPr/>
              <p:nvPr/>
            </p:nvSpPr>
            <p:spPr>
              <a:xfrm>
                <a:off x="3703817" y="2551838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AC33B5D-97BC-4A7E-9BC4-8C56D122D4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817" y="2551838"/>
                <a:ext cx="1708288" cy="461665"/>
              </a:xfrm>
              <a:prstGeom prst="rect">
                <a:avLst/>
              </a:prstGeom>
              <a:blipFill>
                <a:blip r:embed="rId4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320E476-E4AA-46C8-AE6A-4503B9E9645F}"/>
                  </a:ext>
                </a:extLst>
              </p:cNvPr>
              <p:cNvSpPr/>
              <p:nvPr/>
            </p:nvSpPr>
            <p:spPr>
              <a:xfrm>
                <a:off x="1187623" y="4063940"/>
                <a:ext cx="7510797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hangingPunct="1"/>
                <a:r>
                  <a:rPr lang="es-AR" altLang="en-US" sz="2400" dirty="0">
                    <a:solidFill>
                      <a:schemeClr val="tx1"/>
                    </a:solidFill>
                  </a:rPr>
                  <a:t>Obvio, rechazaremos la </a:t>
                </a:r>
                <a:r>
                  <a:rPr lang="es-AR" altLang="en-US" sz="2400" dirty="0" err="1">
                    <a:solidFill>
                      <a:schemeClr val="tx1"/>
                    </a:solidFill>
                  </a:rPr>
                  <a:t>hipótesis</a:t>
                </a:r>
                <a:r>
                  <a:rPr lang="es-AR" altLang="en-US" sz="2400" dirty="0">
                    <a:solidFill>
                      <a:schemeClr val="tx1"/>
                    </a:solidFill>
                  </a:rPr>
                  <a:t> nula si</a:t>
                </a:r>
                <a14:m>
                  <m:oMath xmlns:m="http://schemas.openxmlformats.org/officeDocument/2006/math">
                    <m:r>
                      <a:rPr lang="es-AR" alt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s-AR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AR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AR" altLang="en-US" sz="2400" dirty="0">
                    <a:solidFill>
                      <a:schemeClr val="tx1"/>
                    </a:solidFill>
                  </a:rPr>
                  <a:t> da demasiado grande: ¿qué tan grande?</a:t>
                </a:r>
                <a:endParaRPr lang="es-ES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320E476-E4AA-46C8-AE6A-4503B9E964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3" y="4063940"/>
                <a:ext cx="7510797" cy="830997"/>
              </a:xfrm>
              <a:prstGeom prst="rect">
                <a:avLst/>
              </a:prstGeom>
              <a:blipFill>
                <a:blip r:embed="rId5"/>
                <a:stretch>
                  <a:fillRect l="-1299" t="-5147" r="-1218" b="-169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6DC98801-C579-427E-8F9C-99993A153FA6}"/>
              </a:ext>
            </a:extLst>
          </p:cNvPr>
          <p:cNvGrpSpPr/>
          <p:nvPr/>
        </p:nvGrpSpPr>
        <p:grpSpPr>
          <a:xfrm>
            <a:off x="630791" y="4788520"/>
            <a:ext cx="8067630" cy="1766441"/>
            <a:chOff x="678107" y="1412776"/>
            <a:chExt cx="8067630" cy="1766441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4DA2A5E-4338-4453-B012-1B19668FAD23}"/>
                </a:ext>
              </a:extLst>
            </p:cNvPr>
            <p:cNvCxnSpPr>
              <a:cxnSpLocks/>
            </p:cNvCxnSpPr>
            <p:nvPr/>
          </p:nvCxnSpPr>
          <p:spPr>
            <a:xfrm>
              <a:off x="678107" y="2569401"/>
              <a:ext cx="7854339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947A33-F48C-414C-B907-91F4DFC8669A}"/>
                </a:ext>
              </a:extLst>
            </p:cNvPr>
            <p:cNvCxnSpPr/>
            <p:nvPr/>
          </p:nvCxnSpPr>
          <p:spPr>
            <a:xfrm>
              <a:off x="4572006" y="2391994"/>
              <a:ext cx="0" cy="36004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315897-7738-4523-8BAE-B97D3FF94A54}"/>
                    </a:ext>
                  </a:extLst>
                </p:cNvPr>
                <p:cNvSpPr/>
                <p:nvPr/>
              </p:nvSpPr>
              <p:spPr>
                <a:xfrm>
                  <a:off x="8128389" y="2717552"/>
                  <a:ext cx="61734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s-AR" sz="2400" i="1">
                                    <a:solidFill>
                                      <a:srgbClr val="402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lang="es-AR" sz="2400" i="1">
                                    <a:solidFill>
                                      <a:srgbClr val="402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s-AR" sz="2400" i="1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315897-7738-4523-8BAE-B97D3FF94A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8389" y="2717552"/>
                  <a:ext cx="617348" cy="461665"/>
                </a:xfrm>
                <a:prstGeom prst="rect">
                  <a:avLst/>
                </a:prstGeom>
                <a:blipFill>
                  <a:blip r:embed="rId6"/>
                  <a:stretch>
                    <a:fillRect r="-7921" b="-1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C6E768-9A69-48B2-93BD-EEB1E6D98A8C}"/>
                </a:ext>
              </a:extLst>
            </p:cNvPr>
            <p:cNvCxnSpPr/>
            <p:nvPr/>
          </p:nvCxnSpPr>
          <p:spPr>
            <a:xfrm>
              <a:off x="6876262" y="2389381"/>
              <a:ext cx="0" cy="36004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D663A57-D644-45BF-A4FE-CAA485DBFDDF}"/>
                </a:ext>
              </a:extLst>
            </p:cNvPr>
            <p:cNvCxnSpPr/>
            <p:nvPr/>
          </p:nvCxnSpPr>
          <p:spPr>
            <a:xfrm>
              <a:off x="4571994" y="2076465"/>
              <a:ext cx="2304256" cy="0"/>
            </a:xfrm>
            <a:prstGeom prst="straightConnector1">
              <a:avLst/>
            </a:prstGeom>
            <a:ln w="38100">
              <a:headEnd type="triangle" w="med" len="med"/>
              <a:tailEnd type="triangl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96872A3-BE59-4067-8955-6B5927BBD805}"/>
                    </a:ext>
                  </a:extLst>
                </p:cNvPr>
                <p:cNvSpPr/>
                <p:nvPr/>
              </p:nvSpPr>
              <p:spPr>
                <a:xfrm>
                  <a:off x="5497953" y="1412776"/>
                  <a:ext cx="45236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i="1" smtClean="0">
                            <a:solidFill>
                              <a:srgbClr val="402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∆</m:t>
                        </m:r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BE78B8D3-2787-4AA5-B3D2-6976D7A318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953" y="1412776"/>
                  <a:ext cx="452367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CD2FDFE-0E16-4902-B2A4-BF2E71D18A76}"/>
                    </a:ext>
                  </a:extLst>
                </p:cNvPr>
                <p:cNvSpPr/>
                <p:nvPr/>
              </p:nvSpPr>
              <p:spPr>
                <a:xfrm>
                  <a:off x="4310636" y="2717552"/>
                  <a:ext cx="58054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𝜇</m:t>
                            </m:r>
                          </m:e>
                          <m:sub>
                            <m:r>
                              <a:rPr lang="es-AR" sz="2400" b="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CD2FDFE-0E16-4902-B2A4-BF2E71D18A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0636" y="2717552"/>
                  <a:ext cx="580544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F74BE02B-640F-4460-9DAC-F120203C8246}"/>
                    </a:ext>
                  </a:extLst>
                </p:cNvPr>
                <p:cNvSpPr/>
                <p:nvPr/>
              </p:nvSpPr>
              <p:spPr>
                <a:xfrm>
                  <a:off x="6576304" y="2717552"/>
                  <a:ext cx="56380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s-AR" sz="2400" i="1">
                                    <a:solidFill>
                                      <a:srgbClr val="402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lang="es-AR" sz="2400" b="0" i="1" smtClean="0">
                                    <a:solidFill>
                                      <a:srgbClr val="402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s-AR" sz="2400" b="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F74BE02B-640F-4460-9DAC-F120203C82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6304" y="2717552"/>
                  <a:ext cx="563808" cy="461665"/>
                </a:xfrm>
                <a:prstGeom prst="rect">
                  <a:avLst/>
                </a:prstGeom>
                <a:blipFill>
                  <a:blip r:embed="rId9"/>
                  <a:stretch>
                    <a:fillRect r="-24731" b="-1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0252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Regla</a:t>
            </a:r>
            <a:r>
              <a:rPr lang="en-US" sz="3600" dirty="0"/>
              <a:t> de </a:t>
            </a:r>
            <a:r>
              <a:rPr lang="en-US" sz="3600" dirty="0" err="1"/>
              <a:t>decisión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/>
              <p:nvPr/>
            </p:nvSpPr>
            <p:spPr>
              <a:xfrm>
                <a:off x="816402" y="1853307"/>
                <a:ext cx="774085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s-AR" altLang="en-US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d>
                        <m:d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e>
                      </m:d>
                    </m:oMath>
                  </m:oMathPara>
                </a14:m>
                <a:endParaRPr lang="es-ES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402" y="1853307"/>
                <a:ext cx="7740854" cy="461665"/>
              </a:xfrm>
              <a:prstGeom prst="rect">
                <a:avLst/>
              </a:prstGeom>
              <a:blipFill>
                <a:blip r:embed="rId2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6DC98801-C579-427E-8F9C-99993A153FA6}"/>
              </a:ext>
            </a:extLst>
          </p:cNvPr>
          <p:cNvGrpSpPr/>
          <p:nvPr/>
        </p:nvGrpSpPr>
        <p:grpSpPr>
          <a:xfrm>
            <a:off x="538179" y="2472736"/>
            <a:ext cx="8067630" cy="1766441"/>
            <a:chOff x="678107" y="1412776"/>
            <a:chExt cx="8067630" cy="1766441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4DA2A5E-4338-4453-B012-1B19668FAD23}"/>
                </a:ext>
              </a:extLst>
            </p:cNvPr>
            <p:cNvCxnSpPr>
              <a:cxnSpLocks/>
            </p:cNvCxnSpPr>
            <p:nvPr/>
          </p:nvCxnSpPr>
          <p:spPr>
            <a:xfrm>
              <a:off x="678107" y="2569401"/>
              <a:ext cx="7854339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947A33-F48C-414C-B907-91F4DFC8669A}"/>
                </a:ext>
              </a:extLst>
            </p:cNvPr>
            <p:cNvCxnSpPr/>
            <p:nvPr/>
          </p:nvCxnSpPr>
          <p:spPr>
            <a:xfrm>
              <a:off x="4572006" y="2391994"/>
              <a:ext cx="0" cy="36004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315897-7738-4523-8BAE-B97D3FF94A54}"/>
                    </a:ext>
                  </a:extLst>
                </p:cNvPr>
                <p:cNvSpPr/>
                <p:nvPr/>
              </p:nvSpPr>
              <p:spPr>
                <a:xfrm>
                  <a:off x="8128389" y="2717552"/>
                  <a:ext cx="61734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s-AR" sz="2400" i="1">
                                    <a:solidFill>
                                      <a:srgbClr val="402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lang="es-AR" sz="2400" i="1">
                                    <a:solidFill>
                                      <a:srgbClr val="402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s-AR" sz="2400" i="1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315897-7738-4523-8BAE-B97D3FF94A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8389" y="2717552"/>
                  <a:ext cx="617348" cy="461665"/>
                </a:xfrm>
                <a:prstGeom prst="rect">
                  <a:avLst/>
                </a:prstGeom>
                <a:blipFill>
                  <a:blip r:embed="rId3"/>
                  <a:stretch>
                    <a:fillRect r="-7843" b="-1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C6E768-9A69-48B2-93BD-EEB1E6D98A8C}"/>
                </a:ext>
              </a:extLst>
            </p:cNvPr>
            <p:cNvCxnSpPr/>
            <p:nvPr/>
          </p:nvCxnSpPr>
          <p:spPr>
            <a:xfrm>
              <a:off x="6876262" y="2389381"/>
              <a:ext cx="0" cy="36004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D663A57-D644-45BF-A4FE-CAA485DBFDDF}"/>
                </a:ext>
              </a:extLst>
            </p:cNvPr>
            <p:cNvCxnSpPr/>
            <p:nvPr/>
          </p:nvCxnSpPr>
          <p:spPr>
            <a:xfrm>
              <a:off x="4571994" y="2076465"/>
              <a:ext cx="2304256" cy="0"/>
            </a:xfrm>
            <a:prstGeom prst="straightConnector1">
              <a:avLst/>
            </a:prstGeom>
            <a:ln w="38100">
              <a:headEnd type="triangle" w="med" len="med"/>
              <a:tailEnd type="triangl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96872A3-BE59-4067-8955-6B5927BBD805}"/>
                    </a:ext>
                  </a:extLst>
                </p:cNvPr>
                <p:cNvSpPr/>
                <p:nvPr/>
              </p:nvSpPr>
              <p:spPr>
                <a:xfrm>
                  <a:off x="5497953" y="1412776"/>
                  <a:ext cx="45236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i="1" smtClean="0">
                            <a:solidFill>
                              <a:srgbClr val="402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∆</m:t>
                        </m:r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BE78B8D3-2787-4AA5-B3D2-6976D7A318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953" y="1412776"/>
                  <a:ext cx="452367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CD2FDFE-0E16-4902-B2A4-BF2E71D18A76}"/>
                    </a:ext>
                  </a:extLst>
                </p:cNvPr>
                <p:cNvSpPr/>
                <p:nvPr/>
              </p:nvSpPr>
              <p:spPr>
                <a:xfrm>
                  <a:off x="4310636" y="2717552"/>
                  <a:ext cx="58054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𝜇</m:t>
                            </m:r>
                          </m:e>
                          <m:sub>
                            <m:r>
                              <a:rPr lang="es-AR" sz="2400" b="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CD2FDFE-0E16-4902-B2A4-BF2E71D18A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0636" y="2717552"/>
                  <a:ext cx="580544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F74BE02B-640F-4460-9DAC-F120203C8246}"/>
                    </a:ext>
                  </a:extLst>
                </p:cNvPr>
                <p:cNvSpPr/>
                <p:nvPr/>
              </p:nvSpPr>
              <p:spPr>
                <a:xfrm>
                  <a:off x="6576304" y="2717552"/>
                  <a:ext cx="56380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s-AR" sz="2400" i="1">
                                    <a:solidFill>
                                      <a:srgbClr val="402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lang="es-AR" sz="2400" b="0" i="1" smtClean="0">
                                    <a:solidFill>
                                      <a:srgbClr val="402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s-AR" sz="2400" b="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F74BE02B-640F-4460-9DAC-F120203C82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6304" y="2717552"/>
                  <a:ext cx="563808" cy="461665"/>
                </a:xfrm>
                <a:prstGeom prst="rect">
                  <a:avLst/>
                </a:prstGeom>
                <a:blipFill>
                  <a:blip r:embed="rId6"/>
                  <a:stretch>
                    <a:fillRect r="-25000" b="-1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D869AFA-219B-46FC-A198-5887ED9FA1C7}"/>
                  </a:ext>
                </a:extLst>
              </p:cNvPr>
              <p:cNvSpPr/>
              <p:nvPr/>
            </p:nvSpPr>
            <p:spPr>
              <a:xfrm>
                <a:off x="971600" y="4506363"/>
                <a:ext cx="7740854" cy="15994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hangingPunct="1"/>
                <a:r>
                  <a:rPr lang="es-AR" altLang="en-US" sz="2400" dirty="0">
                    <a:solidFill>
                      <a:schemeClr val="tx1"/>
                    </a:solidFill>
                  </a:rPr>
                  <a:t>Llamaremos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sub>
                    </m:sSub>
                    <m:r>
                      <a:rPr lang="es-AR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AR" altLang="en-US" sz="2400" dirty="0">
                    <a:solidFill>
                      <a:schemeClr val="tx1"/>
                    </a:solidFill>
                  </a:rPr>
                  <a:t>a la distribución de probabilidades cuando la media es </a:t>
                </a:r>
                <a14:m>
                  <m:oMath xmlns:m="http://schemas.openxmlformats.org/officeDocument/2006/math">
                    <m:r>
                      <a:rPr lang="es-AR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AR" altLang="en-US" sz="2400" dirty="0">
                    <a:solidFill>
                      <a:schemeClr val="tx1"/>
                    </a:solidFill>
                  </a:rPr>
                  <a:t> 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s-AR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AR" altLang="en-US" sz="2400" dirty="0">
                    <a:solidFill>
                      <a:schemeClr val="tx1"/>
                    </a:solidFill>
                  </a:rPr>
                  <a:t>a la función de distribución acumulada de una variable aleatoria normal estándar (media 0 y desvío 1). </a:t>
                </a:r>
                <a:endParaRPr lang="es-ES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D869AFA-219B-46FC-A198-5887ED9FA1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4506363"/>
                <a:ext cx="7740854" cy="1599412"/>
              </a:xfrm>
              <a:prstGeom prst="rect">
                <a:avLst/>
              </a:prstGeom>
              <a:blipFill>
                <a:blip r:embed="rId7"/>
                <a:stretch>
                  <a:fillRect l="-1181" t="-3042" r="-1260" b="-760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903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Regla</a:t>
            </a:r>
            <a:r>
              <a:rPr lang="en-US" sz="3600" dirty="0"/>
              <a:t> de </a:t>
            </a:r>
            <a:r>
              <a:rPr lang="en-US" sz="3600" dirty="0" err="1"/>
              <a:t>decisión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/>
              <p:nvPr/>
            </p:nvSpPr>
            <p:spPr>
              <a:xfrm>
                <a:off x="431534" y="1827258"/>
                <a:ext cx="828092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s-AR" altLang="en-US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d>
                        <m:d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e>
                      </m:d>
                    </m:oMath>
                  </m:oMathPara>
                </a14:m>
                <a:endParaRPr lang="es-ES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34" y="1827258"/>
                <a:ext cx="8280920" cy="461665"/>
              </a:xfrm>
              <a:prstGeom prst="rect">
                <a:avLst/>
              </a:prstGeom>
              <a:blipFill>
                <a:blip r:embed="rId2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6DC98801-C579-427E-8F9C-99993A153FA6}"/>
              </a:ext>
            </a:extLst>
          </p:cNvPr>
          <p:cNvGrpSpPr/>
          <p:nvPr/>
        </p:nvGrpSpPr>
        <p:grpSpPr>
          <a:xfrm>
            <a:off x="538179" y="2472736"/>
            <a:ext cx="8067630" cy="1766441"/>
            <a:chOff x="678107" y="1412776"/>
            <a:chExt cx="8067630" cy="1766441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4DA2A5E-4338-4453-B012-1B19668FAD23}"/>
                </a:ext>
              </a:extLst>
            </p:cNvPr>
            <p:cNvCxnSpPr>
              <a:cxnSpLocks/>
            </p:cNvCxnSpPr>
            <p:nvPr/>
          </p:nvCxnSpPr>
          <p:spPr>
            <a:xfrm>
              <a:off x="678107" y="2569401"/>
              <a:ext cx="7854339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947A33-F48C-414C-B907-91F4DFC8669A}"/>
                </a:ext>
              </a:extLst>
            </p:cNvPr>
            <p:cNvCxnSpPr/>
            <p:nvPr/>
          </p:nvCxnSpPr>
          <p:spPr>
            <a:xfrm>
              <a:off x="4572006" y="2391994"/>
              <a:ext cx="0" cy="36004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315897-7738-4523-8BAE-B97D3FF94A54}"/>
                    </a:ext>
                  </a:extLst>
                </p:cNvPr>
                <p:cNvSpPr/>
                <p:nvPr/>
              </p:nvSpPr>
              <p:spPr>
                <a:xfrm>
                  <a:off x="8128389" y="2717552"/>
                  <a:ext cx="61734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s-AR" sz="2400" i="1">
                                    <a:solidFill>
                                      <a:srgbClr val="402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lang="es-AR" sz="2400" i="1">
                                    <a:solidFill>
                                      <a:srgbClr val="402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s-AR" sz="2400" i="1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315897-7738-4523-8BAE-B97D3FF94A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8389" y="2717552"/>
                  <a:ext cx="617348" cy="461665"/>
                </a:xfrm>
                <a:prstGeom prst="rect">
                  <a:avLst/>
                </a:prstGeom>
                <a:blipFill>
                  <a:blip r:embed="rId3"/>
                  <a:stretch>
                    <a:fillRect r="-7843" b="-1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C6E768-9A69-48B2-93BD-EEB1E6D98A8C}"/>
                </a:ext>
              </a:extLst>
            </p:cNvPr>
            <p:cNvCxnSpPr/>
            <p:nvPr/>
          </p:nvCxnSpPr>
          <p:spPr>
            <a:xfrm>
              <a:off x="6876262" y="2389381"/>
              <a:ext cx="0" cy="36004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D663A57-D644-45BF-A4FE-CAA485DBFDDF}"/>
                </a:ext>
              </a:extLst>
            </p:cNvPr>
            <p:cNvCxnSpPr/>
            <p:nvPr/>
          </p:nvCxnSpPr>
          <p:spPr>
            <a:xfrm>
              <a:off x="4571994" y="2076465"/>
              <a:ext cx="2304256" cy="0"/>
            </a:xfrm>
            <a:prstGeom prst="straightConnector1">
              <a:avLst/>
            </a:prstGeom>
            <a:ln w="38100">
              <a:headEnd type="triangle" w="med" len="med"/>
              <a:tailEnd type="triangl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96872A3-BE59-4067-8955-6B5927BBD805}"/>
                    </a:ext>
                  </a:extLst>
                </p:cNvPr>
                <p:cNvSpPr/>
                <p:nvPr/>
              </p:nvSpPr>
              <p:spPr>
                <a:xfrm>
                  <a:off x="5497953" y="1412776"/>
                  <a:ext cx="45236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i="1" smtClean="0">
                            <a:solidFill>
                              <a:srgbClr val="402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∆</m:t>
                        </m:r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BE78B8D3-2787-4AA5-B3D2-6976D7A318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953" y="1412776"/>
                  <a:ext cx="452367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CD2FDFE-0E16-4902-B2A4-BF2E71D18A76}"/>
                    </a:ext>
                  </a:extLst>
                </p:cNvPr>
                <p:cNvSpPr/>
                <p:nvPr/>
              </p:nvSpPr>
              <p:spPr>
                <a:xfrm>
                  <a:off x="4310636" y="2717552"/>
                  <a:ext cx="58054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𝜇</m:t>
                            </m:r>
                          </m:e>
                          <m:sub>
                            <m:r>
                              <a:rPr lang="es-AR" sz="2400" b="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CD2FDFE-0E16-4902-B2A4-BF2E71D18A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0636" y="2717552"/>
                  <a:ext cx="580544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F74BE02B-640F-4460-9DAC-F120203C8246}"/>
                    </a:ext>
                  </a:extLst>
                </p:cNvPr>
                <p:cNvSpPr/>
                <p:nvPr/>
              </p:nvSpPr>
              <p:spPr>
                <a:xfrm>
                  <a:off x="6576304" y="2717552"/>
                  <a:ext cx="56380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s-AR" sz="2400" i="1">
                                    <a:solidFill>
                                      <a:srgbClr val="402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lang="es-AR" sz="2400" b="0" i="1" smtClean="0">
                                    <a:solidFill>
                                      <a:srgbClr val="402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s-AR" sz="2400" b="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F74BE02B-640F-4460-9DAC-F120203C82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6304" y="2717552"/>
                  <a:ext cx="563808" cy="461665"/>
                </a:xfrm>
                <a:prstGeom prst="rect">
                  <a:avLst/>
                </a:prstGeom>
                <a:blipFill>
                  <a:blip r:embed="rId6"/>
                  <a:stretch>
                    <a:fillRect r="-25000" b="-1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A8A4B9F-DDBA-4312-9219-EB630FDC2647}"/>
                  </a:ext>
                </a:extLst>
              </p:cNvPr>
              <p:cNvSpPr/>
              <p:nvPr/>
            </p:nvSpPr>
            <p:spPr>
              <a:xfrm>
                <a:off x="913652" y="4625015"/>
                <a:ext cx="7316683" cy="922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l-G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l-G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A8A4B9F-DDBA-4312-9219-EB630FDC26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52" y="4625015"/>
                <a:ext cx="7316683" cy="9221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A94A8F0-F7B4-4D8D-B7E0-9E247BF439F1}"/>
                  </a:ext>
                </a:extLst>
              </p:cNvPr>
              <p:cNvSpPr/>
              <p:nvPr/>
            </p:nvSpPr>
            <p:spPr>
              <a:xfrm>
                <a:off x="3141569" y="5751409"/>
                <a:ext cx="2860848" cy="7914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A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b>
                      </m:sSub>
                      <m:f>
                        <m:fPr>
                          <m:ctrlPr>
                            <a:rPr lang="es-A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A94A8F0-F7B4-4D8D-B7E0-9E247BF439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569" y="5751409"/>
                <a:ext cx="2860848" cy="7914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239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/>
              <a:t>Un </a:t>
            </a:r>
            <a:r>
              <a:rPr lang="en-US" sz="3600" dirty="0" err="1"/>
              <a:t>ejemplo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/>
              <p:nvPr/>
            </p:nvSpPr>
            <p:spPr>
              <a:xfrm>
                <a:off x="971600" y="1683642"/>
                <a:ext cx="7744664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hangingPunct="1"/>
                <a:r>
                  <a:rPr lang="es-ES" altLang="en-US" sz="2400" dirty="0">
                    <a:solidFill>
                      <a:schemeClr val="tx1"/>
                    </a:solidFill>
                  </a:rPr>
                  <a:t>Una agencia de protección al consumidor desea poner a prueba la afirmación de un fabricante de pinturas según la cual el tiempo medio de secado de su nueva pintura de </a:t>
                </a:r>
                <a:r>
                  <a:rPr lang="es-ES" altLang="en-US" sz="2400" i="1" dirty="0">
                    <a:solidFill>
                      <a:schemeClr val="tx1"/>
                    </a:solidFill>
                  </a:rPr>
                  <a:t>secado rápido</a:t>
                </a:r>
                <a:r>
                  <a:rPr lang="es-ES" altLang="en-US" sz="2400" dirty="0">
                    <a:solidFill>
                      <a:schemeClr val="tx1"/>
                    </a:solidFill>
                  </a:rPr>
                  <a:t> es de no más de </a:t>
                </a:r>
                <a14:m>
                  <m:oMath xmlns:m="http://schemas.openxmlformats.org/officeDocument/2006/math"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 min. 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683642"/>
                <a:ext cx="7744664" cy="1569660"/>
              </a:xfrm>
              <a:prstGeom prst="rect">
                <a:avLst/>
              </a:prstGeom>
              <a:blipFill>
                <a:blip r:embed="rId2"/>
                <a:stretch>
                  <a:fillRect l="-1180" t="-2713" r="-1180" b="-814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2381FF9-3BF6-4E7C-9D8C-B63D23CA78D1}"/>
                  </a:ext>
                </a:extLst>
              </p:cNvPr>
              <p:cNvSpPr/>
              <p:nvPr/>
            </p:nvSpPr>
            <p:spPr>
              <a:xfrm>
                <a:off x="967790" y="3429000"/>
                <a:ext cx="7744664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s-ES" altLang="en-US" sz="2400" dirty="0">
                    <a:solidFill>
                      <a:schemeClr val="tx1"/>
                    </a:solidFill>
                  </a:rPr>
                  <a:t>Para ello se pintan </a:t>
                </a:r>
                <a14:m>
                  <m:oMath xmlns:m="http://schemas.openxmlformats.org/officeDocument/2006/math"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 tableros, con el contenido de </a:t>
                </a:r>
                <a14:m>
                  <m:oMath xmlns:m="http://schemas.openxmlformats.org/officeDocument/2006/math"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 latas distintas y se mide el tiempo medio de secado.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2381FF9-3BF6-4E7C-9D8C-B63D23CA78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790" y="3429000"/>
                <a:ext cx="7744664" cy="830997"/>
              </a:xfrm>
              <a:prstGeom prst="rect">
                <a:avLst/>
              </a:prstGeom>
              <a:blipFill>
                <a:blip r:embed="rId3"/>
                <a:stretch>
                  <a:fillRect l="-1260" t="-5147" r="-236" b="-161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6D0AED3-EAD5-4724-96A1-A53543881EF1}"/>
                  </a:ext>
                </a:extLst>
              </p:cNvPr>
              <p:cNvSpPr/>
              <p:nvPr/>
            </p:nvSpPr>
            <p:spPr>
              <a:xfrm>
                <a:off x="967790" y="4509120"/>
                <a:ext cx="7744664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s-ES" altLang="en-US" sz="2400" dirty="0">
                    <a:solidFill>
                      <a:schemeClr val="tx1"/>
                    </a:solidFill>
                  </a:rPr>
                  <a:t>Por la experiencia previa, se sabe que el desvío en el tiempo de secado es de </a:t>
                </a:r>
                <a14:m>
                  <m:oMath xmlns:m="http://schemas.openxmlformats.org/officeDocument/2006/math"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2.4 </m:t>
                    </m:r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min.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6D0AED3-EAD5-4724-96A1-A53543881E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790" y="4509120"/>
                <a:ext cx="7744664" cy="830997"/>
              </a:xfrm>
              <a:prstGeom prst="rect">
                <a:avLst/>
              </a:prstGeom>
              <a:blipFill>
                <a:blip r:embed="rId4"/>
                <a:stretch>
                  <a:fillRect l="-1260" t="-5147" r="-1181" b="-169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4FF5EFE-2BA9-4B25-BF0F-D06C064DB425}"/>
                  </a:ext>
                </a:extLst>
              </p:cNvPr>
              <p:cNvSpPr/>
              <p:nvPr/>
            </p:nvSpPr>
            <p:spPr>
              <a:xfrm>
                <a:off x="967790" y="5636921"/>
                <a:ext cx="7744664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s-ES" altLang="en-US" sz="2400" dirty="0">
                    <a:solidFill>
                      <a:schemeClr val="tx1"/>
                    </a:solidFill>
                  </a:rPr>
                  <a:t>Fijamos la máxima probabilidad de un error de tipo I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4FF5EFE-2BA9-4B25-BF0F-D06C064DB4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790" y="5636921"/>
                <a:ext cx="7744664" cy="830997"/>
              </a:xfrm>
              <a:prstGeom prst="rect">
                <a:avLst/>
              </a:prstGeom>
              <a:blipFill>
                <a:blip r:embed="rId5"/>
                <a:stretch>
                  <a:fillRect l="-1260" t="-5147" r="-1181" b="-169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2963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/>
              <a:t>Un </a:t>
            </a:r>
            <a:r>
              <a:rPr lang="en-US" sz="3600" dirty="0" err="1"/>
              <a:t>ejemplo</a:t>
            </a:r>
            <a:endParaRPr 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8EC67E-C974-4934-90FA-85ADD21BE5CE}"/>
              </a:ext>
            </a:extLst>
          </p:cNvPr>
          <p:cNvSpPr/>
          <p:nvPr/>
        </p:nvSpPr>
        <p:spPr>
          <a:xfrm>
            <a:off x="431534" y="1827258"/>
            <a:ext cx="8280920" cy="835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s-AR" altLang="en-US" sz="2400" b="1" dirty="0"/>
              <a:t>Asumiendo</a:t>
            </a:r>
            <a:r>
              <a:rPr lang="es-AR" altLang="en-US" sz="2400" dirty="0"/>
              <a:t> que el tiempo de secado es una variable aleatoria normal…</a:t>
            </a:r>
            <a:endParaRPr lang="es-ES" altLang="en-US" sz="2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DC98801-C579-427E-8F9C-99993A153FA6}"/>
              </a:ext>
            </a:extLst>
          </p:cNvPr>
          <p:cNvGrpSpPr/>
          <p:nvPr/>
        </p:nvGrpSpPr>
        <p:grpSpPr>
          <a:xfrm>
            <a:off x="538179" y="2472736"/>
            <a:ext cx="8067630" cy="1766441"/>
            <a:chOff x="678107" y="1412776"/>
            <a:chExt cx="8067630" cy="1766441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4DA2A5E-4338-4453-B012-1B19668FAD23}"/>
                </a:ext>
              </a:extLst>
            </p:cNvPr>
            <p:cNvCxnSpPr>
              <a:cxnSpLocks/>
            </p:cNvCxnSpPr>
            <p:nvPr/>
          </p:nvCxnSpPr>
          <p:spPr>
            <a:xfrm>
              <a:off x="678107" y="2569401"/>
              <a:ext cx="7854339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947A33-F48C-414C-B907-91F4DFC8669A}"/>
                </a:ext>
              </a:extLst>
            </p:cNvPr>
            <p:cNvCxnSpPr/>
            <p:nvPr/>
          </p:nvCxnSpPr>
          <p:spPr>
            <a:xfrm>
              <a:off x="4572006" y="2391994"/>
              <a:ext cx="0" cy="36004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315897-7738-4523-8BAE-B97D3FF94A54}"/>
                    </a:ext>
                  </a:extLst>
                </p:cNvPr>
                <p:cNvSpPr/>
                <p:nvPr/>
              </p:nvSpPr>
              <p:spPr>
                <a:xfrm>
                  <a:off x="8128389" y="2717552"/>
                  <a:ext cx="61734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s-AR" sz="2400" i="1">
                                    <a:solidFill>
                                      <a:srgbClr val="402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lang="es-AR" sz="2400" i="1">
                                    <a:solidFill>
                                      <a:srgbClr val="402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s-AR" sz="2400" i="1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315897-7738-4523-8BAE-B97D3FF94A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8389" y="2717552"/>
                  <a:ext cx="617348" cy="461665"/>
                </a:xfrm>
                <a:prstGeom prst="rect">
                  <a:avLst/>
                </a:prstGeom>
                <a:blipFill>
                  <a:blip r:embed="rId2"/>
                  <a:stretch>
                    <a:fillRect r="-7843" b="-1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C6E768-9A69-48B2-93BD-EEB1E6D98A8C}"/>
                </a:ext>
              </a:extLst>
            </p:cNvPr>
            <p:cNvCxnSpPr/>
            <p:nvPr/>
          </p:nvCxnSpPr>
          <p:spPr>
            <a:xfrm>
              <a:off x="6876262" y="2389381"/>
              <a:ext cx="0" cy="36004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D663A57-D644-45BF-A4FE-CAA485DBFDDF}"/>
                </a:ext>
              </a:extLst>
            </p:cNvPr>
            <p:cNvCxnSpPr/>
            <p:nvPr/>
          </p:nvCxnSpPr>
          <p:spPr>
            <a:xfrm>
              <a:off x="4571994" y="2076465"/>
              <a:ext cx="2304256" cy="0"/>
            </a:xfrm>
            <a:prstGeom prst="straightConnector1">
              <a:avLst/>
            </a:prstGeom>
            <a:ln w="38100">
              <a:headEnd type="triangle" w="med" len="med"/>
              <a:tailEnd type="triangl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96872A3-BE59-4067-8955-6B5927BBD805}"/>
                    </a:ext>
                  </a:extLst>
                </p:cNvPr>
                <p:cNvSpPr/>
                <p:nvPr/>
              </p:nvSpPr>
              <p:spPr>
                <a:xfrm>
                  <a:off x="5497953" y="1412776"/>
                  <a:ext cx="45236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i="1" smtClean="0">
                            <a:solidFill>
                              <a:srgbClr val="402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∆</m:t>
                        </m:r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BE78B8D3-2787-4AA5-B3D2-6976D7A318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953" y="1412776"/>
                  <a:ext cx="452367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CD2FDFE-0E16-4902-B2A4-BF2E71D18A76}"/>
                    </a:ext>
                  </a:extLst>
                </p:cNvPr>
                <p:cNvSpPr/>
                <p:nvPr/>
              </p:nvSpPr>
              <p:spPr>
                <a:xfrm>
                  <a:off x="4310636" y="2717552"/>
                  <a:ext cx="58054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𝜇</m:t>
                            </m:r>
                          </m:e>
                          <m:sub>
                            <m:r>
                              <a:rPr lang="es-AR" sz="2400" b="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CD2FDFE-0E16-4902-B2A4-BF2E71D18A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0636" y="2717552"/>
                  <a:ext cx="580544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F74BE02B-640F-4460-9DAC-F120203C8246}"/>
                    </a:ext>
                  </a:extLst>
                </p:cNvPr>
                <p:cNvSpPr/>
                <p:nvPr/>
              </p:nvSpPr>
              <p:spPr>
                <a:xfrm>
                  <a:off x="6576304" y="2717552"/>
                  <a:ext cx="56380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s-AR" sz="2400" i="1">
                                    <a:solidFill>
                                      <a:srgbClr val="402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lang="es-AR" sz="2400" b="0" i="1" smtClean="0">
                                    <a:solidFill>
                                      <a:srgbClr val="402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s-AR" sz="2400" b="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F74BE02B-640F-4460-9DAC-F120203C82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6304" y="2717552"/>
                  <a:ext cx="563808" cy="461665"/>
                </a:xfrm>
                <a:prstGeom prst="rect">
                  <a:avLst/>
                </a:prstGeom>
                <a:blipFill>
                  <a:blip r:embed="rId6"/>
                  <a:stretch>
                    <a:fillRect r="-25000" b="-1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A94A8F0-F7B4-4D8D-B7E0-9E247BF439F1}"/>
                  </a:ext>
                </a:extLst>
              </p:cNvPr>
              <p:cNvSpPr/>
              <p:nvPr/>
            </p:nvSpPr>
            <p:spPr>
              <a:xfrm>
                <a:off x="1179719" y="4522527"/>
                <a:ext cx="6784550" cy="8552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A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b>
                      </m:sSub>
                      <m:f>
                        <m:fPr>
                          <m:ctrlPr>
                            <a:rPr lang="es-A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=20+1.6449</m:t>
                      </m:r>
                      <m:f>
                        <m:fPr>
                          <m:ctrlP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2.4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36</m:t>
                              </m:r>
                            </m:e>
                          </m:rad>
                        </m:den>
                      </m:f>
                      <m:r>
                        <a:rPr lang="en-US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=20.658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A94A8F0-F7B4-4D8D-B7E0-9E247BF439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719" y="4522527"/>
                <a:ext cx="6784550" cy="855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BB67174-5302-4A54-A9A3-B1C41DEAB3C5}"/>
                  </a:ext>
                </a:extLst>
              </p:cNvPr>
              <p:cNvSpPr/>
              <p:nvPr/>
            </p:nvSpPr>
            <p:spPr>
              <a:xfrm>
                <a:off x="1093811" y="5661176"/>
                <a:ext cx="7532736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hangingPunct="1"/>
                <a:r>
                  <a:rPr lang="es-ES" altLang="en-US" sz="2400" dirty="0"/>
                  <a:t>Si el valor medio de secado de los </a:t>
                </a:r>
                <a14:m>
                  <m:oMath xmlns:m="http://schemas.openxmlformats.org/officeDocument/2006/math">
                    <m:r>
                      <a:rPr lang="es-ES" altLang="en-US" sz="2400" i="1" dirty="0" smtClean="0"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lang="es-ES" altLang="en-US" sz="2400" dirty="0"/>
                  <a:t> tableros da </a:t>
                </a:r>
                <a14:m>
                  <m:oMath xmlns:m="http://schemas.openxmlformats.org/officeDocument/2006/math">
                    <m:r>
                      <a:rPr lang="es-ES" altLang="en-US" sz="2400" i="1" dirty="0" smtClean="0"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lang="es-ES" altLang="en-US" sz="2400" dirty="0"/>
                  <a:t> min., entonces debemos rechazar la </a:t>
                </a:r>
                <a:r>
                  <a:rPr lang="es-ES" altLang="en-US" sz="2400" dirty="0" err="1"/>
                  <a:t>hipótesis</a:t>
                </a:r>
                <a:r>
                  <a:rPr lang="es-ES" altLang="en-US" sz="2400" dirty="0"/>
                  <a:t> nula. 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BB67174-5302-4A54-A9A3-B1C41DEAB3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811" y="5661176"/>
                <a:ext cx="7532736" cy="830997"/>
              </a:xfrm>
              <a:prstGeom prst="rect">
                <a:avLst/>
              </a:prstGeom>
              <a:blipFill>
                <a:blip r:embed="rId8"/>
                <a:stretch>
                  <a:fillRect l="-1214" t="-5147" r="-243" b="-169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2318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0" grpId="0"/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Regla</a:t>
            </a:r>
            <a:r>
              <a:rPr lang="en-US" sz="3600" dirty="0"/>
              <a:t> de </a:t>
            </a:r>
            <a:r>
              <a:rPr lang="en-US" sz="3600" dirty="0" err="1"/>
              <a:t>decisión</a:t>
            </a:r>
            <a:endParaRPr 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8EC67E-C974-4934-90FA-85ADD21BE5CE}"/>
              </a:ext>
            </a:extLst>
          </p:cNvPr>
          <p:cNvSpPr/>
          <p:nvPr/>
        </p:nvSpPr>
        <p:spPr>
          <a:xfrm>
            <a:off x="971600" y="1827258"/>
            <a:ext cx="77408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s-ES" altLang="en-US" sz="2400" dirty="0"/>
              <a:t>Si la </a:t>
            </a:r>
            <a:r>
              <a:rPr lang="es-ES" altLang="en-US" sz="2400" dirty="0" err="1"/>
              <a:t>hipótesis</a:t>
            </a:r>
            <a:r>
              <a:rPr lang="es-ES" altLang="en-US" sz="2400" dirty="0"/>
              <a:t> nula fuera falsa: ¿qué error estaríamos cometiendo?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B67174-5302-4A54-A9A3-B1C41DEAB3C5}"/>
              </a:ext>
            </a:extLst>
          </p:cNvPr>
          <p:cNvSpPr/>
          <p:nvPr/>
        </p:nvSpPr>
        <p:spPr>
          <a:xfrm>
            <a:off x="971600" y="2797322"/>
            <a:ext cx="77408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s-ES" altLang="en-US" sz="2400" dirty="0"/>
              <a:t>Va a depender de “qué tan falsa” sea…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7502A3A-1372-4DC2-A0D9-08430A990323}"/>
                  </a:ext>
                </a:extLst>
              </p:cNvPr>
              <p:cNvSpPr/>
              <p:nvPr/>
            </p:nvSpPr>
            <p:spPr>
              <a:xfrm>
                <a:off x="2190477" y="3382835"/>
                <a:ext cx="4763034" cy="922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7502A3A-1372-4DC2-A0D9-08430A9903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477" y="3382835"/>
                <a:ext cx="4763034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BFB8BF1-F643-4CFC-8EE6-ADDCEEC90937}"/>
                  </a:ext>
                </a:extLst>
              </p:cNvPr>
              <p:cNvSpPr/>
              <p:nvPr/>
            </p:nvSpPr>
            <p:spPr>
              <a:xfrm>
                <a:off x="1026941" y="4797152"/>
                <a:ext cx="4481163" cy="922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m:rPr>
                          <m:nor/>
                        </m:rPr>
                        <a:rPr lang="es-AR" altLang="en-US" sz="2400" dirty="0">
                          <a:solidFill>
                            <a:schemeClr val="tx1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BFB8BF1-F643-4CFC-8EE6-ADDCEEC909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941" y="4797152"/>
                <a:ext cx="4481163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E0638A7F-C6ED-4A4B-AD5D-270B56CA8E0B}"/>
              </a:ext>
            </a:extLst>
          </p:cNvPr>
          <p:cNvSpPr/>
          <p:nvPr/>
        </p:nvSpPr>
        <p:spPr>
          <a:xfrm>
            <a:off x="1007610" y="4305011"/>
            <a:ext cx="77408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s-ES" altLang="en-US" sz="2400" dirty="0"/>
              <a:t>Algunos valores conocidos: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6044D05-3D64-4E55-94F6-3AE91BA8804E}"/>
                  </a:ext>
                </a:extLst>
              </p:cNvPr>
              <p:cNvSpPr/>
              <p:nvPr/>
            </p:nvSpPr>
            <p:spPr>
              <a:xfrm>
                <a:off x="6647035" y="5505244"/>
                <a:ext cx="2064540" cy="6149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AR" alt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AR" altLang="en-US" sz="24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s-AR" alt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</m:e>
                      </m:func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6044D05-3D64-4E55-94F6-3AE91BA880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035" y="5505244"/>
                <a:ext cx="2064540" cy="614912"/>
              </a:xfrm>
              <a:prstGeom prst="rect">
                <a:avLst/>
              </a:prstGeom>
              <a:blipFill>
                <a:blip r:embed="rId4"/>
                <a:stretch>
                  <a:fillRect b="-49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69BBF59-D0D9-45E4-9067-AE0AA8842A03}"/>
                  </a:ext>
                </a:extLst>
              </p:cNvPr>
              <p:cNvSpPr/>
              <p:nvPr/>
            </p:nvSpPr>
            <p:spPr>
              <a:xfrm>
                <a:off x="1027832" y="5715089"/>
                <a:ext cx="3818161" cy="922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69BBF59-D0D9-45E4-9067-AE0AA8842A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832" y="5715089"/>
                <a:ext cx="3818161" cy="9221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0217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22" grpId="0"/>
      <p:bldP spid="26" grpId="0"/>
      <p:bldP spid="27" grpId="0"/>
      <p:bldP spid="28" grpId="0"/>
      <p:bldP spid="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Regla</a:t>
            </a:r>
            <a:r>
              <a:rPr lang="en-US" sz="3600" dirty="0"/>
              <a:t> de </a:t>
            </a:r>
            <a:r>
              <a:rPr lang="en-US" sz="3600" dirty="0" err="1"/>
              <a:t>decisión</a:t>
            </a:r>
            <a:endParaRPr lang="en-US"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CF9F08-317F-4E28-A77A-4CA02369E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556792"/>
            <a:ext cx="7011008" cy="504792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CCD932-A473-4131-B414-E48B98BE0817}"/>
              </a:ext>
            </a:extLst>
          </p:cNvPr>
          <p:cNvCxnSpPr/>
          <p:nvPr/>
        </p:nvCxnSpPr>
        <p:spPr>
          <a:xfrm>
            <a:off x="3973054" y="4080755"/>
            <a:ext cx="0" cy="2088232"/>
          </a:xfrm>
          <a:prstGeom prst="line">
            <a:avLst/>
          </a:prstGeom>
          <a:ln w="76200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01865AC-3D6E-474A-BB45-A8BB51629BD3}"/>
                  </a:ext>
                </a:extLst>
              </p:cNvPr>
              <p:cNvSpPr/>
              <p:nvPr/>
            </p:nvSpPr>
            <p:spPr>
              <a:xfrm>
                <a:off x="3769285" y="6093296"/>
                <a:ext cx="56380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A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s-AR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01865AC-3D6E-474A-BB45-A8BB51629B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285" y="6093296"/>
                <a:ext cx="563809" cy="461665"/>
              </a:xfrm>
              <a:prstGeom prst="rect">
                <a:avLst/>
              </a:prstGeom>
              <a:blipFill>
                <a:blip r:embed="rId3"/>
                <a:stretch>
                  <a:fillRect r="-24731" b="-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855B069-2FC6-4342-81C3-E7A9F9D206A9}"/>
                  </a:ext>
                </a:extLst>
              </p:cNvPr>
              <p:cNvSpPr/>
              <p:nvPr/>
            </p:nvSpPr>
            <p:spPr>
              <a:xfrm>
                <a:off x="3031584" y="2204864"/>
                <a:ext cx="130151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m:rPr>
                          <m:nor/>
                        </m:rPr>
                        <a:rPr lang="es-AR" altLang="en-US" sz="2400" dirty="0">
                          <a:solidFill>
                            <a:srgbClr val="00B050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855B069-2FC6-4342-81C3-E7A9F9D206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584" y="2204864"/>
                <a:ext cx="130151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9781A1-D40F-46DB-BC1D-64AD70393EBE}"/>
              </a:ext>
            </a:extLst>
          </p:cNvPr>
          <p:cNvCxnSpPr>
            <a:cxnSpLocks/>
          </p:cNvCxnSpPr>
          <p:nvPr/>
        </p:nvCxnSpPr>
        <p:spPr>
          <a:xfrm flipH="1">
            <a:off x="2028838" y="2420888"/>
            <a:ext cx="864096" cy="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37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Varias</a:t>
            </a:r>
            <a:r>
              <a:rPr lang="en-US" sz="3600" dirty="0"/>
              <a:t> </a:t>
            </a:r>
            <a:r>
              <a:rPr lang="en-US" sz="3600" dirty="0" err="1"/>
              <a:t>estrategias</a:t>
            </a:r>
            <a:endParaRPr lang="en-US" sz="3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5E0D61-F88B-42DF-B0D9-754A000CED4B}"/>
              </a:ext>
            </a:extLst>
          </p:cNvPr>
          <p:cNvSpPr/>
          <p:nvPr/>
        </p:nvSpPr>
        <p:spPr>
          <a:xfrm>
            <a:off x="1003140" y="2071229"/>
            <a:ext cx="73808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s-AR" altLang="en-US" sz="2400" dirty="0"/>
              <a:t>Dos estrategias habituales:</a:t>
            </a:r>
            <a:endParaRPr lang="es-ES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7F11465-4665-4259-9900-D40A26B8CD9F}"/>
                  </a:ext>
                </a:extLst>
              </p:cNvPr>
              <p:cNvSpPr/>
              <p:nvPr/>
            </p:nvSpPr>
            <p:spPr>
              <a:xfrm>
                <a:off x="972758" y="2690681"/>
                <a:ext cx="774086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:r>
                  <a:rPr lang="es-AR" altLang="en-US" sz="2400" dirty="0">
                    <a:solidFill>
                      <a:schemeClr val="tx1"/>
                    </a:solidFill>
                  </a:rPr>
                  <a:t>Fijamos, de antemano, una regla de decisión que garantice que la probabilidad de error de tipo I no será superior a un valor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s-AR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AR" altLang="en-US" sz="2400" dirty="0">
                    <a:solidFill>
                      <a:schemeClr val="tx1"/>
                    </a:solidFill>
                  </a:rPr>
                  <a:t> pre-fijado.</a:t>
                </a:r>
                <a:endParaRPr lang="es-ES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7F11465-4665-4259-9900-D40A26B8C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758" y="2690681"/>
                <a:ext cx="7740860" cy="1200329"/>
              </a:xfrm>
              <a:prstGeom prst="rect">
                <a:avLst/>
              </a:prstGeom>
              <a:blipFill>
                <a:blip r:embed="rId2"/>
                <a:stretch>
                  <a:fillRect l="-1103" t="-3553" r="-1261" b="-1116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CB3C41B2-F4F3-42CF-878C-FC44761F9FA4}"/>
              </a:ext>
            </a:extLst>
          </p:cNvPr>
          <p:cNvSpPr/>
          <p:nvPr/>
        </p:nvSpPr>
        <p:spPr>
          <a:xfrm>
            <a:off x="972758" y="4146923"/>
            <a:ext cx="77408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s-AR" altLang="en-US" sz="2400" dirty="0"/>
              <a:t>Simplemente reportamos qué tan probable es que una muestra haya sido tan contraria a la </a:t>
            </a:r>
            <a:r>
              <a:rPr lang="es-AR" altLang="en-US" sz="2400" dirty="0" err="1"/>
              <a:t>hipótesis</a:t>
            </a:r>
            <a:r>
              <a:rPr lang="es-AR" altLang="en-US" sz="2400" dirty="0"/>
              <a:t> nula: valor p.</a:t>
            </a:r>
            <a:endParaRPr lang="es-E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7174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AR" sz="3600" dirty="0"/>
              <a:t>Valor p</a:t>
            </a:r>
            <a:endParaRPr lang="en-US" sz="3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5E0D61-F88B-42DF-B0D9-754A000CED4B}"/>
              </a:ext>
            </a:extLst>
          </p:cNvPr>
          <p:cNvSpPr/>
          <p:nvPr/>
        </p:nvSpPr>
        <p:spPr>
          <a:xfrm>
            <a:off x="972756" y="1772816"/>
            <a:ext cx="76316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s-AR" altLang="en-US" sz="2400" dirty="0"/>
              <a:t>El valor p se define como la probabilidad de que, si la </a:t>
            </a:r>
            <a:r>
              <a:rPr lang="es-AR" altLang="en-US" sz="2400" dirty="0" err="1"/>
              <a:t>hipótesis</a:t>
            </a:r>
            <a:r>
              <a:rPr lang="es-AR" altLang="en-US" sz="2400" dirty="0"/>
              <a:t> nula es verdadera, el estadístico de prueba dé tan mal o peor de lo que dio.</a:t>
            </a:r>
            <a:endParaRPr lang="es-ES" alt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F11465-4665-4259-9900-D40A26B8CD9F}"/>
              </a:ext>
            </a:extLst>
          </p:cNvPr>
          <p:cNvSpPr/>
          <p:nvPr/>
        </p:nvSpPr>
        <p:spPr>
          <a:xfrm>
            <a:off x="972758" y="3169297"/>
            <a:ext cx="763169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s-AR" altLang="en-US" sz="2400" dirty="0"/>
              <a:t>Es una medida de la posibilidad de que el resultado observado se produzca, debido al azar, bajo la </a:t>
            </a:r>
            <a:r>
              <a:rPr lang="es-AR" altLang="en-US" sz="2400" dirty="0" err="1"/>
              <a:t>hipótesis</a:t>
            </a:r>
            <a:r>
              <a:rPr lang="es-AR" altLang="en-US" sz="2400" dirty="0"/>
              <a:t> nula.</a:t>
            </a:r>
            <a:endParaRPr lang="es-ES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B3C41B2-F4F3-42CF-878C-FC44761F9FA4}"/>
                  </a:ext>
                </a:extLst>
              </p:cNvPr>
              <p:cNvSpPr/>
              <p:nvPr/>
            </p:nvSpPr>
            <p:spPr>
              <a:xfrm>
                <a:off x="972756" y="4585386"/>
                <a:ext cx="7631692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s-AR" altLang="en-US" sz="2400" dirty="0">
                    <a:solidFill>
                      <a:schemeClr val="tx1"/>
                    </a:solidFill>
                  </a:rPr>
                  <a:t>Si el valor p es menor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AR" altLang="en-US" sz="2400" dirty="0">
                    <a:solidFill>
                      <a:schemeClr val="tx1"/>
                    </a:solidFill>
                  </a:rPr>
                  <a:t>, entonces la hipótesis nula debería rechazarse.</a:t>
                </a:r>
                <a:endParaRPr lang="es-ES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B3C41B2-F4F3-42CF-878C-FC44761F9F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756" y="4585386"/>
                <a:ext cx="7631692" cy="830997"/>
              </a:xfrm>
              <a:prstGeom prst="rect">
                <a:avLst/>
              </a:prstGeom>
              <a:blipFill>
                <a:blip r:embed="rId2"/>
                <a:stretch>
                  <a:fillRect l="-1279" t="-5109" r="-1279" b="-160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7A9A449-BFED-4D63-824D-96A5C2C5CBC0}"/>
                  </a:ext>
                </a:extLst>
              </p:cNvPr>
              <p:cNvSpPr/>
              <p:nvPr/>
            </p:nvSpPr>
            <p:spPr>
              <a:xfrm>
                <a:off x="1301288" y="5632143"/>
                <a:ext cx="7285136" cy="922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altLang="en-US" sz="24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alt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𝑜𝑏𝑠</m:t>
                              </m:r>
                            </m:sub>
                          </m:sSub>
                        </m:e>
                      </m:d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𝑜𝑏𝑠</m:t>
                              </m:r>
                            </m:sub>
                          </m:sSub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l-G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𝑜𝑏𝑠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7A9A449-BFED-4D63-824D-96A5C2C5CB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288" y="5632143"/>
                <a:ext cx="7285136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250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  <p:bldP spid="10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/>
              <a:t>Un </a:t>
            </a:r>
            <a:r>
              <a:rPr lang="en-US" sz="3600" dirty="0" err="1"/>
              <a:t>ejemplo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/>
              <p:nvPr/>
            </p:nvSpPr>
            <p:spPr>
              <a:xfrm>
                <a:off x="971600" y="1683642"/>
                <a:ext cx="7744664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hangingPunct="1"/>
                <a:r>
                  <a:rPr lang="es-ES" altLang="en-US" sz="2400" dirty="0">
                    <a:solidFill>
                      <a:schemeClr val="tx1"/>
                    </a:solidFill>
                  </a:rPr>
                  <a:t>Una agencia de protección al consumidor desea poner a prueba la afirmación de un fabricante de pinturas según la cual el tiempo medio de secado de su nueva pintura de </a:t>
                </a:r>
                <a:r>
                  <a:rPr lang="es-ES" altLang="en-US" sz="2400" i="1" dirty="0">
                    <a:solidFill>
                      <a:schemeClr val="tx1"/>
                    </a:solidFill>
                  </a:rPr>
                  <a:t>secado rápido</a:t>
                </a:r>
                <a:r>
                  <a:rPr lang="es-ES" altLang="en-US" sz="2400" dirty="0">
                    <a:solidFill>
                      <a:schemeClr val="tx1"/>
                    </a:solidFill>
                  </a:rPr>
                  <a:t> es de no más de </a:t>
                </a:r>
                <a14:m>
                  <m:oMath xmlns:m="http://schemas.openxmlformats.org/officeDocument/2006/math"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 min. 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683642"/>
                <a:ext cx="7744664" cy="1569660"/>
              </a:xfrm>
              <a:prstGeom prst="rect">
                <a:avLst/>
              </a:prstGeom>
              <a:blipFill>
                <a:blip r:embed="rId2"/>
                <a:stretch>
                  <a:fillRect l="-1180" t="-2713" r="-1180" b="-814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2381FF9-3BF6-4E7C-9D8C-B63D23CA78D1}"/>
                  </a:ext>
                </a:extLst>
              </p:cNvPr>
              <p:cNvSpPr/>
              <p:nvPr/>
            </p:nvSpPr>
            <p:spPr>
              <a:xfrm>
                <a:off x="967790" y="3429000"/>
                <a:ext cx="7744664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s-ES" altLang="en-US" sz="2400" dirty="0">
                    <a:solidFill>
                      <a:schemeClr val="tx1"/>
                    </a:solidFill>
                  </a:rPr>
                  <a:t>Para ello se pintan </a:t>
                </a:r>
                <a14:m>
                  <m:oMath xmlns:m="http://schemas.openxmlformats.org/officeDocument/2006/math"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 tableros, con el contenido de </a:t>
                </a:r>
                <a14:m>
                  <m:oMath xmlns:m="http://schemas.openxmlformats.org/officeDocument/2006/math"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 latas distintas y se mide el tiempo medio de secado.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2381FF9-3BF6-4E7C-9D8C-B63D23CA78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790" y="3429000"/>
                <a:ext cx="7744664" cy="830997"/>
              </a:xfrm>
              <a:prstGeom prst="rect">
                <a:avLst/>
              </a:prstGeom>
              <a:blipFill>
                <a:blip r:embed="rId3"/>
                <a:stretch>
                  <a:fillRect l="-1260" t="-5147" r="-236" b="-161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6D0AED3-EAD5-4724-96A1-A53543881EF1}"/>
                  </a:ext>
                </a:extLst>
              </p:cNvPr>
              <p:cNvSpPr/>
              <p:nvPr/>
            </p:nvSpPr>
            <p:spPr>
              <a:xfrm>
                <a:off x="967790" y="4509120"/>
                <a:ext cx="7744664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s-ES" altLang="en-US" sz="2400" dirty="0">
                    <a:solidFill>
                      <a:schemeClr val="tx1"/>
                    </a:solidFill>
                  </a:rPr>
                  <a:t>Por la experiencia previa, se sabe que el desvío en el tiempo de secado es de </a:t>
                </a:r>
                <a14:m>
                  <m:oMath xmlns:m="http://schemas.openxmlformats.org/officeDocument/2006/math"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2.4 </m:t>
                    </m:r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min.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6D0AED3-EAD5-4724-96A1-A53543881E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790" y="4509120"/>
                <a:ext cx="7744664" cy="830997"/>
              </a:xfrm>
              <a:prstGeom prst="rect">
                <a:avLst/>
              </a:prstGeom>
              <a:blipFill>
                <a:blip r:embed="rId4"/>
                <a:stretch>
                  <a:fillRect l="-1260" t="-5147" r="-1181" b="-169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4FF5EFE-2BA9-4B25-BF0F-D06C064DB425}"/>
                  </a:ext>
                </a:extLst>
              </p:cNvPr>
              <p:cNvSpPr/>
              <p:nvPr/>
            </p:nvSpPr>
            <p:spPr>
              <a:xfrm>
                <a:off x="967790" y="5636921"/>
                <a:ext cx="7744664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s-ES" altLang="en-US" sz="2400" dirty="0">
                    <a:solidFill>
                      <a:schemeClr val="tx1"/>
                    </a:solidFill>
                  </a:rPr>
                  <a:t>Fijamos la máxima probabilidad de un error de tipo I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4FF5EFE-2BA9-4B25-BF0F-D06C064DB4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790" y="5636921"/>
                <a:ext cx="7744664" cy="830997"/>
              </a:xfrm>
              <a:prstGeom prst="rect">
                <a:avLst/>
              </a:prstGeom>
              <a:blipFill>
                <a:blip r:embed="rId5"/>
                <a:stretch>
                  <a:fillRect l="-1260" t="-5147" r="-1181" b="-169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03895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/>
              <a:t>Un </a:t>
            </a:r>
            <a:r>
              <a:rPr lang="en-US" sz="3600" dirty="0" err="1"/>
              <a:t>ejemplo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/>
              <p:nvPr/>
            </p:nvSpPr>
            <p:spPr>
              <a:xfrm>
                <a:off x="971600" y="1683642"/>
                <a:ext cx="7744664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hangingPunct="1"/>
                <a:r>
                  <a:rPr lang="es-ES" altLang="en-US" sz="2400" dirty="0">
                    <a:solidFill>
                      <a:schemeClr val="tx1"/>
                    </a:solidFill>
                  </a:rPr>
                  <a:t>Si el valor medio de secado de los </a:t>
                </a:r>
                <a14:m>
                  <m:oMath xmlns:m="http://schemas.openxmlformats.org/officeDocument/2006/math">
                    <m:r>
                      <a:rPr lang="es-E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 tableros da </a:t>
                </a:r>
                <a14:m>
                  <m:oMath xmlns:m="http://schemas.openxmlformats.org/officeDocument/2006/math">
                    <m:r>
                      <a:rPr lang="es-E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 min.: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683642"/>
                <a:ext cx="7744664" cy="830997"/>
              </a:xfrm>
              <a:prstGeom prst="rect">
                <a:avLst/>
              </a:prstGeom>
              <a:blipFill>
                <a:blip r:embed="rId2"/>
                <a:stretch>
                  <a:fillRect l="-1180" t="-5109" r="-236" b="-160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12381FF9-3BF6-4E7C-9D8C-B63D23CA78D1}"/>
              </a:ext>
            </a:extLst>
          </p:cNvPr>
          <p:cNvSpPr/>
          <p:nvPr/>
        </p:nvSpPr>
        <p:spPr>
          <a:xfrm>
            <a:off x="967790" y="4343361"/>
            <a:ext cx="77446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s-ES" altLang="en-US" sz="2400" dirty="0"/>
              <a:t>Debe rechazarse la </a:t>
            </a:r>
            <a:r>
              <a:rPr lang="es-ES" altLang="en-US" sz="2400" dirty="0" err="1"/>
              <a:t>hipótesis</a:t>
            </a:r>
            <a:r>
              <a:rPr lang="es-ES" altLang="en-US" sz="2400" dirty="0"/>
              <a:t> nula.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0324DDA-FB90-4FEB-95ED-B8BC59B37110}"/>
                  </a:ext>
                </a:extLst>
              </p:cNvPr>
              <p:cNvSpPr/>
              <p:nvPr/>
            </p:nvSpPr>
            <p:spPr>
              <a:xfrm>
                <a:off x="1476627" y="2793102"/>
                <a:ext cx="6190734" cy="12813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AR" altLang="en-US" sz="24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s-AR" altLang="en-US" sz="24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alor</m:t>
                      </m:r>
                      <m:r>
                        <m:rPr>
                          <m:nor/>
                        </m:rPr>
                        <a:rPr lang="es-AR" altLang="en-US" sz="24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AR" altLang="en-US" sz="24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l-G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21−20</m:t>
                              </m:r>
                            </m:num>
                            <m:den>
                              <m:f>
                                <m:fPr>
                                  <m:ctrlPr>
                                    <a:rPr lang="es-AR" alt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AR" alt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2.4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s-AR" altLang="en-US" sz="24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36</m:t>
                                      </m:r>
                                    </m:e>
                                  </m:rad>
                                </m:den>
                              </m:f>
                            </m:den>
                          </m:f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=0.00621&lt;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0324DDA-FB90-4FEB-95ED-B8BC59B371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627" y="2793102"/>
                <a:ext cx="6190734" cy="12813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33B3191-A486-49AA-9E4B-7690324ED0D5}"/>
                  </a:ext>
                </a:extLst>
              </p:cNvPr>
              <p:cNvSpPr/>
              <p:nvPr/>
            </p:nvSpPr>
            <p:spPr>
              <a:xfrm>
                <a:off x="976530" y="5174358"/>
                <a:ext cx="7744664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ES" altLang="en-US" sz="2400" dirty="0">
                    <a:solidFill>
                      <a:schemeClr val="tx1"/>
                    </a:solidFill>
                  </a:rPr>
                  <a:t>De hecho, podría habérsela rechazado para todo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s-AR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&gt;0.00621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el valor p.</a:t>
                </a:r>
                <a:endParaRPr lang="es-ES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33B3191-A486-49AA-9E4B-7690324ED0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530" y="5174358"/>
                <a:ext cx="7744664" cy="830997"/>
              </a:xfrm>
              <a:prstGeom prst="rect">
                <a:avLst/>
              </a:prstGeom>
              <a:blipFill>
                <a:blip r:embed="rId4"/>
                <a:stretch>
                  <a:fillRect l="-1180" t="-5147" b="-169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805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Regla</a:t>
            </a:r>
            <a:r>
              <a:rPr lang="en-US" sz="3600" dirty="0"/>
              <a:t> de </a:t>
            </a:r>
            <a:r>
              <a:rPr lang="en-US" sz="3600" dirty="0" err="1"/>
              <a:t>decisión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/>
              <p:nvPr/>
            </p:nvSpPr>
            <p:spPr>
              <a:xfrm>
                <a:off x="431534" y="1827258"/>
                <a:ext cx="828092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eaLnBrk="1" hangingPunct="1"/>
                <a14:m>
                  <m:oMath xmlns:m="http://schemas.openxmlformats.org/officeDocument/2006/math"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m:rPr>
                        <m:nor/>
                      </m:rPr>
                      <a:rPr lang="es-ES" altLang="en-US" sz="24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s-E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s-AR" altLang="en-US" sz="2400" dirty="0">
                    <a:solidFill>
                      <a:schemeClr val="tx1"/>
                    </a:solidFill>
                  </a:rPr>
                  <a:t> es conocido</a:t>
                </a:r>
                <a:r>
                  <a:rPr lang="es-ES" altLang="en-US" sz="2400" dirty="0">
                    <a:solidFill>
                      <a:schemeClr val="tx1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34" y="1827258"/>
                <a:ext cx="8280920" cy="461665"/>
              </a:xfrm>
              <a:prstGeom prst="rect">
                <a:avLst/>
              </a:prstGeom>
              <a:blipFill>
                <a:blip r:embed="rId2"/>
                <a:stretch>
                  <a:fillRect t="-9333" b="-3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541A53-F421-4942-852C-009DBE489110}"/>
                  </a:ext>
                </a:extLst>
              </p:cNvPr>
              <p:cNvSpPr/>
              <p:nvPr/>
            </p:nvSpPr>
            <p:spPr>
              <a:xfrm>
                <a:off x="3717850" y="3198167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541A53-F421-4942-852C-009DBE4891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850" y="3198167"/>
                <a:ext cx="1708288" cy="461665"/>
              </a:xfrm>
              <a:prstGeom prst="rect">
                <a:avLst/>
              </a:prstGeom>
              <a:blipFill>
                <a:blip r:embed="rId3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AC33B5D-97BC-4A7E-9BC4-8C56D122D407}"/>
                  </a:ext>
                </a:extLst>
              </p:cNvPr>
              <p:cNvSpPr/>
              <p:nvPr/>
            </p:nvSpPr>
            <p:spPr>
              <a:xfrm>
                <a:off x="3703817" y="2551838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AC33B5D-97BC-4A7E-9BC4-8C56D122D4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817" y="2551838"/>
                <a:ext cx="1708288" cy="461665"/>
              </a:xfrm>
              <a:prstGeom prst="rect">
                <a:avLst/>
              </a:prstGeom>
              <a:blipFill>
                <a:blip r:embed="rId4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320E476-E4AA-46C8-AE6A-4503B9E9645F}"/>
                  </a:ext>
                </a:extLst>
              </p:cNvPr>
              <p:cNvSpPr/>
              <p:nvPr/>
            </p:nvSpPr>
            <p:spPr>
              <a:xfrm>
                <a:off x="971599" y="3861048"/>
                <a:ext cx="7726821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hangingPunct="1"/>
                <a:r>
                  <a:rPr lang="es-AR" altLang="en-US" sz="2400" dirty="0">
                    <a:solidFill>
                      <a:schemeClr val="tx1"/>
                    </a:solidFill>
                  </a:rPr>
                  <a:t>Obvio, rechazaremos la </a:t>
                </a:r>
                <a:r>
                  <a:rPr lang="es-AR" altLang="en-US" sz="2400" dirty="0" err="1">
                    <a:solidFill>
                      <a:schemeClr val="tx1"/>
                    </a:solidFill>
                  </a:rPr>
                  <a:t>hipótesis</a:t>
                </a:r>
                <a:r>
                  <a:rPr lang="es-AR" altLang="en-US" sz="2400" dirty="0">
                    <a:solidFill>
                      <a:schemeClr val="tx1"/>
                    </a:solidFill>
                  </a:rPr>
                  <a:t> nula si</a:t>
                </a:r>
                <a14:m>
                  <m:oMath xmlns:m="http://schemas.openxmlformats.org/officeDocument/2006/math">
                    <m:r>
                      <a:rPr lang="es-AR" alt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s-AR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AR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AR" altLang="en-US" sz="2400" dirty="0">
                    <a:solidFill>
                      <a:schemeClr val="tx1"/>
                    </a:solidFill>
                  </a:rPr>
                  <a:t> da demasiado chica: ¿qué tan chica?</a:t>
                </a:r>
                <a:endParaRPr lang="es-ES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320E476-E4AA-46C8-AE6A-4503B9E964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99" y="3861048"/>
                <a:ext cx="7726821" cy="830997"/>
              </a:xfrm>
              <a:prstGeom prst="rect">
                <a:avLst/>
              </a:prstGeom>
              <a:blipFill>
                <a:blip r:embed="rId5"/>
                <a:stretch>
                  <a:fillRect l="-1183" t="-5109" r="-1262" b="-160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6DC98801-C579-427E-8F9C-99993A153FA6}"/>
              </a:ext>
            </a:extLst>
          </p:cNvPr>
          <p:cNvGrpSpPr/>
          <p:nvPr/>
        </p:nvGrpSpPr>
        <p:grpSpPr>
          <a:xfrm>
            <a:off x="630791" y="4653136"/>
            <a:ext cx="8067630" cy="1656545"/>
            <a:chOff x="678107" y="1522672"/>
            <a:chExt cx="8067630" cy="165654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4DA2A5E-4338-4453-B012-1B19668FAD23}"/>
                </a:ext>
              </a:extLst>
            </p:cNvPr>
            <p:cNvCxnSpPr>
              <a:cxnSpLocks/>
            </p:cNvCxnSpPr>
            <p:nvPr/>
          </p:nvCxnSpPr>
          <p:spPr>
            <a:xfrm>
              <a:off x="678107" y="2569401"/>
              <a:ext cx="7854339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947A33-F48C-414C-B907-91F4DFC8669A}"/>
                </a:ext>
              </a:extLst>
            </p:cNvPr>
            <p:cNvCxnSpPr/>
            <p:nvPr/>
          </p:nvCxnSpPr>
          <p:spPr>
            <a:xfrm>
              <a:off x="4572006" y="2391994"/>
              <a:ext cx="0" cy="36004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315897-7738-4523-8BAE-B97D3FF94A54}"/>
                    </a:ext>
                  </a:extLst>
                </p:cNvPr>
                <p:cNvSpPr/>
                <p:nvPr/>
              </p:nvSpPr>
              <p:spPr>
                <a:xfrm>
                  <a:off x="8128389" y="2717552"/>
                  <a:ext cx="61734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s-AR" sz="2400" i="1">
                                    <a:solidFill>
                                      <a:srgbClr val="402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lang="es-AR" sz="2400" i="1">
                                    <a:solidFill>
                                      <a:srgbClr val="402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s-AR" sz="2400" i="1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315897-7738-4523-8BAE-B97D3FF94A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8389" y="2717552"/>
                  <a:ext cx="617348" cy="461665"/>
                </a:xfrm>
                <a:prstGeom prst="rect">
                  <a:avLst/>
                </a:prstGeom>
                <a:blipFill>
                  <a:blip r:embed="rId6"/>
                  <a:stretch>
                    <a:fillRect r="-7921" b="-1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C6E768-9A69-48B2-93BD-EEB1E6D98A8C}"/>
                </a:ext>
              </a:extLst>
            </p:cNvPr>
            <p:cNvCxnSpPr/>
            <p:nvPr/>
          </p:nvCxnSpPr>
          <p:spPr>
            <a:xfrm>
              <a:off x="2307969" y="2389381"/>
              <a:ext cx="0" cy="36004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D663A57-D644-45BF-A4FE-CAA485DBFDDF}"/>
                </a:ext>
              </a:extLst>
            </p:cNvPr>
            <p:cNvCxnSpPr/>
            <p:nvPr/>
          </p:nvCxnSpPr>
          <p:spPr>
            <a:xfrm>
              <a:off x="2267750" y="2069480"/>
              <a:ext cx="2304256" cy="0"/>
            </a:xfrm>
            <a:prstGeom prst="straightConnector1">
              <a:avLst/>
            </a:prstGeom>
            <a:ln w="38100">
              <a:headEnd type="triangle" w="med" len="med"/>
              <a:tailEnd type="triangl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96872A3-BE59-4067-8955-6B5927BBD805}"/>
                    </a:ext>
                  </a:extLst>
                </p:cNvPr>
                <p:cNvSpPr/>
                <p:nvPr/>
              </p:nvSpPr>
              <p:spPr>
                <a:xfrm>
                  <a:off x="3193694" y="1522672"/>
                  <a:ext cx="45236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i="1" smtClean="0">
                            <a:solidFill>
                              <a:srgbClr val="402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∆</m:t>
                        </m:r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96872A3-BE59-4067-8955-6B5927BBD8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3694" y="1522672"/>
                  <a:ext cx="452367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CD2FDFE-0E16-4902-B2A4-BF2E71D18A76}"/>
                    </a:ext>
                  </a:extLst>
                </p:cNvPr>
                <p:cNvSpPr/>
                <p:nvPr/>
              </p:nvSpPr>
              <p:spPr>
                <a:xfrm>
                  <a:off x="4310636" y="2717552"/>
                  <a:ext cx="58054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𝜇</m:t>
                            </m:r>
                          </m:e>
                          <m:sub>
                            <m:r>
                              <a:rPr lang="es-AR" sz="2400" b="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CD2FDFE-0E16-4902-B2A4-BF2E71D18A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0636" y="2717552"/>
                  <a:ext cx="580544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9AFB905-85FC-4A2E-9A5F-AEF1C13B664A}"/>
                  </a:ext>
                </a:extLst>
              </p:cNvPr>
              <p:cNvSpPr/>
              <p:nvPr/>
            </p:nvSpPr>
            <p:spPr>
              <a:xfrm>
                <a:off x="842969" y="5804067"/>
                <a:ext cx="2860848" cy="7914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solidFill>
                                <a:srgbClr val="402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AR" sz="2400" i="1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s-AR" sz="2400" i="1">
                              <a:solidFill>
                                <a:srgbClr val="402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AR" altLang="en-US" sz="24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2400" i="1">
                              <a:solidFill>
                                <a:srgbClr val="402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solidFill>
                                <a:srgbClr val="402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sz="2400" i="1">
                              <a:solidFill>
                                <a:srgbClr val="402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sz="2400" b="0" i="1" smtClean="0">
                          <a:solidFill>
                            <a:srgbClr val="402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solidFill>
                                <a:srgbClr val="402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solidFill>
                                <a:srgbClr val="402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AR" sz="2400" b="0" i="1" smtClean="0">
                              <a:solidFill>
                                <a:srgbClr val="402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alt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b>
                      </m:sSub>
                      <m:f>
                        <m:fPr>
                          <m:ctrlPr>
                            <a:rPr lang="es-AR" sz="2400" i="1" smtClean="0">
                              <a:solidFill>
                                <a:srgbClr val="402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alt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AR" alt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alt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9AFB905-85FC-4A2E-9A5F-AEF1C13B66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969" y="5804067"/>
                <a:ext cx="2860848" cy="79143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6028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12" grpId="0"/>
      <p:bldP spid="13" grpId="0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Regla</a:t>
            </a:r>
            <a:r>
              <a:rPr lang="en-US" sz="3600" dirty="0"/>
              <a:t> de </a:t>
            </a:r>
            <a:r>
              <a:rPr lang="en-US" sz="3600" dirty="0" err="1"/>
              <a:t>decisión</a:t>
            </a:r>
            <a:endParaRPr 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8EC67E-C974-4934-90FA-85ADD21BE5CE}"/>
              </a:ext>
            </a:extLst>
          </p:cNvPr>
          <p:cNvSpPr/>
          <p:nvPr/>
        </p:nvSpPr>
        <p:spPr>
          <a:xfrm>
            <a:off x="935590" y="1827258"/>
            <a:ext cx="82809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s-ES" altLang="en-US" sz="2400" dirty="0"/>
              <a:t>Si la </a:t>
            </a:r>
            <a:r>
              <a:rPr lang="es-ES" altLang="en-US" sz="2400" dirty="0" err="1"/>
              <a:t>hipótesis</a:t>
            </a:r>
            <a:r>
              <a:rPr lang="es-ES" altLang="en-US" sz="2400" dirty="0"/>
              <a:t> nula fuera falsa: ¿qué error estaríamos cometiendo?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B67174-5302-4A54-A9A3-B1C41DEAB3C5}"/>
              </a:ext>
            </a:extLst>
          </p:cNvPr>
          <p:cNvSpPr/>
          <p:nvPr/>
        </p:nvSpPr>
        <p:spPr>
          <a:xfrm>
            <a:off x="935590" y="2797322"/>
            <a:ext cx="8280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s-ES" altLang="en-US" sz="2400" dirty="0"/>
              <a:t>Va a depender de “qué tan falsa” sea…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7502A3A-1372-4DC2-A0D9-08430A990323}"/>
                  </a:ext>
                </a:extLst>
              </p:cNvPr>
              <p:cNvSpPr/>
              <p:nvPr/>
            </p:nvSpPr>
            <p:spPr>
              <a:xfrm>
                <a:off x="2694533" y="3382835"/>
                <a:ext cx="5299015" cy="922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l-G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7502A3A-1372-4DC2-A0D9-08430A9903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533" y="3382835"/>
                <a:ext cx="5299015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BFB8BF1-F643-4CFC-8EE6-ADDCEEC90937}"/>
                  </a:ext>
                </a:extLst>
              </p:cNvPr>
              <p:cNvSpPr/>
              <p:nvPr/>
            </p:nvSpPr>
            <p:spPr>
              <a:xfrm>
                <a:off x="923009" y="4874699"/>
                <a:ext cx="5017143" cy="922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l-G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m:rPr>
                          <m:nor/>
                        </m:rPr>
                        <a:rPr lang="es-AR" altLang="en-US" sz="2400" dirty="0">
                          <a:solidFill>
                            <a:schemeClr val="tx1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BFB8BF1-F643-4CFC-8EE6-ADDCEEC909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009" y="4874699"/>
                <a:ext cx="5017143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E0638A7F-C6ED-4A4B-AD5D-270B56CA8E0B}"/>
              </a:ext>
            </a:extLst>
          </p:cNvPr>
          <p:cNvSpPr/>
          <p:nvPr/>
        </p:nvSpPr>
        <p:spPr>
          <a:xfrm>
            <a:off x="971600" y="4305011"/>
            <a:ext cx="8280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s-ES" altLang="en-US" sz="2400" dirty="0"/>
              <a:t>Algunos valores conocidos: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6044D05-3D64-4E55-94F6-3AE91BA8804E}"/>
                  </a:ext>
                </a:extLst>
              </p:cNvPr>
              <p:cNvSpPr/>
              <p:nvPr/>
            </p:nvSpPr>
            <p:spPr>
              <a:xfrm>
                <a:off x="6647035" y="5505244"/>
                <a:ext cx="2228046" cy="6149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AR" alt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AR" altLang="en-US" sz="24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s-AR" alt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s-AR" alt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alt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lim>
                          </m:limLow>
                        </m:fName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</m:e>
                      </m:func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6044D05-3D64-4E55-94F6-3AE91BA880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035" y="5505244"/>
                <a:ext cx="2228046" cy="614912"/>
              </a:xfrm>
              <a:prstGeom prst="rect">
                <a:avLst/>
              </a:prstGeom>
              <a:blipFill>
                <a:blip r:embed="rId4"/>
                <a:stretch>
                  <a:fillRect b="-49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69BBF59-D0D9-45E4-9067-AE0AA8842A03}"/>
                  </a:ext>
                </a:extLst>
              </p:cNvPr>
              <p:cNvSpPr/>
              <p:nvPr/>
            </p:nvSpPr>
            <p:spPr>
              <a:xfrm>
                <a:off x="923900" y="5792636"/>
                <a:ext cx="4354141" cy="922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l-G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69BBF59-D0D9-45E4-9067-AE0AA8842A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00" y="5792636"/>
                <a:ext cx="4354141" cy="9221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8441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22" grpId="0"/>
      <p:bldP spid="26" grpId="0"/>
      <p:bldP spid="27" grpId="0"/>
      <p:bldP spid="28" grpId="0"/>
      <p:bldP spid="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Regla</a:t>
            </a:r>
            <a:r>
              <a:rPr lang="en-US" sz="3600" dirty="0"/>
              <a:t> de </a:t>
            </a:r>
            <a:r>
              <a:rPr lang="en-US" sz="3600" dirty="0" err="1"/>
              <a:t>decisión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FF91F3-0FBC-4D88-9BE2-170851336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348" y="1556792"/>
            <a:ext cx="7712108" cy="505402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CCD932-A473-4131-B414-E48B98BE0817}"/>
              </a:ext>
            </a:extLst>
          </p:cNvPr>
          <p:cNvCxnSpPr/>
          <p:nvPr/>
        </p:nvCxnSpPr>
        <p:spPr>
          <a:xfrm>
            <a:off x="6160106" y="4113076"/>
            <a:ext cx="0" cy="2088232"/>
          </a:xfrm>
          <a:prstGeom prst="line">
            <a:avLst/>
          </a:prstGeom>
          <a:ln w="76200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01865AC-3D6E-474A-BB45-A8BB51629BD3}"/>
                  </a:ext>
                </a:extLst>
              </p:cNvPr>
              <p:cNvSpPr/>
              <p:nvPr/>
            </p:nvSpPr>
            <p:spPr>
              <a:xfrm>
                <a:off x="5956337" y="6125617"/>
                <a:ext cx="56380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A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s-AR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01865AC-3D6E-474A-BB45-A8BB51629B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337" y="6125617"/>
                <a:ext cx="563809" cy="461665"/>
              </a:xfrm>
              <a:prstGeom prst="rect">
                <a:avLst/>
              </a:prstGeom>
              <a:blipFill>
                <a:blip r:embed="rId3"/>
                <a:stretch>
                  <a:fillRect r="-2473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855B069-2FC6-4342-81C3-E7A9F9D206A9}"/>
                  </a:ext>
                </a:extLst>
              </p:cNvPr>
              <p:cNvSpPr/>
              <p:nvPr/>
            </p:nvSpPr>
            <p:spPr>
              <a:xfrm>
                <a:off x="5956337" y="2169085"/>
                <a:ext cx="130151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m:rPr>
                          <m:nor/>
                        </m:rPr>
                        <a:rPr lang="es-AR" altLang="en-US" sz="2400" dirty="0">
                          <a:solidFill>
                            <a:srgbClr val="00B050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855B069-2FC6-4342-81C3-E7A9F9D206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337" y="2169085"/>
                <a:ext cx="130151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9781A1-D40F-46DB-BC1D-64AD70393EBE}"/>
              </a:ext>
            </a:extLst>
          </p:cNvPr>
          <p:cNvCxnSpPr>
            <a:cxnSpLocks/>
          </p:cNvCxnSpPr>
          <p:nvPr/>
        </p:nvCxnSpPr>
        <p:spPr>
          <a:xfrm flipV="1">
            <a:off x="7456250" y="2403549"/>
            <a:ext cx="792088" cy="2594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411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AR" sz="3600" dirty="0"/>
              <a:t>Valor p</a:t>
            </a:r>
            <a:endParaRPr lang="en-US" sz="3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5E0D61-F88B-42DF-B0D9-754A000CED4B}"/>
              </a:ext>
            </a:extLst>
          </p:cNvPr>
          <p:cNvSpPr/>
          <p:nvPr/>
        </p:nvSpPr>
        <p:spPr>
          <a:xfrm>
            <a:off x="971600" y="1772816"/>
            <a:ext cx="76328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s-AR" altLang="en-US" sz="2400" dirty="0"/>
              <a:t>El valor p se define como la probabilidad de que, si la </a:t>
            </a:r>
            <a:r>
              <a:rPr lang="es-AR" altLang="en-US" sz="2400" dirty="0" err="1"/>
              <a:t>hipótesis</a:t>
            </a:r>
            <a:r>
              <a:rPr lang="es-AR" altLang="en-US" sz="2400" dirty="0"/>
              <a:t> nula es verdadera, el estadístico de prueba dé tan mal o peor de lo que dio.</a:t>
            </a:r>
            <a:endParaRPr lang="es-ES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7A9A449-BFED-4D63-824D-96A5C2C5CBC0}"/>
                  </a:ext>
                </a:extLst>
              </p:cNvPr>
              <p:cNvSpPr/>
              <p:nvPr/>
            </p:nvSpPr>
            <p:spPr>
              <a:xfrm>
                <a:off x="1197416" y="3670530"/>
                <a:ext cx="6749155" cy="922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𝑜𝑏𝑠</m:t>
                              </m:r>
                            </m:sub>
                          </m:sSub>
                        </m:e>
                      </m:d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𝑜𝑏𝑠</m:t>
                              </m:r>
                            </m:sub>
                          </m:sSub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𝑜𝑏𝑠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7A9A449-BFED-4D63-824D-96A5C2C5CB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416" y="3670530"/>
                <a:ext cx="6749155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059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Regla</a:t>
            </a:r>
            <a:r>
              <a:rPr lang="en-US" sz="3600" dirty="0"/>
              <a:t> de </a:t>
            </a:r>
            <a:r>
              <a:rPr lang="en-US" sz="3600" dirty="0" err="1"/>
              <a:t>decisión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/>
              <p:nvPr/>
            </p:nvSpPr>
            <p:spPr>
              <a:xfrm>
                <a:off x="431534" y="1827258"/>
                <a:ext cx="828092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eaLnBrk="1" hangingPunct="1"/>
                <a14:m>
                  <m:oMath xmlns:m="http://schemas.openxmlformats.org/officeDocument/2006/math"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m:rPr>
                        <m:nor/>
                      </m:rPr>
                      <a:rPr lang="es-ES" altLang="en-US" sz="24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s-E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s-AR" altLang="en-US" sz="2400" dirty="0">
                    <a:solidFill>
                      <a:schemeClr val="tx1"/>
                    </a:solidFill>
                  </a:rPr>
                  <a:t> es conocido</a:t>
                </a:r>
                <a:r>
                  <a:rPr lang="es-ES" altLang="en-US" sz="2400" dirty="0">
                    <a:solidFill>
                      <a:schemeClr val="tx1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34" y="1827258"/>
                <a:ext cx="8280920" cy="461665"/>
              </a:xfrm>
              <a:prstGeom prst="rect">
                <a:avLst/>
              </a:prstGeom>
              <a:blipFill>
                <a:blip r:embed="rId3"/>
                <a:stretch>
                  <a:fillRect t="-9333" b="-3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541A53-F421-4942-852C-009DBE489110}"/>
                  </a:ext>
                </a:extLst>
              </p:cNvPr>
              <p:cNvSpPr/>
              <p:nvPr/>
            </p:nvSpPr>
            <p:spPr>
              <a:xfrm>
                <a:off x="3717850" y="3198167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541A53-F421-4942-852C-009DBE4891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850" y="3198167"/>
                <a:ext cx="1708288" cy="461665"/>
              </a:xfrm>
              <a:prstGeom prst="rect">
                <a:avLst/>
              </a:prstGeom>
              <a:blipFill>
                <a:blip r:embed="rId4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AC33B5D-97BC-4A7E-9BC4-8C56D122D407}"/>
                  </a:ext>
                </a:extLst>
              </p:cNvPr>
              <p:cNvSpPr/>
              <p:nvPr/>
            </p:nvSpPr>
            <p:spPr>
              <a:xfrm>
                <a:off x="3703817" y="2551838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AC33B5D-97BC-4A7E-9BC4-8C56D122D4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817" y="2551838"/>
                <a:ext cx="1708288" cy="461665"/>
              </a:xfrm>
              <a:prstGeom prst="rect">
                <a:avLst/>
              </a:prstGeom>
              <a:blipFill>
                <a:blip r:embed="rId5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320E476-E4AA-46C8-AE6A-4503B9E9645F}"/>
                  </a:ext>
                </a:extLst>
              </p:cNvPr>
              <p:cNvSpPr/>
              <p:nvPr/>
            </p:nvSpPr>
            <p:spPr>
              <a:xfrm>
                <a:off x="971599" y="3861048"/>
                <a:ext cx="7726821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hangingPunct="1"/>
                <a:r>
                  <a:rPr lang="es-AR" altLang="en-US" sz="2400" dirty="0">
                    <a:solidFill>
                      <a:schemeClr val="tx1"/>
                    </a:solidFill>
                  </a:rPr>
                  <a:t>Obvio, rechazaremos la </a:t>
                </a:r>
                <a:r>
                  <a:rPr lang="es-AR" altLang="en-US" sz="2400" dirty="0" err="1">
                    <a:solidFill>
                      <a:schemeClr val="tx1"/>
                    </a:solidFill>
                  </a:rPr>
                  <a:t>hipótesis</a:t>
                </a:r>
                <a:r>
                  <a:rPr lang="es-AR" altLang="en-US" sz="2400" dirty="0">
                    <a:solidFill>
                      <a:schemeClr val="tx1"/>
                    </a:solidFill>
                  </a:rPr>
                  <a:t> nula si</a:t>
                </a:r>
                <a14:m>
                  <m:oMath xmlns:m="http://schemas.openxmlformats.org/officeDocument/2006/math">
                    <m:r>
                      <a:rPr lang="es-AR" alt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s-AR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AR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AR" altLang="en-US" sz="2400" dirty="0">
                    <a:solidFill>
                      <a:schemeClr val="tx1"/>
                    </a:solidFill>
                  </a:rPr>
                  <a:t> da demasiado distinta: ¿qué tan distinta?</a:t>
                </a:r>
                <a:endParaRPr lang="es-ES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320E476-E4AA-46C8-AE6A-4503B9E964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99" y="3861048"/>
                <a:ext cx="7726821" cy="830997"/>
              </a:xfrm>
              <a:prstGeom prst="rect">
                <a:avLst/>
              </a:prstGeom>
              <a:blipFill>
                <a:blip r:embed="rId6"/>
                <a:stretch>
                  <a:fillRect l="-1183" t="-5109" r="-1262" b="-160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6DC98801-C579-427E-8F9C-99993A153FA6}"/>
              </a:ext>
            </a:extLst>
          </p:cNvPr>
          <p:cNvGrpSpPr/>
          <p:nvPr/>
        </p:nvGrpSpPr>
        <p:grpSpPr>
          <a:xfrm>
            <a:off x="824850" y="4653136"/>
            <a:ext cx="8067630" cy="1656545"/>
            <a:chOff x="678107" y="1522672"/>
            <a:chExt cx="8067630" cy="165654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4DA2A5E-4338-4453-B012-1B19668FAD23}"/>
                </a:ext>
              </a:extLst>
            </p:cNvPr>
            <p:cNvCxnSpPr>
              <a:cxnSpLocks/>
            </p:cNvCxnSpPr>
            <p:nvPr/>
          </p:nvCxnSpPr>
          <p:spPr>
            <a:xfrm>
              <a:off x="678107" y="2569401"/>
              <a:ext cx="7854339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947A33-F48C-414C-B907-91F4DFC8669A}"/>
                </a:ext>
              </a:extLst>
            </p:cNvPr>
            <p:cNvCxnSpPr/>
            <p:nvPr/>
          </p:nvCxnSpPr>
          <p:spPr>
            <a:xfrm>
              <a:off x="4572006" y="2391994"/>
              <a:ext cx="0" cy="36004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315897-7738-4523-8BAE-B97D3FF94A54}"/>
                    </a:ext>
                  </a:extLst>
                </p:cNvPr>
                <p:cNvSpPr/>
                <p:nvPr/>
              </p:nvSpPr>
              <p:spPr>
                <a:xfrm>
                  <a:off x="8128389" y="2717552"/>
                  <a:ext cx="61734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s-A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lang="es-A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s-A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s-A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315897-7738-4523-8BAE-B97D3FF94A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8389" y="2717552"/>
                  <a:ext cx="617348" cy="461665"/>
                </a:xfrm>
                <a:prstGeom prst="rect">
                  <a:avLst/>
                </a:prstGeom>
                <a:blipFill>
                  <a:blip r:embed="rId7"/>
                  <a:stretch>
                    <a:fillRect r="-7921" b="-1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C6E768-9A69-48B2-93BD-EEB1E6D98A8C}"/>
                </a:ext>
              </a:extLst>
            </p:cNvPr>
            <p:cNvCxnSpPr/>
            <p:nvPr/>
          </p:nvCxnSpPr>
          <p:spPr>
            <a:xfrm>
              <a:off x="2307969" y="2389381"/>
              <a:ext cx="0" cy="36004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D663A57-D644-45BF-A4FE-CAA485DBFDDF}"/>
                </a:ext>
              </a:extLst>
            </p:cNvPr>
            <p:cNvCxnSpPr/>
            <p:nvPr/>
          </p:nvCxnSpPr>
          <p:spPr>
            <a:xfrm>
              <a:off x="2267750" y="2069480"/>
              <a:ext cx="2304256" cy="0"/>
            </a:xfrm>
            <a:prstGeom prst="straightConnector1">
              <a:avLst/>
            </a:prstGeom>
            <a:ln w="38100">
              <a:headEnd type="triangle" w="med" len="med"/>
              <a:tailEnd type="triangl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96872A3-BE59-4067-8955-6B5927BBD805}"/>
                    </a:ext>
                  </a:extLst>
                </p:cNvPr>
                <p:cNvSpPr/>
                <p:nvPr/>
              </p:nvSpPr>
              <p:spPr>
                <a:xfrm>
                  <a:off x="3193694" y="1522672"/>
                  <a:ext cx="45236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∆</m:t>
                        </m:r>
                      </m:oMath>
                    </m:oMathPara>
                  </a14:m>
                  <a:endParaRPr lang="es-A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96872A3-BE59-4067-8955-6B5927BBD8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3694" y="1522672"/>
                  <a:ext cx="452367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CD2FDFE-0E16-4902-B2A4-BF2E71D18A76}"/>
                    </a:ext>
                  </a:extLst>
                </p:cNvPr>
                <p:cNvSpPr/>
                <p:nvPr/>
              </p:nvSpPr>
              <p:spPr>
                <a:xfrm>
                  <a:off x="4310636" y="2717552"/>
                  <a:ext cx="58054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s-AR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𝜇</m:t>
                            </m:r>
                          </m:e>
                          <m:sub>
                            <m:r>
                              <a:rPr lang="es-A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A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CD2FDFE-0E16-4902-B2A4-BF2E71D18A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0636" y="2717552"/>
                  <a:ext cx="580544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9BA51EA-55C7-483E-94C7-DFC0EB3355F6}"/>
                </a:ext>
              </a:extLst>
            </p:cNvPr>
            <p:cNvCxnSpPr/>
            <p:nvPr/>
          </p:nvCxnSpPr>
          <p:spPr>
            <a:xfrm>
              <a:off x="4576437" y="2069480"/>
              <a:ext cx="2304256" cy="0"/>
            </a:xfrm>
            <a:prstGeom prst="straightConnector1">
              <a:avLst/>
            </a:prstGeom>
            <a:ln w="38100">
              <a:headEnd type="triangle" w="med" len="med"/>
              <a:tailEnd type="triangl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8DE3E2-B1C3-4A63-926C-19D1A4089F38}"/>
                </a:ext>
              </a:extLst>
            </p:cNvPr>
            <p:cNvCxnSpPr/>
            <p:nvPr/>
          </p:nvCxnSpPr>
          <p:spPr>
            <a:xfrm>
              <a:off x="6851564" y="2391994"/>
              <a:ext cx="0" cy="36004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C6FED23A-327D-4152-99FD-D7B07E658572}"/>
                    </a:ext>
                  </a:extLst>
                </p:cNvPr>
                <p:cNvSpPr/>
                <p:nvPr/>
              </p:nvSpPr>
              <p:spPr>
                <a:xfrm>
                  <a:off x="5460134" y="1535807"/>
                  <a:ext cx="45236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∆</m:t>
                        </m:r>
                      </m:oMath>
                    </m:oMathPara>
                  </a14:m>
                  <a:endParaRPr lang="es-A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C6FED23A-327D-4152-99FD-D7B07E6585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0134" y="1535807"/>
                  <a:ext cx="452367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9AFB905-85FC-4A2E-9A5F-AEF1C13B664A}"/>
                  </a:ext>
                </a:extLst>
              </p:cNvPr>
              <p:cNvSpPr/>
              <p:nvPr/>
            </p:nvSpPr>
            <p:spPr>
              <a:xfrm>
                <a:off x="1037028" y="5804067"/>
                <a:ext cx="3273397" cy="7914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s-AR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s-A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A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  <m:f>
                        <m:fPr>
                          <m:ctrlPr>
                            <a:rPr lang="es-A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9AFB905-85FC-4A2E-9A5F-AEF1C13B66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028" y="5804067"/>
                <a:ext cx="3273397" cy="79143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81C9BCC-4788-4D6A-A2A2-4C9CB344FB8F}"/>
                  </a:ext>
                </a:extLst>
              </p:cNvPr>
              <p:cNvSpPr/>
              <p:nvPr/>
            </p:nvSpPr>
            <p:spPr>
              <a:xfrm>
                <a:off x="5127074" y="5848016"/>
                <a:ext cx="3273397" cy="7914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s-AR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s-A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A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  <m:f>
                        <m:fPr>
                          <m:ctrlPr>
                            <a:rPr lang="es-A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81C9BCC-4788-4D6A-A2A2-4C9CB344FB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7074" y="5848016"/>
                <a:ext cx="3273397" cy="79143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006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12" grpId="0"/>
      <p:bldP spid="13" grpId="0"/>
      <p:bldP spid="18" grpId="0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Regla</a:t>
            </a:r>
            <a:r>
              <a:rPr lang="en-US" sz="3600" dirty="0"/>
              <a:t> de </a:t>
            </a:r>
            <a:r>
              <a:rPr lang="en-US" sz="3600" dirty="0" err="1"/>
              <a:t>decisión</a:t>
            </a:r>
            <a:endParaRPr 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8EC67E-C974-4934-90FA-85ADD21BE5CE}"/>
              </a:ext>
            </a:extLst>
          </p:cNvPr>
          <p:cNvSpPr/>
          <p:nvPr/>
        </p:nvSpPr>
        <p:spPr>
          <a:xfrm>
            <a:off x="971600" y="1827258"/>
            <a:ext cx="77408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s-ES" altLang="en-US" sz="2400" dirty="0"/>
              <a:t>Si la </a:t>
            </a:r>
            <a:r>
              <a:rPr lang="es-ES" altLang="en-US" sz="2400" dirty="0" err="1"/>
              <a:t>hipótesis</a:t>
            </a:r>
            <a:r>
              <a:rPr lang="es-ES" altLang="en-US" sz="2400" dirty="0"/>
              <a:t> nula fuera falsa: ¿qué error estaríamos cometiendo?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B67174-5302-4A54-A9A3-B1C41DEAB3C5}"/>
              </a:ext>
            </a:extLst>
          </p:cNvPr>
          <p:cNvSpPr/>
          <p:nvPr/>
        </p:nvSpPr>
        <p:spPr>
          <a:xfrm>
            <a:off x="971600" y="2797322"/>
            <a:ext cx="77408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s-ES" altLang="en-US" sz="2400" dirty="0"/>
              <a:t>Va a depender de “qué tan falsa” sea…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7502A3A-1372-4DC2-A0D9-08430A990323}"/>
                  </a:ext>
                </a:extLst>
              </p:cNvPr>
              <p:cNvSpPr/>
              <p:nvPr/>
            </p:nvSpPr>
            <p:spPr>
              <a:xfrm>
                <a:off x="632907" y="3367010"/>
                <a:ext cx="8244922" cy="11991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sSub>
                                    <m:sSubPr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sSub>
                                    <m:sSubPr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s-AR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7502A3A-1372-4DC2-A0D9-08430A9903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07" y="3367010"/>
                <a:ext cx="8244922" cy="11991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BFB8BF1-F643-4CFC-8EE6-ADDCEEC90937}"/>
                  </a:ext>
                </a:extLst>
              </p:cNvPr>
              <p:cNvSpPr/>
              <p:nvPr/>
            </p:nvSpPr>
            <p:spPr>
              <a:xfrm>
                <a:off x="964737" y="4813851"/>
                <a:ext cx="5017143" cy="922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l-G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m:rPr>
                          <m:nor/>
                        </m:rPr>
                        <a:rPr lang="es-AR" altLang="en-US" sz="2400" dirty="0">
                          <a:solidFill>
                            <a:schemeClr val="tx1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BFB8BF1-F643-4CFC-8EE6-ADDCEEC909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737" y="4813851"/>
                <a:ext cx="5017143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E0638A7F-C6ED-4A4B-AD5D-270B56CA8E0B}"/>
              </a:ext>
            </a:extLst>
          </p:cNvPr>
          <p:cNvSpPr/>
          <p:nvPr/>
        </p:nvSpPr>
        <p:spPr>
          <a:xfrm>
            <a:off x="971600" y="4305011"/>
            <a:ext cx="7776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s-ES" altLang="en-US" sz="2400" dirty="0"/>
              <a:t>Algunos valores conocidos: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6044D05-3D64-4E55-94F6-3AE91BA8804E}"/>
                  </a:ext>
                </a:extLst>
              </p:cNvPr>
              <p:cNvSpPr/>
              <p:nvPr/>
            </p:nvSpPr>
            <p:spPr>
              <a:xfrm>
                <a:off x="6647035" y="5505244"/>
                <a:ext cx="2228046" cy="6149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AR" alt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AR" altLang="en-US" sz="24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s-AR" alt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s-AR" alt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es-AR" alt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lim>
                          </m:limLow>
                        </m:fName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</m:e>
                      </m:func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6044D05-3D64-4E55-94F6-3AE91BA880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035" y="5505244"/>
                <a:ext cx="2228046" cy="614912"/>
              </a:xfrm>
              <a:prstGeom prst="rect">
                <a:avLst/>
              </a:prstGeom>
              <a:blipFill>
                <a:blip r:embed="rId4"/>
                <a:stretch>
                  <a:fillRect b="-49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69BBF59-D0D9-45E4-9067-AE0AA8842A03}"/>
                  </a:ext>
                </a:extLst>
              </p:cNvPr>
              <p:cNvSpPr/>
              <p:nvPr/>
            </p:nvSpPr>
            <p:spPr>
              <a:xfrm>
                <a:off x="900340" y="5901608"/>
                <a:ext cx="2006960" cy="5343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69BBF59-D0D9-45E4-9067-AE0AA8842A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340" y="5901608"/>
                <a:ext cx="2006960" cy="5343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194B51C-0F79-437E-BF43-918CC01C0678}"/>
                  </a:ext>
                </a:extLst>
              </p:cNvPr>
              <p:cNvSpPr/>
              <p:nvPr/>
            </p:nvSpPr>
            <p:spPr>
              <a:xfrm>
                <a:off x="3473308" y="5917346"/>
                <a:ext cx="1942198" cy="5198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194B51C-0F79-437E-BF43-918CC01C06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3308" y="5917346"/>
                <a:ext cx="1942198" cy="5198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2144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22" grpId="0"/>
      <p:bldP spid="26" grpId="0"/>
      <p:bldP spid="27" grpId="0"/>
      <p:bldP spid="28" grpId="0"/>
      <p:bldP spid="29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Regla</a:t>
            </a:r>
            <a:r>
              <a:rPr lang="en-US" sz="3600" dirty="0"/>
              <a:t> de </a:t>
            </a:r>
            <a:r>
              <a:rPr lang="en-US" sz="3600" dirty="0" err="1"/>
              <a:t>decisión</a:t>
            </a:r>
            <a:endParaRPr lang="en-US"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FFA07E-20B5-46FF-A55F-E5E3111FE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348" y="1556792"/>
            <a:ext cx="7712108" cy="505402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CCD932-A473-4131-B414-E48B98BE0817}"/>
              </a:ext>
            </a:extLst>
          </p:cNvPr>
          <p:cNvCxnSpPr/>
          <p:nvPr/>
        </p:nvCxnSpPr>
        <p:spPr>
          <a:xfrm>
            <a:off x="6292940" y="3992390"/>
            <a:ext cx="0" cy="2088232"/>
          </a:xfrm>
          <a:prstGeom prst="line">
            <a:avLst/>
          </a:prstGeom>
          <a:ln w="76200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01865AC-3D6E-474A-BB45-A8BB51629BD3}"/>
                  </a:ext>
                </a:extLst>
              </p:cNvPr>
              <p:cNvSpPr/>
              <p:nvPr/>
            </p:nvSpPr>
            <p:spPr>
              <a:xfrm>
                <a:off x="6089171" y="6004931"/>
                <a:ext cx="56380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A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s-AR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01865AC-3D6E-474A-BB45-A8BB51629B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9171" y="6004931"/>
                <a:ext cx="563809" cy="461665"/>
              </a:xfrm>
              <a:prstGeom prst="rect">
                <a:avLst/>
              </a:prstGeom>
              <a:blipFill>
                <a:blip r:embed="rId3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855B069-2FC6-4342-81C3-E7A9F9D206A9}"/>
                  </a:ext>
                </a:extLst>
              </p:cNvPr>
              <p:cNvSpPr/>
              <p:nvPr/>
            </p:nvSpPr>
            <p:spPr>
              <a:xfrm>
                <a:off x="2476516" y="2202270"/>
                <a:ext cx="130151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m:rPr>
                          <m:nor/>
                        </m:rPr>
                        <a:rPr lang="es-AR" altLang="en-US" sz="2400" dirty="0">
                          <a:solidFill>
                            <a:srgbClr val="00B050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855B069-2FC6-4342-81C3-E7A9F9D206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16" y="2202270"/>
                <a:ext cx="130151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9781A1-D40F-46DB-BC1D-64AD70393EBE}"/>
              </a:ext>
            </a:extLst>
          </p:cNvPr>
          <p:cNvCxnSpPr>
            <a:cxnSpLocks/>
          </p:cNvCxnSpPr>
          <p:nvPr/>
        </p:nvCxnSpPr>
        <p:spPr>
          <a:xfrm flipV="1">
            <a:off x="3916676" y="2447865"/>
            <a:ext cx="792088" cy="2594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002E3F4-A0F1-4771-B61C-7AD84CE651C4}"/>
              </a:ext>
            </a:extLst>
          </p:cNvPr>
          <p:cNvCxnSpPr/>
          <p:nvPr/>
        </p:nvCxnSpPr>
        <p:spPr>
          <a:xfrm>
            <a:off x="3616389" y="4009244"/>
            <a:ext cx="0" cy="2088232"/>
          </a:xfrm>
          <a:prstGeom prst="line">
            <a:avLst/>
          </a:prstGeom>
          <a:ln w="76200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5FC2743-739A-439C-A7C8-67F532719CDD}"/>
                  </a:ext>
                </a:extLst>
              </p:cNvPr>
              <p:cNvSpPr/>
              <p:nvPr/>
            </p:nvSpPr>
            <p:spPr>
              <a:xfrm>
                <a:off x="3412620" y="6021785"/>
                <a:ext cx="56380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A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s-AR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5FC2743-739A-439C-A7C8-67F532719C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620" y="6021785"/>
                <a:ext cx="563809" cy="461665"/>
              </a:xfrm>
              <a:prstGeom prst="rect">
                <a:avLst/>
              </a:prstGeom>
              <a:blipFill>
                <a:blip r:embed="rId5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935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AR" sz="3600" dirty="0"/>
              <a:t>Valor p</a:t>
            </a:r>
            <a:endParaRPr lang="en-US" sz="3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5E0D61-F88B-42DF-B0D9-754A000CED4B}"/>
              </a:ext>
            </a:extLst>
          </p:cNvPr>
          <p:cNvSpPr/>
          <p:nvPr/>
        </p:nvSpPr>
        <p:spPr>
          <a:xfrm>
            <a:off x="1093262" y="1772816"/>
            <a:ext cx="7511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s-AR" altLang="en-US" sz="2400" dirty="0"/>
              <a:t>El valor p se define como la probabilidad de que, si la </a:t>
            </a:r>
            <a:r>
              <a:rPr lang="es-AR" altLang="en-US" sz="2400" dirty="0" err="1"/>
              <a:t>hipótesis</a:t>
            </a:r>
            <a:r>
              <a:rPr lang="es-AR" altLang="en-US" sz="2400" dirty="0"/>
              <a:t> nula es verdadera, el estadístico de prueba dé tan mal o peor de lo que dio.</a:t>
            </a:r>
            <a:endParaRPr lang="es-ES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7A9A449-BFED-4D63-824D-96A5C2C5CBC0}"/>
                  </a:ext>
                </a:extLst>
              </p:cNvPr>
              <p:cNvSpPr/>
              <p:nvPr/>
            </p:nvSpPr>
            <p:spPr>
              <a:xfrm>
                <a:off x="975175" y="3973563"/>
                <a:ext cx="7193636" cy="11214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𝑜𝑏𝑠</m:t>
                              </m:r>
                            </m:sub>
                          </m:sSub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l-G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</m:e>
                                <m:sub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𝑜𝑏𝑠</m:t>
                                  </m:r>
                                </m:sub>
                              </m:sSub>
                            </m:num>
                            <m:den>
                              <m:f>
                                <m:fPr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rad>
                                </m:den>
                              </m:f>
                            </m:den>
                          </m:f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l-G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</m:e>
                                <m:sub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𝑜𝑏𝑠</m:t>
                                  </m:r>
                                </m:sub>
                              </m:sSub>
                            </m:num>
                            <m:den>
                              <m:f>
                                <m:fPr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rad>
                                </m:den>
                              </m:f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7A9A449-BFED-4D63-824D-96A5C2C5CB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75" y="3973563"/>
                <a:ext cx="7193636" cy="11214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C925842-4C47-446C-9790-DC54077D355F}"/>
                  </a:ext>
                </a:extLst>
              </p:cNvPr>
              <p:cNvSpPr/>
              <p:nvPr/>
            </p:nvSpPr>
            <p:spPr>
              <a:xfrm>
                <a:off x="3244579" y="3198167"/>
                <a:ext cx="265482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|"/>
                          <m:endChr m:val="|"/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𝑜𝑏𝑠</m:t>
                              </m:r>
                            </m:sub>
                          </m:s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C925842-4C47-446C-9790-DC54077D35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579" y="3198167"/>
                <a:ext cx="2654829" cy="461665"/>
              </a:xfrm>
              <a:prstGeom prst="rect">
                <a:avLst/>
              </a:prstGeom>
              <a:blipFill>
                <a:blip r:embed="rId3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2D75596-82F6-42BF-ABFA-5D36DC2653D8}"/>
                  </a:ext>
                </a:extLst>
              </p:cNvPr>
              <p:cNvSpPr/>
              <p:nvPr/>
            </p:nvSpPr>
            <p:spPr>
              <a:xfrm>
                <a:off x="1651712" y="5419161"/>
                <a:ext cx="5768567" cy="11214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𝑜𝑏𝑠</m:t>
                              </m:r>
                            </m:sub>
                          </m:sSub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d>
                        <m:dPr>
                          <m:begChr m:val="["/>
                          <m:endChr m:val="]"/>
                          <m:ctrlP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l-G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l-G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l-G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∆</m:t>
                                      </m:r>
                                    </m:e>
                                    <m:sub>
                                      <m: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𝑜𝑏𝑠</m:t>
                                      </m:r>
                                    </m:sub>
                                  </m:sSub>
                                </m:num>
                                <m:den>
                                  <m:f>
                                    <m:fPr>
                                      <m:ctrlP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es-AR" alt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s-AR" alt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rad>
                                    </m:den>
                                  </m:f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2D75596-82F6-42BF-ABFA-5D36DC2653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712" y="5419161"/>
                <a:ext cx="5768567" cy="11214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182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Regla</a:t>
            </a:r>
            <a:r>
              <a:rPr lang="en-US" sz="3600" dirty="0"/>
              <a:t> de </a:t>
            </a:r>
            <a:r>
              <a:rPr lang="en-US" sz="3600" dirty="0" err="1"/>
              <a:t>decisión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/>
              <p:nvPr/>
            </p:nvSpPr>
            <p:spPr>
              <a:xfrm>
                <a:off x="431534" y="1527175"/>
                <a:ext cx="828092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eaLnBrk="1" hangingPunct="1"/>
                <a14:m>
                  <m:oMath xmlns:m="http://schemas.openxmlformats.org/officeDocument/2006/math"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m:rPr>
                        <m:nor/>
                      </m:rPr>
                      <a:rPr lang="es-ES" altLang="en-US" sz="24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s-E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s-AR" altLang="en-US" sz="2400" dirty="0">
                    <a:solidFill>
                      <a:schemeClr val="tx1"/>
                    </a:solidFill>
                  </a:rPr>
                  <a:t> es conocido</a:t>
                </a:r>
                <a:r>
                  <a:rPr lang="es-ES" altLang="en-US" sz="2400" dirty="0">
                    <a:solidFill>
                      <a:schemeClr val="tx1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34" y="1527175"/>
                <a:ext cx="8280920" cy="461665"/>
              </a:xfrm>
              <a:prstGeom prst="rect">
                <a:avLst/>
              </a:prstGeom>
              <a:blipFill>
                <a:blip r:embed="rId2"/>
                <a:stretch>
                  <a:fillRect t="-9333" b="-3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541A53-F421-4942-852C-009DBE489110}"/>
                  </a:ext>
                </a:extLst>
              </p:cNvPr>
              <p:cNvSpPr/>
              <p:nvPr/>
            </p:nvSpPr>
            <p:spPr>
              <a:xfrm>
                <a:off x="1135520" y="2779185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541A53-F421-4942-852C-009DBE4891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520" y="2779185"/>
                <a:ext cx="1708288" cy="461665"/>
              </a:xfrm>
              <a:prstGeom prst="rect">
                <a:avLst/>
              </a:prstGeom>
              <a:blipFill>
                <a:blip r:embed="rId3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AC33B5D-97BC-4A7E-9BC4-8C56D122D407}"/>
                  </a:ext>
                </a:extLst>
              </p:cNvPr>
              <p:cNvSpPr/>
              <p:nvPr/>
            </p:nvSpPr>
            <p:spPr>
              <a:xfrm>
                <a:off x="1121487" y="2132856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AC33B5D-97BC-4A7E-9BC4-8C56D122D4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487" y="2132856"/>
                <a:ext cx="1708288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9229622-E9D4-4DFA-9F42-679E2B6B73C5}"/>
                  </a:ext>
                </a:extLst>
              </p:cNvPr>
              <p:cNvSpPr/>
              <p:nvPr/>
            </p:nvSpPr>
            <p:spPr>
              <a:xfrm>
                <a:off x="1104468" y="4448461"/>
                <a:ext cx="17011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9229622-E9D4-4DFA-9F42-679E2B6B73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468" y="4448461"/>
                <a:ext cx="1701170" cy="461665"/>
              </a:xfrm>
              <a:prstGeom prst="rect">
                <a:avLst/>
              </a:prstGeom>
              <a:blipFill>
                <a:blip r:embed="rId5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ACBF018-1586-4BF3-9CB7-7E4D12F6E319}"/>
                  </a:ext>
                </a:extLst>
              </p:cNvPr>
              <p:cNvSpPr/>
              <p:nvPr/>
            </p:nvSpPr>
            <p:spPr>
              <a:xfrm>
                <a:off x="1090435" y="3802132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ACBF018-1586-4BF3-9CB7-7E4D12F6E3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435" y="3802132"/>
                <a:ext cx="1708288" cy="461665"/>
              </a:xfrm>
              <a:prstGeom prst="rect">
                <a:avLst/>
              </a:prstGeom>
              <a:blipFill>
                <a:blip r:embed="rId6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A517D8C-4B58-4648-B498-E3140263BAD8}"/>
                  </a:ext>
                </a:extLst>
              </p:cNvPr>
              <p:cNvSpPr/>
              <p:nvPr/>
            </p:nvSpPr>
            <p:spPr>
              <a:xfrm>
                <a:off x="1121131" y="6041149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A517D8C-4B58-4648-B498-E3140263BA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131" y="6041149"/>
                <a:ext cx="1708288" cy="461665"/>
              </a:xfrm>
              <a:prstGeom prst="rect">
                <a:avLst/>
              </a:prstGeom>
              <a:blipFill>
                <a:blip r:embed="rId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D972E8D-0C89-4EF8-A3E8-74ED518E5813}"/>
                  </a:ext>
                </a:extLst>
              </p:cNvPr>
              <p:cNvSpPr/>
              <p:nvPr/>
            </p:nvSpPr>
            <p:spPr>
              <a:xfrm>
                <a:off x="1107098" y="5394820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D972E8D-0C89-4EF8-A3E8-74ED518E58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098" y="5394820"/>
                <a:ext cx="1708288" cy="461665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upo 7">
            <a:extLst>
              <a:ext uri="{FF2B5EF4-FFF2-40B4-BE49-F238E27FC236}">
                <a16:creationId xmlns:a16="http://schemas.microsoft.com/office/drawing/2014/main" id="{C5E2B949-3730-4B43-BE07-142F79DC1EDD}"/>
              </a:ext>
            </a:extLst>
          </p:cNvPr>
          <p:cNvGrpSpPr/>
          <p:nvPr/>
        </p:nvGrpSpPr>
        <p:grpSpPr>
          <a:xfrm>
            <a:off x="4959557" y="2204864"/>
            <a:ext cx="3979132" cy="985778"/>
            <a:chOff x="5222741" y="2572917"/>
            <a:chExt cx="3979132" cy="98577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4DA2A5E-4338-4453-B012-1B19668FAD23}"/>
                </a:ext>
              </a:extLst>
            </p:cNvPr>
            <p:cNvCxnSpPr>
              <a:cxnSpLocks/>
            </p:cNvCxnSpPr>
            <p:nvPr/>
          </p:nvCxnSpPr>
          <p:spPr>
            <a:xfrm>
              <a:off x="5222741" y="2750324"/>
              <a:ext cx="3617642" cy="2613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947A33-F48C-414C-B907-91F4DFC8669A}"/>
                </a:ext>
              </a:extLst>
            </p:cNvPr>
            <p:cNvCxnSpPr/>
            <p:nvPr/>
          </p:nvCxnSpPr>
          <p:spPr>
            <a:xfrm>
              <a:off x="6093055" y="2572917"/>
              <a:ext cx="0" cy="36004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315897-7738-4523-8BAE-B97D3FF94A54}"/>
                    </a:ext>
                  </a:extLst>
                </p:cNvPr>
                <p:cNvSpPr/>
                <p:nvPr/>
              </p:nvSpPr>
              <p:spPr>
                <a:xfrm>
                  <a:off x="8584525" y="2940932"/>
                  <a:ext cx="61734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s-A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A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s-A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s-A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315897-7738-4523-8BAE-B97D3FF94A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4525" y="2940932"/>
                  <a:ext cx="617348" cy="461665"/>
                </a:xfrm>
                <a:prstGeom prst="rect">
                  <a:avLst/>
                </a:prstGeom>
                <a:blipFill>
                  <a:blip r:embed="rId9"/>
                  <a:stretch>
                    <a:fillRect r="-8911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C6E768-9A69-48B2-93BD-EEB1E6D98A8C}"/>
                </a:ext>
              </a:extLst>
            </p:cNvPr>
            <p:cNvCxnSpPr/>
            <p:nvPr/>
          </p:nvCxnSpPr>
          <p:spPr>
            <a:xfrm>
              <a:off x="7208191" y="2572917"/>
              <a:ext cx="0" cy="36004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24">
                  <a:extLst>
                    <a:ext uri="{FF2B5EF4-FFF2-40B4-BE49-F238E27FC236}">
                      <a16:creationId xmlns:a16="http://schemas.microsoft.com/office/drawing/2014/main" id="{40DDE61E-533A-4D90-9D09-443A6908044D}"/>
                    </a:ext>
                  </a:extLst>
                </p:cNvPr>
                <p:cNvSpPr/>
                <p:nvPr/>
              </p:nvSpPr>
              <p:spPr>
                <a:xfrm>
                  <a:off x="6359897" y="2883830"/>
                  <a:ext cx="1840696" cy="6748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s-A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A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A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AR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s-AR" alt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alt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s-AR" alt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</m:sSub>
                        <m:f>
                          <m:fPr>
                            <m:ctrlPr>
                              <a:rPr lang="es-AR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AR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AR" alt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AR" alt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Rectangle 24">
                  <a:extLst>
                    <a:ext uri="{FF2B5EF4-FFF2-40B4-BE49-F238E27FC236}">
                      <a16:creationId xmlns:a16="http://schemas.microsoft.com/office/drawing/2014/main" id="{40DDE61E-533A-4D90-9D09-443A690804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897" y="2883830"/>
                  <a:ext cx="1840696" cy="6748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D4B86B03-2969-4C49-8C94-2961950F7D33}"/>
                    </a:ext>
                  </a:extLst>
                </p:cNvPr>
                <p:cNvSpPr txBox="1"/>
                <p:nvPr/>
              </p:nvSpPr>
              <p:spPr>
                <a:xfrm>
                  <a:off x="5922163" y="2976921"/>
                  <a:ext cx="34178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s-AR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A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D4B86B03-2969-4C49-8C94-2961950F7D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2163" y="2976921"/>
                  <a:ext cx="341784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8772" b="-4918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BF98924E-2694-4A9F-9837-BC8E0F801D2F}"/>
              </a:ext>
            </a:extLst>
          </p:cNvPr>
          <p:cNvGrpSpPr/>
          <p:nvPr/>
        </p:nvGrpSpPr>
        <p:grpSpPr>
          <a:xfrm>
            <a:off x="4849265" y="3947962"/>
            <a:ext cx="4075035" cy="1042880"/>
            <a:chOff x="5112449" y="4054427"/>
            <a:chExt cx="4075035" cy="1042880"/>
          </a:xfrm>
        </p:grpSpPr>
        <p:cxnSp>
          <p:nvCxnSpPr>
            <p:cNvPr id="47" name="Straight Connector 10">
              <a:extLst>
                <a:ext uri="{FF2B5EF4-FFF2-40B4-BE49-F238E27FC236}">
                  <a16:creationId xmlns:a16="http://schemas.microsoft.com/office/drawing/2014/main" id="{ECB3B006-8870-40C2-8B3F-37915DFEDCDB}"/>
                </a:ext>
              </a:extLst>
            </p:cNvPr>
            <p:cNvCxnSpPr>
              <a:cxnSpLocks/>
            </p:cNvCxnSpPr>
            <p:nvPr/>
          </p:nvCxnSpPr>
          <p:spPr>
            <a:xfrm>
              <a:off x="5208352" y="4231834"/>
              <a:ext cx="3617642" cy="2613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15">
              <a:extLst>
                <a:ext uri="{FF2B5EF4-FFF2-40B4-BE49-F238E27FC236}">
                  <a16:creationId xmlns:a16="http://schemas.microsoft.com/office/drawing/2014/main" id="{5D7F9021-5B14-4080-9A20-2CD0C4D0AEC6}"/>
                </a:ext>
              </a:extLst>
            </p:cNvPr>
            <p:cNvCxnSpPr/>
            <p:nvPr/>
          </p:nvCxnSpPr>
          <p:spPr>
            <a:xfrm>
              <a:off x="7236296" y="4054427"/>
              <a:ext cx="0" cy="36004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Rectangle 16">
                  <a:extLst>
                    <a:ext uri="{FF2B5EF4-FFF2-40B4-BE49-F238E27FC236}">
                      <a16:creationId xmlns:a16="http://schemas.microsoft.com/office/drawing/2014/main" id="{87DC0C7F-CC2E-429F-A8DB-7731FE5FED8D}"/>
                    </a:ext>
                  </a:extLst>
                </p:cNvPr>
                <p:cNvSpPr/>
                <p:nvPr/>
              </p:nvSpPr>
              <p:spPr>
                <a:xfrm>
                  <a:off x="8570136" y="4422442"/>
                  <a:ext cx="61734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s-A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A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s-A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s-A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Rectangle 16">
                  <a:extLst>
                    <a:ext uri="{FF2B5EF4-FFF2-40B4-BE49-F238E27FC236}">
                      <a16:creationId xmlns:a16="http://schemas.microsoft.com/office/drawing/2014/main" id="{87DC0C7F-CC2E-429F-A8DB-7731FE5FED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0136" y="4422442"/>
                  <a:ext cx="617348" cy="461665"/>
                </a:xfrm>
                <a:prstGeom prst="rect">
                  <a:avLst/>
                </a:prstGeom>
                <a:blipFill>
                  <a:blip r:embed="rId12"/>
                  <a:stretch>
                    <a:fillRect r="-7921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Straight Connector 18">
              <a:extLst>
                <a:ext uri="{FF2B5EF4-FFF2-40B4-BE49-F238E27FC236}">
                  <a16:creationId xmlns:a16="http://schemas.microsoft.com/office/drawing/2014/main" id="{6029772E-C65A-400A-9B04-74CE163B058B}"/>
                </a:ext>
              </a:extLst>
            </p:cNvPr>
            <p:cNvCxnSpPr/>
            <p:nvPr/>
          </p:nvCxnSpPr>
          <p:spPr>
            <a:xfrm>
              <a:off x="6084168" y="4054427"/>
              <a:ext cx="0" cy="36004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24">
                  <a:extLst>
                    <a:ext uri="{FF2B5EF4-FFF2-40B4-BE49-F238E27FC236}">
                      <a16:creationId xmlns:a16="http://schemas.microsoft.com/office/drawing/2014/main" id="{B529E66A-8004-48F2-82D9-D3F3E5580D2A}"/>
                    </a:ext>
                  </a:extLst>
                </p:cNvPr>
                <p:cNvSpPr/>
                <p:nvPr/>
              </p:nvSpPr>
              <p:spPr>
                <a:xfrm>
                  <a:off x="5112449" y="4422442"/>
                  <a:ext cx="1840696" cy="6748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s-A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A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A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AR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s-AR" alt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alt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s-AR" alt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</m:sSub>
                        <m:f>
                          <m:fPr>
                            <m:ctrlPr>
                              <a:rPr lang="es-AR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AR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AR" alt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AR" alt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Rectangle 24">
                  <a:extLst>
                    <a:ext uri="{FF2B5EF4-FFF2-40B4-BE49-F238E27FC236}">
                      <a16:creationId xmlns:a16="http://schemas.microsoft.com/office/drawing/2014/main" id="{B529E66A-8004-48F2-82D9-D3F3E5580D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2449" y="4422442"/>
                  <a:ext cx="1840696" cy="67486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CuadroTexto 51">
                  <a:extLst>
                    <a:ext uri="{FF2B5EF4-FFF2-40B4-BE49-F238E27FC236}">
                      <a16:creationId xmlns:a16="http://schemas.microsoft.com/office/drawing/2014/main" id="{E5484819-6550-48E0-B8D0-589071F32FEC}"/>
                    </a:ext>
                  </a:extLst>
                </p:cNvPr>
                <p:cNvSpPr txBox="1"/>
                <p:nvPr/>
              </p:nvSpPr>
              <p:spPr>
                <a:xfrm>
                  <a:off x="7069646" y="4538254"/>
                  <a:ext cx="34178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s-AR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A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CuadroTexto 51">
                  <a:extLst>
                    <a:ext uri="{FF2B5EF4-FFF2-40B4-BE49-F238E27FC236}">
                      <a16:creationId xmlns:a16="http://schemas.microsoft.com/office/drawing/2014/main" id="{E5484819-6550-48E0-B8D0-589071F32F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9646" y="4538254"/>
                  <a:ext cx="341784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8929" b="-4918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08A8491B-F67B-43B3-A801-141E5E260735}"/>
              </a:ext>
            </a:extLst>
          </p:cNvPr>
          <p:cNvGrpSpPr/>
          <p:nvPr/>
        </p:nvGrpSpPr>
        <p:grpSpPr>
          <a:xfrm>
            <a:off x="3059832" y="5511314"/>
            <a:ext cx="5811652" cy="1063704"/>
            <a:chOff x="3323016" y="5749672"/>
            <a:chExt cx="5811652" cy="1063704"/>
          </a:xfrm>
        </p:grpSpPr>
        <p:cxnSp>
          <p:nvCxnSpPr>
            <p:cNvPr id="54" name="Straight Connector 10">
              <a:extLst>
                <a:ext uri="{FF2B5EF4-FFF2-40B4-BE49-F238E27FC236}">
                  <a16:creationId xmlns:a16="http://schemas.microsoft.com/office/drawing/2014/main" id="{5901E831-12AD-4BC9-83D1-8125104577EA}"/>
                </a:ext>
              </a:extLst>
            </p:cNvPr>
            <p:cNvCxnSpPr>
              <a:cxnSpLocks/>
            </p:cNvCxnSpPr>
            <p:nvPr/>
          </p:nvCxnSpPr>
          <p:spPr>
            <a:xfrm>
              <a:off x="3563888" y="5957312"/>
              <a:ext cx="5262106" cy="1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5">
              <a:extLst>
                <a:ext uri="{FF2B5EF4-FFF2-40B4-BE49-F238E27FC236}">
                  <a16:creationId xmlns:a16="http://schemas.microsoft.com/office/drawing/2014/main" id="{6BA331E8-FBD3-4EAA-9A19-E1CB49864355}"/>
                </a:ext>
              </a:extLst>
            </p:cNvPr>
            <p:cNvCxnSpPr/>
            <p:nvPr/>
          </p:nvCxnSpPr>
          <p:spPr>
            <a:xfrm>
              <a:off x="5922163" y="5749672"/>
              <a:ext cx="0" cy="36004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16">
                  <a:extLst>
                    <a:ext uri="{FF2B5EF4-FFF2-40B4-BE49-F238E27FC236}">
                      <a16:creationId xmlns:a16="http://schemas.microsoft.com/office/drawing/2014/main" id="{91020AF2-AB5D-4F92-8C2B-4AC49D65C692}"/>
                    </a:ext>
                  </a:extLst>
                </p:cNvPr>
                <p:cNvSpPr/>
                <p:nvPr/>
              </p:nvSpPr>
              <p:spPr>
                <a:xfrm>
                  <a:off x="8517320" y="6141809"/>
                  <a:ext cx="61734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s-A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AR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s-A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s-A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Rectangle 16">
                  <a:extLst>
                    <a:ext uri="{FF2B5EF4-FFF2-40B4-BE49-F238E27FC236}">
                      <a16:creationId xmlns:a16="http://schemas.microsoft.com/office/drawing/2014/main" id="{91020AF2-AB5D-4F92-8C2B-4AC49D65C69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7320" y="6141809"/>
                  <a:ext cx="617348" cy="461665"/>
                </a:xfrm>
                <a:prstGeom prst="rect">
                  <a:avLst/>
                </a:prstGeom>
                <a:blipFill>
                  <a:blip r:embed="rId15"/>
                  <a:stretch>
                    <a:fillRect r="-8911" b="-1333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18">
              <a:extLst>
                <a:ext uri="{FF2B5EF4-FFF2-40B4-BE49-F238E27FC236}">
                  <a16:creationId xmlns:a16="http://schemas.microsoft.com/office/drawing/2014/main" id="{4509DFAB-CCF1-420E-A300-A140261E4D7F}"/>
                </a:ext>
              </a:extLst>
            </p:cNvPr>
            <p:cNvCxnSpPr/>
            <p:nvPr/>
          </p:nvCxnSpPr>
          <p:spPr>
            <a:xfrm>
              <a:off x="4355976" y="5777292"/>
              <a:ext cx="0" cy="36004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24">
                  <a:extLst>
                    <a:ext uri="{FF2B5EF4-FFF2-40B4-BE49-F238E27FC236}">
                      <a16:creationId xmlns:a16="http://schemas.microsoft.com/office/drawing/2014/main" id="{6E69613B-CCA4-462A-805E-0C729EA08F4C}"/>
                    </a:ext>
                  </a:extLst>
                </p:cNvPr>
                <p:cNvSpPr/>
                <p:nvPr/>
              </p:nvSpPr>
              <p:spPr>
                <a:xfrm>
                  <a:off x="3323016" y="6138511"/>
                  <a:ext cx="2041072" cy="6748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s-A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A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A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AR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s-AR" alt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alt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s-AR" alt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s-AR" alt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/2</m:t>
                            </m:r>
                          </m:sub>
                        </m:sSub>
                        <m:f>
                          <m:fPr>
                            <m:ctrlPr>
                              <a:rPr lang="es-AR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AR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AR" alt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AR" alt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Rectangle 24">
                  <a:extLst>
                    <a:ext uri="{FF2B5EF4-FFF2-40B4-BE49-F238E27FC236}">
                      <a16:creationId xmlns:a16="http://schemas.microsoft.com/office/drawing/2014/main" id="{6E69613B-CCA4-462A-805E-0C729EA08F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3016" y="6138511"/>
                  <a:ext cx="2041072" cy="67486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CuadroTexto 58">
                  <a:extLst>
                    <a:ext uri="{FF2B5EF4-FFF2-40B4-BE49-F238E27FC236}">
                      <a16:creationId xmlns:a16="http://schemas.microsoft.com/office/drawing/2014/main" id="{D96C7924-CDE0-44FA-AAFA-DCA158BEDAF3}"/>
                    </a:ext>
                  </a:extLst>
                </p:cNvPr>
                <p:cNvSpPr txBox="1"/>
                <p:nvPr/>
              </p:nvSpPr>
              <p:spPr>
                <a:xfrm>
                  <a:off x="5742384" y="6271707"/>
                  <a:ext cx="34178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s-AR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A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CuadroTexto 58">
                  <a:extLst>
                    <a:ext uri="{FF2B5EF4-FFF2-40B4-BE49-F238E27FC236}">
                      <a16:creationId xmlns:a16="http://schemas.microsoft.com/office/drawing/2014/main" id="{D96C7924-CDE0-44FA-AAFA-DCA158BEDA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2384" y="6271707"/>
                  <a:ext cx="341784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8929" b="-6667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Rectangle 24">
                  <a:extLst>
                    <a:ext uri="{FF2B5EF4-FFF2-40B4-BE49-F238E27FC236}">
                      <a16:creationId xmlns:a16="http://schemas.microsoft.com/office/drawing/2014/main" id="{B7AD1D8E-3FAA-481F-8D74-42CC9AD03D18}"/>
                    </a:ext>
                  </a:extLst>
                </p:cNvPr>
                <p:cNvSpPr/>
                <p:nvPr/>
              </p:nvSpPr>
              <p:spPr>
                <a:xfrm>
                  <a:off x="6444208" y="6138511"/>
                  <a:ext cx="2041072" cy="6748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s-A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A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A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AR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s-AR" alt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alt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s-AR" alt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s-AR" alt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/2</m:t>
                            </m:r>
                          </m:sub>
                        </m:sSub>
                        <m:f>
                          <m:fPr>
                            <m:ctrlPr>
                              <a:rPr lang="es-AR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AR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AR" alt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AR" alt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Rectangle 24">
                  <a:extLst>
                    <a:ext uri="{FF2B5EF4-FFF2-40B4-BE49-F238E27FC236}">
                      <a16:creationId xmlns:a16="http://schemas.microsoft.com/office/drawing/2014/main" id="{B7AD1D8E-3FAA-481F-8D74-42CC9AD03D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4208" y="6138511"/>
                  <a:ext cx="2041072" cy="6748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Straight Connector 18">
              <a:extLst>
                <a:ext uri="{FF2B5EF4-FFF2-40B4-BE49-F238E27FC236}">
                  <a16:creationId xmlns:a16="http://schemas.microsoft.com/office/drawing/2014/main" id="{97A66359-DE78-48C3-AC7D-3C53583D766C}"/>
                </a:ext>
              </a:extLst>
            </p:cNvPr>
            <p:cNvCxnSpPr/>
            <p:nvPr/>
          </p:nvCxnSpPr>
          <p:spPr>
            <a:xfrm>
              <a:off x="7430933" y="5749672"/>
              <a:ext cx="0" cy="36004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94614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8" grpId="0"/>
      <p:bldP spid="20" grpId="0"/>
      <p:bldP spid="32" grpId="0"/>
      <p:bldP spid="3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/>
              <a:t>Valor 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/>
              <p:nvPr/>
            </p:nvSpPr>
            <p:spPr>
              <a:xfrm>
                <a:off x="431534" y="1599183"/>
                <a:ext cx="828092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eaLnBrk="1" hangingPunct="1"/>
                <a14:m>
                  <m:oMath xmlns:m="http://schemas.openxmlformats.org/officeDocument/2006/math"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m:rPr>
                        <m:nor/>
                      </m:rPr>
                      <a:rPr lang="es-ES" altLang="en-US" sz="24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s-E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s-AR" altLang="en-US" sz="2400" dirty="0">
                    <a:solidFill>
                      <a:schemeClr val="tx1"/>
                    </a:solidFill>
                  </a:rPr>
                  <a:t> es conocido</a:t>
                </a:r>
                <a:r>
                  <a:rPr lang="es-ES" altLang="en-US" sz="2400" dirty="0">
                    <a:solidFill>
                      <a:schemeClr val="tx1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34" y="1599183"/>
                <a:ext cx="8280920" cy="461665"/>
              </a:xfrm>
              <a:prstGeom prst="rect">
                <a:avLst/>
              </a:prstGeom>
              <a:blipFill>
                <a:blip r:embed="rId2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541A53-F421-4942-852C-009DBE489110}"/>
                  </a:ext>
                </a:extLst>
              </p:cNvPr>
              <p:cNvSpPr/>
              <p:nvPr/>
            </p:nvSpPr>
            <p:spPr>
              <a:xfrm>
                <a:off x="1279536" y="2757581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541A53-F421-4942-852C-009DBE4891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536" y="2757581"/>
                <a:ext cx="1708288" cy="461665"/>
              </a:xfrm>
              <a:prstGeom prst="rect">
                <a:avLst/>
              </a:prstGeom>
              <a:blipFill>
                <a:blip r:embed="rId3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AC33B5D-97BC-4A7E-9BC4-8C56D122D407}"/>
                  </a:ext>
                </a:extLst>
              </p:cNvPr>
              <p:cNvSpPr/>
              <p:nvPr/>
            </p:nvSpPr>
            <p:spPr>
              <a:xfrm>
                <a:off x="1265503" y="2111252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AC33B5D-97BC-4A7E-9BC4-8C56D122D4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503" y="2111252"/>
                <a:ext cx="1708288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9229622-E9D4-4DFA-9F42-679E2B6B73C5}"/>
                  </a:ext>
                </a:extLst>
              </p:cNvPr>
              <p:cNvSpPr/>
              <p:nvPr/>
            </p:nvSpPr>
            <p:spPr>
              <a:xfrm>
                <a:off x="1248484" y="4294964"/>
                <a:ext cx="17011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9229622-E9D4-4DFA-9F42-679E2B6B73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484" y="4294964"/>
                <a:ext cx="1701170" cy="461665"/>
              </a:xfrm>
              <a:prstGeom prst="rect">
                <a:avLst/>
              </a:prstGeom>
              <a:blipFill>
                <a:blip r:embed="rId5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ACBF018-1586-4BF3-9CB7-7E4D12F6E319}"/>
                  </a:ext>
                </a:extLst>
              </p:cNvPr>
              <p:cNvSpPr/>
              <p:nvPr/>
            </p:nvSpPr>
            <p:spPr>
              <a:xfrm>
                <a:off x="1234451" y="3648635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ACBF018-1586-4BF3-9CB7-7E4D12F6E3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51" y="3648635"/>
                <a:ext cx="1708288" cy="461665"/>
              </a:xfrm>
              <a:prstGeom prst="rect">
                <a:avLst/>
              </a:prstGeom>
              <a:blipFill>
                <a:blip r:embed="rId6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A517D8C-4B58-4648-B498-E3140263BAD8}"/>
                  </a:ext>
                </a:extLst>
              </p:cNvPr>
              <p:cNvSpPr/>
              <p:nvPr/>
            </p:nvSpPr>
            <p:spPr>
              <a:xfrm>
                <a:off x="1265147" y="5781943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A517D8C-4B58-4648-B498-E3140263BA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147" y="5781943"/>
                <a:ext cx="1708288" cy="461665"/>
              </a:xfrm>
              <a:prstGeom prst="rect">
                <a:avLst/>
              </a:prstGeom>
              <a:blipFill>
                <a:blip r:embed="rId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D972E8D-0C89-4EF8-A3E8-74ED518E5813}"/>
                  </a:ext>
                </a:extLst>
              </p:cNvPr>
              <p:cNvSpPr/>
              <p:nvPr/>
            </p:nvSpPr>
            <p:spPr>
              <a:xfrm>
                <a:off x="1251114" y="5135614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D972E8D-0C89-4EF8-A3E8-74ED518E58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114" y="5135614"/>
                <a:ext cx="1708288" cy="461665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7581D03-58C4-40D2-A207-67DED49D6C4C}"/>
                  </a:ext>
                </a:extLst>
              </p:cNvPr>
              <p:cNvSpPr/>
              <p:nvPr/>
            </p:nvSpPr>
            <p:spPr>
              <a:xfrm>
                <a:off x="6131548" y="2012186"/>
                <a:ext cx="2050882" cy="11214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l-G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</m:e>
                                <m:sub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𝑜𝑏𝑠</m:t>
                                  </m:r>
                                </m:sub>
                              </m:sSub>
                            </m:num>
                            <m:den>
                              <m:f>
                                <m:fPr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rad>
                                </m:den>
                              </m:f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7581D03-58C4-40D2-A207-67DED49D6C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548" y="2012186"/>
                <a:ext cx="2050882" cy="112146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7E637CD-59DF-48D7-9F5F-2AC7DED4926C}"/>
                  </a:ext>
                </a:extLst>
              </p:cNvPr>
              <p:cNvSpPr/>
              <p:nvPr/>
            </p:nvSpPr>
            <p:spPr>
              <a:xfrm>
                <a:off x="6399538" y="3549569"/>
                <a:ext cx="1514902" cy="11214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</m:e>
                                <m:sub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𝑜𝑏𝑠</m:t>
                                  </m:r>
                                </m:sub>
                              </m:sSub>
                            </m:num>
                            <m:den>
                              <m:f>
                                <m:fPr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rad>
                                </m:den>
                              </m:f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7E637CD-59DF-48D7-9F5F-2AC7DED492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538" y="3549569"/>
                <a:ext cx="1514902" cy="112146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883AC4A0-D53E-4F57-83F8-E9A28A1402D1}"/>
                  </a:ext>
                </a:extLst>
              </p:cNvPr>
              <p:cNvSpPr/>
              <p:nvPr/>
            </p:nvSpPr>
            <p:spPr>
              <a:xfrm>
                <a:off x="5796136" y="5221212"/>
                <a:ext cx="2721707" cy="11214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["/>
                          <m:endChr m:val="]"/>
                          <m:ctrlP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l-G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l-G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l-GR" altLang="en-US" sz="24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l-G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s-AR" alt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AR" alt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∆</m:t>
                                          </m:r>
                                        </m:e>
                                        <m:sub>
                                          <m:r>
                                            <a:rPr lang="es-AR" alt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𝑜𝑏𝑠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f>
                                        <m:fPr>
                                          <m:ctrlPr>
                                            <a:rPr lang="es-AR" alt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s-AR" alt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num>
                                        <m:den>
                                          <m:rad>
                                            <m:radPr>
                                              <m:degHide m:val="on"/>
                                              <m:ctrlPr>
                                                <a:rPr lang="es-AR" altLang="en-US" sz="24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radPr>
                                            <m:deg/>
                                            <m:e>
                                              <m:r>
                                                <a:rPr lang="es-AR" altLang="en-US" sz="24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</m:rad>
                                        </m:den>
                                      </m:f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883AC4A0-D53E-4F57-83F8-E9A28A1402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5221212"/>
                <a:ext cx="2721707" cy="112146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6316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8" grpId="0"/>
      <p:bldP spid="20" grpId="0"/>
      <p:bldP spid="32" grpId="0"/>
      <p:bldP spid="33" grpId="0"/>
      <p:bldP spid="7" grpId="0"/>
      <p:bldP spid="43" grpId="0"/>
      <p:bldP spid="4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Regla</a:t>
            </a:r>
            <a:r>
              <a:rPr lang="en-US" sz="3600" dirty="0"/>
              <a:t> de </a:t>
            </a:r>
            <a:r>
              <a:rPr lang="en-US" sz="3600" dirty="0" err="1"/>
              <a:t>decisión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/>
              <p:nvPr/>
            </p:nvSpPr>
            <p:spPr>
              <a:xfrm>
                <a:off x="971600" y="1827258"/>
                <a:ext cx="7740854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hangingPunct="1"/>
                <a:r>
                  <a:rPr lang="es-AR" altLang="en-US" sz="2400" dirty="0">
                    <a:solidFill>
                      <a:schemeClr val="tx1"/>
                    </a:solidFill>
                  </a:rPr>
                  <a:t>¿No puede usarse otro estadístico de prueba además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s-AR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AR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s-AR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827258"/>
                <a:ext cx="7740854" cy="830997"/>
              </a:xfrm>
              <a:prstGeom prst="rect">
                <a:avLst/>
              </a:prstGeom>
              <a:blipFill>
                <a:blip r:embed="rId2"/>
                <a:stretch>
                  <a:fillRect l="-1181" t="-5147" r="-1260" b="-169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325E0D61-F88B-42DF-B0D9-754A000CED4B}"/>
              </a:ext>
            </a:extLst>
          </p:cNvPr>
          <p:cNvSpPr/>
          <p:nvPr/>
        </p:nvSpPr>
        <p:spPr>
          <a:xfrm>
            <a:off x="971600" y="3044982"/>
            <a:ext cx="77060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s-AR" altLang="en-US" sz="2400" dirty="0"/>
              <a:t>Sí, hay otro estadístico que es absolutamente equivalente:</a:t>
            </a:r>
            <a:endParaRPr lang="es-ES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CF8311A-56F8-4257-81EB-03F82411A190}"/>
                  </a:ext>
                </a:extLst>
              </p:cNvPr>
              <p:cNvSpPr/>
              <p:nvPr/>
            </p:nvSpPr>
            <p:spPr>
              <a:xfrm>
                <a:off x="3773923" y="4349092"/>
                <a:ext cx="1722779" cy="11681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s-AR" altLang="en-US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alt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AR" alt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s-AR" alt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alt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s-AR" alt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AR" alt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CF8311A-56F8-4257-81EB-03F82411A1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923" y="4349092"/>
                <a:ext cx="1722779" cy="11681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7492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Regla</a:t>
            </a:r>
            <a:r>
              <a:rPr lang="en-US" sz="3600" dirty="0"/>
              <a:t> de </a:t>
            </a:r>
            <a:r>
              <a:rPr lang="en-US" sz="3600" dirty="0" err="1"/>
              <a:t>decisión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/>
              <p:nvPr/>
            </p:nvSpPr>
            <p:spPr>
              <a:xfrm>
                <a:off x="431534" y="1671191"/>
                <a:ext cx="828092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eaLnBrk="1" hangingPunct="1"/>
                <a14:m>
                  <m:oMath xmlns:m="http://schemas.openxmlformats.org/officeDocument/2006/math"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m:rPr>
                        <m:nor/>
                      </m:rPr>
                      <a:rPr lang="es-ES" altLang="en-US" sz="24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s-E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s-AR" altLang="en-US" sz="2400" dirty="0">
                    <a:solidFill>
                      <a:schemeClr val="tx1"/>
                    </a:solidFill>
                  </a:rPr>
                  <a:t> es conocido</a:t>
                </a:r>
                <a:r>
                  <a:rPr lang="es-ES" altLang="en-US" sz="2400" dirty="0">
                    <a:solidFill>
                      <a:schemeClr val="tx1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34" y="1671191"/>
                <a:ext cx="8280920" cy="461665"/>
              </a:xfrm>
              <a:prstGeom prst="rect">
                <a:avLst/>
              </a:prstGeom>
              <a:blipFill>
                <a:blip r:embed="rId2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541A53-F421-4942-852C-009DBE489110}"/>
                  </a:ext>
                </a:extLst>
              </p:cNvPr>
              <p:cNvSpPr/>
              <p:nvPr/>
            </p:nvSpPr>
            <p:spPr>
              <a:xfrm>
                <a:off x="1207528" y="2757581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541A53-F421-4942-852C-009DBE4891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528" y="2757581"/>
                <a:ext cx="1708288" cy="461665"/>
              </a:xfrm>
              <a:prstGeom prst="rect">
                <a:avLst/>
              </a:prstGeom>
              <a:blipFill>
                <a:blip r:embed="rId3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AC33B5D-97BC-4A7E-9BC4-8C56D122D407}"/>
                  </a:ext>
                </a:extLst>
              </p:cNvPr>
              <p:cNvSpPr/>
              <p:nvPr/>
            </p:nvSpPr>
            <p:spPr>
              <a:xfrm>
                <a:off x="1193495" y="2111252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AC33B5D-97BC-4A7E-9BC4-8C56D122D4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495" y="2111252"/>
                <a:ext cx="1708288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6DC98801-C579-427E-8F9C-99993A153FA6}"/>
              </a:ext>
            </a:extLst>
          </p:cNvPr>
          <p:cNvGrpSpPr/>
          <p:nvPr/>
        </p:nvGrpSpPr>
        <p:grpSpPr>
          <a:xfrm>
            <a:off x="5222741" y="2572917"/>
            <a:ext cx="3104846" cy="820886"/>
            <a:chOff x="3007741" y="2391994"/>
            <a:chExt cx="5580517" cy="82088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4DA2A5E-4338-4453-B012-1B19668FAD23}"/>
                </a:ext>
              </a:extLst>
            </p:cNvPr>
            <p:cNvCxnSpPr>
              <a:cxnSpLocks/>
            </p:cNvCxnSpPr>
            <p:nvPr/>
          </p:nvCxnSpPr>
          <p:spPr>
            <a:xfrm>
              <a:off x="3007741" y="2569401"/>
              <a:ext cx="5524706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947A33-F48C-414C-B907-91F4DFC8669A}"/>
                </a:ext>
              </a:extLst>
            </p:cNvPr>
            <p:cNvCxnSpPr/>
            <p:nvPr/>
          </p:nvCxnSpPr>
          <p:spPr>
            <a:xfrm>
              <a:off x="4572006" y="2391994"/>
              <a:ext cx="0" cy="36004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315897-7738-4523-8BAE-B97D3FF94A54}"/>
                    </a:ext>
                  </a:extLst>
                </p:cNvPr>
                <p:cNvSpPr/>
                <p:nvPr/>
              </p:nvSpPr>
              <p:spPr>
                <a:xfrm>
                  <a:off x="8128389" y="2717552"/>
                  <a:ext cx="459869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b="0" i="1" smtClean="0">
                            <a:solidFill>
                              <a:srgbClr val="402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𝑍</m:t>
                        </m:r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315897-7738-4523-8BAE-B97D3FF94A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8389" y="2717552"/>
                  <a:ext cx="459869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4762" r="-5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C6E768-9A69-48B2-93BD-EEB1E6D98A8C}"/>
                </a:ext>
              </a:extLst>
            </p:cNvPr>
            <p:cNvCxnSpPr/>
            <p:nvPr/>
          </p:nvCxnSpPr>
          <p:spPr>
            <a:xfrm>
              <a:off x="6576304" y="2391994"/>
              <a:ext cx="0" cy="36004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CD2FDFE-0E16-4902-B2A4-BF2E71D18A76}"/>
                    </a:ext>
                  </a:extLst>
                </p:cNvPr>
                <p:cNvSpPr/>
                <p:nvPr/>
              </p:nvSpPr>
              <p:spPr>
                <a:xfrm>
                  <a:off x="4310636" y="2717552"/>
                  <a:ext cx="43954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i="1" smtClean="0">
                            <a:solidFill>
                              <a:srgbClr val="402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CD2FDFE-0E16-4902-B2A4-BF2E71D18A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0636" y="2717552"/>
                  <a:ext cx="439544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7500" r="-5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F74BE02B-640F-4460-9DAC-F120203C8246}"/>
                    </a:ext>
                  </a:extLst>
                </p:cNvPr>
                <p:cNvSpPr/>
                <p:nvPr/>
              </p:nvSpPr>
              <p:spPr>
                <a:xfrm>
                  <a:off x="6124092" y="2717552"/>
                  <a:ext cx="1054518" cy="49532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</m:e>
                          <m:sub>
                            <m:r>
                              <a:rPr lang="es-AR" sz="2400" b="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s-AR" altLang="en-US" sz="24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altLang="en-US" sz="24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s-AR" altLang="en-US" sz="24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F74BE02B-640F-4460-9DAC-F120203C82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4092" y="2717552"/>
                  <a:ext cx="1054518" cy="495328"/>
                </a:xfrm>
                <a:prstGeom prst="rect">
                  <a:avLst/>
                </a:prstGeom>
                <a:blipFill>
                  <a:blip r:embed="rId7"/>
                  <a:stretch>
                    <a:fillRect r="-5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9229622-E9D4-4DFA-9F42-679E2B6B73C5}"/>
                  </a:ext>
                </a:extLst>
              </p:cNvPr>
              <p:cNvSpPr/>
              <p:nvPr/>
            </p:nvSpPr>
            <p:spPr>
              <a:xfrm>
                <a:off x="1176476" y="4294964"/>
                <a:ext cx="17011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9229622-E9D4-4DFA-9F42-679E2B6B73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476" y="4294964"/>
                <a:ext cx="1701170" cy="461665"/>
              </a:xfrm>
              <a:prstGeom prst="rect">
                <a:avLst/>
              </a:prstGeom>
              <a:blipFill>
                <a:blip r:embed="rId8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ACBF018-1586-4BF3-9CB7-7E4D12F6E319}"/>
                  </a:ext>
                </a:extLst>
              </p:cNvPr>
              <p:cNvSpPr/>
              <p:nvPr/>
            </p:nvSpPr>
            <p:spPr>
              <a:xfrm>
                <a:off x="1162443" y="3648635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ACBF018-1586-4BF3-9CB7-7E4D12F6E3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443" y="3648635"/>
                <a:ext cx="1708288" cy="461665"/>
              </a:xfrm>
              <a:prstGeom prst="rect">
                <a:avLst/>
              </a:prstGeom>
              <a:blipFill>
                <a:blip r:embed="rId9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D8ED5716-3FD2-4107-AF0C-16EB6F4FC6FE}"/>
              </a:ext>
            </a:extLst>
          </p:cNvPr>
          <p:cNvGrpSpPr/>
          <p:nvPr/>
        </p:nvGrpSpPr>
        <p:grpSpPr>
          <a:xfrm>
            <a:off x="5191689" y="4075818"/>
            <a:ext cx="3104846" cy="821705"/>
            <a:chOff x="3007741" y="2357512"/>
            <a:chExt cx="5580517" cy="821705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B9EAC7A-B13E-4437-B971-ED1F02CA5A31}"/>
                </a:ext>
              </a:extLst>
            </p:cNvPr>
            <p:cNvCxnSpPr>
              <a:cxnSpLocks/>
            </p:cNvCxnSpPr>
            <p:nvPr/>
          </p:nvCxnSpPr>
          <p:spPr>
            <a:xfrm>
              <a:off x="3007741" y="2569401"/>
              <a:ext cx="5524706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644E8B5-C9E7-4FF9-A563-F7906A9B8929}"/>
                </a:ext>
              </a:extLst>
            </p:cNvPr>
            <p:cNvCxnSpPr/>
            <p:nvPr/>
          </p:nvCxnSpPr>
          <p:spPr>
            <a:xfrm>
              <a:off x="6645716" y="2357512"/>
              <a:ext cx="0" cy="36004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B1468E83-A8B6-420A-A333-5ECC0AE1EFE2}"/>
                    </a:ext>
                  </a:extLst>
                </p:cNvPr>
                <p:cNvSpPr/>
                <p:nvPr/>
              </p:nvSpPr>
              <p:spPr>
                <a:xfrm>
                  <a:off x="8128389" y="2717552"/>
                  <a:ext cx="459869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b="0" i="1" smtClean="0">
                            <a:solidFill>
                              <a:srgbClr val="402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𝑍</m:t>
                        </m:r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B1468E83-A8B6-420A-A333-5ECC0AE1EF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8389" y="2717552"/>
                  <a:ext cx="459869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4762" r="-5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9FC1748-D4CE-4B1A-BFF5-74281DA2076B}"/>
                </a:ext>
              </a:extLst>
            </p:cNvPr>
            <p:cNvCxnSpPr/>
            <p:nvPr/>
          </p:nvCxnSpPr>
          <p:spPr>
            <a:xfrm>
              <a:off x="4601955" y="2396638"/>
              <a:ext cx="0" cy="36004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C005723C-CA0D-45BC-B014-9599798F839D}"/>
                    </a:ext>
                  </a:extLst>
                </p:cNvPr>
                <p:cNvSpPr/>
                <p:nvPr/>
              </p:nvSpPr>
              <p:spPr>
                <a:xfrm>
                  <a:off x="6300463" y="2694468"/>
                  <a:ext cx="43954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i="1" smtClean="0">
                            <a:solidFill>
                              <a:srgbClr val="402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C005723C-CA0D-45BC-B014-9599798F83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0463" y="2694468"/>
                  <a:ext cx="439544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5000" r="-5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6160978F-B2AF-487D-8BED-5188811D3DF8}"/>
                    </a:ext>
                  </a:extLst>
                </p:cNvPr>
                <p:cNvSpPr/>
                <p:nvPr/>
              </p:nvSpPr>
              <p:spPr>
                <a:xfrm>
                  <a:off x="3326119" y="2642379"/>
                  <a:ext cx="2307356" cy="49532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s-AR" sz="2400" b="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</m:e>
                          <m:sub>
                            <m:r>
                              <a:rPr lang="es-AR" sz="2400" b="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s-AR" altLang="en-US" sz="24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altLang="en-US" sz="24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s-AR" altLang="en-US" sz="24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6160978F-B2AF-487D-8BED-5188811D3D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6119" y="2642379"/>
                  <a:ext cx="2307356" cy="49532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A517D8C-4B58-4648-B498-E3140263BAD8}"/>
                  </a:ext>
                </a:extLst>
              </p:cNvPr>
              <p:cNvSpPr/>
              <p:nvPr/>
            </p:nvSpPr>
            <p:spPr>
              <a:xfrm>
                <a:off x="1193139" y="5781943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A517D8C-4B58-4648-B498-E3140263BA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139" y="5781943"/>
                <a:ext cx="1708288" cy="461665"/>
              </a:xfrm>
              <a:prstGeom prst="rect">
                <a:avLst/>
              </a:prstGeom>
              <a:blipFill>
                <a:blip r:embed="rId13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D972E8D-0C89-4EF8-A3E8-74ED518E5813}"/>
                  </a:ext>
                </a:extLst>
              </p:cNvPr>
              <p:cNvSpPr/>
              <p:nvPr/>
            </p:nvSpPr>
            <p:spPr>
              <a:xfrm>
                <a:off x="1179106" y="5135614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D972E8D-0C89-4EF8-A3E8-74ED518E58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106" y="5135614"/>
                <a:ext cx="1708288" cy="461665"/>
              </a:xfrm>
              <a:prstGeom prst="rect">
                <a:avLst/>
              </a:prstGeom>
              <a:blipFill>
                <a:blip r:embed="rId1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82565-2C4B-4BA2-BEA7-11EFCC9A5E4D}"/>
              </a:ext>
            </a:extLst>
          </p:cNvPr>
          <p:cNvGrpSpPr/>
          <p:nvPr/>
        </p:nvGrpSpPr>
        <p:grpSpPr>
          <a:xfrm>
            <a:off x="5208352" y="5597279"/>
            <a:ext cx="3104846" cy="827832"/>
            <a:chOff x="3007741" y="2391994"/>
            <a:chExt cx="5580517" cy="827832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D9B0DE2-A8CA-473F-837E-47F5F1F1A152}"/>
                </a:ext>
              </a:extLst>
            </p:cNvPr>
            <p:cNvCxnSpPr>
              <a:cxnSpLocks/>
            </p:cNvCxnSpPr>
            <p:nvPr/>
          </p:nvCxnSpPr>
          <p:spPr>
            <a:xfrm>
              <a:off x="3007741" y="2569401"/>
              <a:ext cx="5524706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FBFD155-CAC1-40BC-995C-11FBF3FFC63C}"/>
                </a:ext>
              </a:extLst>
            </p:cNvPr>
            <p:cNvCxnSpPr/>
            <p:nvPr/>
          </p:nvCxnSpPr>
          <p:spPr>
            <a:xfrm>
              <a:off x="5740144" y="2391994"/>
              <a:ext cx="0" cy="36004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394C73DA-A341-4047-B595-7BFEAE0D28C9}"/>
                    </a:ext>
                  </a:extLst>
                </p:cNvPr>
                <p:cNvSpPr/>
                <p:nvPr/>
              </p:nvSpPr>
              <p:spPr>
                <a:xfrm>
                  <a:off x="8128389" y="2717552"/>
                  <a:ext cx="459869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b="0" i="1" smtClean="0">
                            <a:solidFill>
                              <a:srgbClr val="402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𝑍</m:t>
                        </m:r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394C73DA-A341-4047-B595-7BFEAE0D28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8389" y="2717552"/>
                  <a:ext cx="459869" cy="461665"/>
                </a:xfrm>
                <a:prstGeom prst="rect">
                  <a:avLst/>
                </a:prstGeom>
                <a:blipFill>
                  <a:blip r:embed="rId15"/>
                  <a:stretch>
                    <a:fillRect l="-7143" r="-476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1625744-CA49-4850-B252-0614520B9976}"/>
                </a:ext>
              </a:extLst>
            </p:cNvPr>
            <p:cNvCxnSpPr/>
            <p:nvPr/>
          </p:nvCxnSpPr>
          <p:spPr>
            <a:xfrm>
              <a:off x="7170377" y="2396638"/>
              <a:ext cx="0" cy="36004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01E7076F-A6D2-45C7-8ABF-236028CB071A}"/>
                    </a:ext>
                  </a:extLst>
                </p:cNvPr>
                <p:cNvSpPr/>
                <p:nvPr/>
              </p:nvSpPr>
              <p:spPr>
                <a:xfrm>
                  <a:off x="5486243" y="2758161"/>
                  <a:ext cx="43954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i="1" smtClean="0">
                            <a:solidFill>
                              <a:srgbClr val="402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01E7076F-A6D2-45C7-8ABF-236028CB07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6243" y="2758161"/>
                  <a:ext cx="439544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7500" r="-5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CD663F04-A0D7-40CE-8498-0EDFC6526AB4}"/>
                    </a:ext>
                  </a:extLst>
                </p:cNvPr>
                <p:cNvSpPr/>
                <p:nvPr/>
              </p:nvSpPr>
              <p:spPr>
                <a:xfrm>
                  <a:off x="6124092" y="2717552"/>
                  <a:ext cx="2327524" cy="49532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</m:e>
                          <m:sub>
                            <m:r>
                              <a:rPr lang="es-AR" sz="2400" b="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s-AR" altLang="en-US" sz="24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altLang="en-US" sz="24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s-AR" altLang="en-US" sz="24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s-AR" altLang="en-US" sz="2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/2</m:t>
                            </m:r>
                          </m:sub>
                        </m:sSub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CD663F04-A0D7-40CE-8498-0EDFC6526A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4092" y="2717552"/>
                  <a:ext cx="2327524" cy="495328"/>
                </a:xfrm>
                <a:prstGeom prst="rect">
                  <a:avLst/>
                </a:prstGeom>
                <a:blipFill>
                  <a:blip r:embed="rId17"/>
                  <a:stretch>
                    <a:fillRect b="-123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89F5BC4-E8B5-4247-A8DF-D2EF52C687FC}"/>
                </a:ext>
              </a:extLst>
            </p:cNvPr>
            <p:cNvCxnSpPr/>
            <p:nvPr/>
          </p:nvCxnSpPr>
          <p:spPr>
            <a:xfrm>
              <a:off x="4202531" y="2396638"/>
              <a:ext cx="0" cy="36004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02C63EE1-09C6-4F5A-B22E-EE9C2EBBAD91}"/>
                    </a:ext>
                  </a:extLst>
                </p:cNvPr>
                <p:cNvSpPr/>
                <p:nvPr/>
              </p:nvSpPr>
              <p:spPr>
                <a:xfrm>
                  <a:off x="3188954" y="2697773"/>
                  <a:ext cx="2359216" cy="49532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AR" sz="2400" dirty="0">
                      <a:solidFill>
                        <a:srgbClr val="402000"/>
                      </a:solidFill>
                      <a:cs typeface="+mn-cs"/>
                    </a:rPr>
                    <a:t>-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solidFill>
                                <a:srgbClr val="402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s-AR" sz="2400" i="1" smtClean="0">
                              <a:solidFill>
                                <a:srgbClr val="402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</m:e>
                        <m:sub>
                          <m:r>
                            <a:rPr lang="es-AR" sz="2400" b="0" i="1" smtClean="0">
                              <a:solidFill>
                                <a:srgbClr val="402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1−</m:t>
                          </m:r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alt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s-AR" alt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</m:oMath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02C63EE1-09C6-4F5A-B22E-EE9C2EBBAD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8954" y="2697773"/>
                  <a:ext cx="2359216" cy="495328"/>
                </a:xfrm>
                <a:prstGeom prst="rect">
                  <a:avLst/>
                </a:prstGeom>
                <a:blipFill>
                  <a:blip r:embed="rId18"/>
                  <a:stretch>
                    <a:fillRect l="-7442" t="-9756" b="-195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68807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8" grpId="0"/>
      <p:bldP spid="20" grpId="0"/>
      <p:bldP spid="32" grpId="0"/>
      <p:bldP spid="3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/>
              <a:t>Valor 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/>
              <p:nvPr/>
            </p:nvSpPr>
            <p:spPr>
              <a:xfrm>
                <a:off x="431534" y="1671191"/>
                <a:ext cx="828092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eaLnBrk="1" hangingPunct="1"/>
                <a14:m>
                  <m:oMath xmlns:m="http://schemas.openxmlformats.org/officeDocument/2006/math"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m:rPr>
                        <m:nor/>
                      </m:rPr>
                      <a:rPr lang="es-ES" altLang="en-US" sz="24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s-E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s-AR" altLang="en-US" sz="2400" dirty="0">
                    <a:solidFill>
                      <a:schemeClr val="tx1"/>
                    </a:solidFill>
                  </a:rPr>
                  <a:t> es conocido</a:t>
                </a:r>
                <a:r>
                  <a:rPr lang="es-ES" altLang="en-US" sz="2400" dirty="0">
                    <a:solidFill>
                      <a:schemeClr val="tx1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34" y="1671191"/>
                <a:ext cx="8280920" cy="461665"/>
              </a:xfrm>
              <a:prstGeom prst="rect">
                <a:avLst/>
              </a:prstGeom>
              <a:blipFill>
                <a:blip r:embed="rId2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541A53-F421-4942-852C-009DBE489110}"/>
                  </a:ext>
                </a:extLst>
              </p:cNvPr>
              <p:cNvSpPr/>
              <p:nvPr/>
            </p:nvSpPr>
            <p:spPr>
              <a:xfrm>
                <a:off x="1304717" y="2757581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541A53-F421-4942-852C-009DBE4891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717" y="2757581"/>
                <a:ext cx="1708288" cy="461665"/>
              </a:xfrm>
              <a:prstGeom prst="rect">
                <a:avLst/>
              </a:prstGeom>
              <a:blipFill>
                <a:blip r:embed="rId3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AC33B5D-97BC-4A7E-9BC4-8C56D122D407}"/>
                  </a:ext>
                </a:extLst>
              </p:cNvPr>
              <p:cNvSpPr/>
              <p:nvPr/>
            </p:nvSpPr>
            <p:spPr>
              <a:xfrm>
                <a:off x="1290684" y="2111252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AC33B5D-97BC-4A7E-9BC4-8C56D122D4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684" y="2111252"/>
                <a:ext cx="1708288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9229622-E9D4-4DFA-9F42-679E2B6B73C5}"/>
                  </a:ext>
                </a:extLst>
              </p:cNvPr>
              <p:cNvSpPr/>
              <p:nvPr/>
            </p:nvSpPr>
            <p:spPr>
              <a:xfrm>
                <a:off x="1273665" y="4294964"/>
                <a:ext cx="17011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9229622-E9D4-4DFA-9F42-679E2B6B73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665" y="4294964"/>
                <a:ext cx="1701170" cy="461665"/>
              </a:xfrm>
              <a:prstGeom prst="rect">
                <a:avLst/>
              </a:prstGeom>
              <a:blipFill>
                <a:blip r:embed="rId5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ACBF018-1586-4BF3-9CB7-7E4D12F6E319}"/>
                  </a:ext>
                </a:extLst>
              </p:cNvPr>
              <p:cNvSpPr/>
              <p:nvPr/>
            </p:nvSpPr>
            <p:spPr>
              <a:xfrm>
                <a:off x="1259632" y="3648635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ACBF018-1586-4BF3-9CB7-7E4D12F6E3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3648635"/>
                <a:ext cx="1708288" cy="461665"/>
              </a:xfrm>
              <a:prstGeom prst="rect">
                <a:avLst/>
              </a:prstGeom>
              <a:blipFill>
                <a:blip r:embed="rId6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A517D8C-4B58-4648-B498-E3140263BAD8}"/>
                  </a:ext>
                </a:extLst>
              </p:cNvPr>
              <p:cNvSpPr/>
              <p:nvPr/>
            </p:nvSpPr>
            <p:spPr>
              <a:xfrm>
                <a:off x="1290328" y="5781943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A517D8C-4B58-4648-B498-E3140263BA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328" y="5781943"/>
                <a:ext cx="1708288" cy="461665"/>
              </a:xfrm>
              <a:prstGeom prst="rect">
                <a:avLst/>
              </a:prstGeom>
              <a:blipFill>
                <a:blip r:embed="rId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D972E8D-0C89-4EF8-A3E8-74ED518E5813}"/>
                  </a:ext>
                </a:extLst>
              </p:cNvPr>
              <p:cNvSpPr/>
              <p:nvPr/>
            </p:nvSpPr>
            <p:spPr>
              <a:xfrm>
                <a:off x="1276295" y="5135614"/>
                <a:ext cx="17082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D972E8D-0C89-4EF8-A3E8-74ED518E58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295" y="5135614"/>
                <a:ext cx="1708288" cy="461665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7581D03-58C4-40D2-A207-67DED49D6C4C}"/>
                  </a:ext>
                </a:extLst>
              </p:cNvPr>
              <p:cNvSpPr/>
              <p:nvPr/>
            </p:nvSpPr>
            <p:spPr>
              <a:xfrm>
                <a:off x="6145591" y="2473100"/>
                <a:ext cx="183877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l-G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𝑜𝑏𝑠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7581D03-58C4-40D2-A207-67DED49D6C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591" y="2473100"/>
                <a:ext cx="1838773" cy="461665"/>
              </a:xfrm>
              <a:prstGeom prst="rect">
                <a:avLst/>
              </a:prstGeom>
              <a:blipFill>
                <a:blip r:embed="rId9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7E637CD-59DF-48D7-9F5F-2AC7DED4926C}"/>
                  </a:ext>
                </a:extLst>
              </p:cNvPr>
              <p:cNvSpPr/>
              <p:nvPr/>
            </p:nvSpPr>
            <p:spPr>
              <a:xfrm>
                <a:off x="6413580" y="3937285"/>
                <a:ext cx="130279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𝑜𝑏𝑠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7E637CD-59DF-48D7-9F5F-2AC7DED492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80" y="3937285"/>
                <a:ext cx="1302793" cy="461665"/>
              </a:xfrm>
              <a:prstGeom prst="rect">
                <a:avLst/>
              </a:prstGeom>
              <a:blipFill>
                <a:blip r:embed="rId10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883AC4A0-D53E-4F57-83F8-E9A28A1402D1}"/>
                  </a:ext>
                </a:extLst>
              </p:cNvPr>
              <p:cNvSpPr/>
              <p:nvPr/>
            </p:nvSpPr>
            <p:spPr>
              <a:xfrm>
                <a:off x="5855510" y="5586369"/>
                <a:ext cx="24189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["/>
                          <m:endChr m:val="]"/>
                          <m:ctrlP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l-G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l-G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l-GR" altLang="en-US" sz="24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𝑜𝑏𝑠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883AC4A0-D53E-4F57-83F8-E9A28A1402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510" y="5586369"/>
                <a:ext cx="2418932" cy="461665"/>
              </a:xfrm>
              <a:prstGeom prst="rect">
                <a:avLst/>
              </a:prstGeom>
              <a:blipFill>
                <a:blip r:embed="rId11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5367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8" grpId="0"/>
      <p:bldP spid="20" grpId="0"/>
      <p:bldP spid="32" grpId="0"/>
      <p:bldP spid="33" grpId="0"/>
      <p:bldP spid="7" grpId="0"/>
      <p:bldP spid="43" grpId="0"/>
      <p:bldP spid="4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Otro</a:t>
            </a:r>
            <a:r>
              <a:rPr lang="en-US" sz="3600" dirty="0"/>
              <a:t> </a:t>
            </a:r>
            <a:r>
              <a:rPr lang="en-US" sz="3600" dirty="0" err="1"/>
              <a:t>ejemplo</a:t>
            </a:r>
            <a:endParaRPr 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8EC67E-C974-4934-90FA-85ADD21BE5CE}"/>
              </a:ext>
            </a:extLst>
          </p:cNvPr>
          <p:cNvSpPr/>
          <p:nvPr/>
        </p:nvSpPr>
        <p:spPr>
          <a:xfrm>
            <a:off x="971600" y="1827258"/>
            <a:ext cx="774085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s-AR" altLang="en-US" sz="2400" dirty="0"/>
              <a:t>Una máquina dosificadora en una operación de producción se debe ajustar si el porcentaje de envases con falta de llenado es significativamente superior al 8%. En una muestra aleatoria de 145 envases de la producción de un día se encontraron 18 envases incompletos en su llenado. </a:t>
            </a:r>
          </a:p>
          <a:p>
            <a:pPr algn="just" eaLnBrk="1" hangingPunct="1"/>
            <a:r>
              <a:rPr lang="es-AR" altLang="en-US" sz="2400" dirty="0"/>
              <a:t>¿Indican los resultados que hay que ajustar la máquina dosificadora?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161203-F9B8-4C68-A74D-5A4F258968FD}"/>
              </a:ext>
            </a:extLst>
          </p:cNvPr>
          <p:cNvSpPr/>
          <p:nvPr/>
        </p:nvSpPr>
        <p:spPr>
          <a:xfrm>
            <a:off x="971600" y="5118283"/>
            <a:ext cx="77408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s-AR" altLang="en-US" sz="2400" dirty="0"/>
              <a:t>Se trata de una prueba de </a:t>
            </a:r>
            <a:r>
              <a:rPr lang="es-AR" altLang="en-US" sz="2400" dirty="0" err="1"/>
              <a:t>hipótesis</a:t>
            </a:r>
            <a:r>
              <a:rPr lang="es-AR" altLang="en-US" sz="2400" dirty="0"/>
              <a:t> asociada con la proporción de una población.</a:t>
            </a:r>
          </a:p>
        </p:txBody>
      </p:sp>
    </p:spTree>
    <p:extLst>
      <p:ext uri="{BB962C8B-B14F-4D97-AF65-F5344CB8AC3E}">
        <p14:creationId xmlns:p14="http://schemas.microsoft.com/office/powerpoint/2010/main" val="89262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Pruebas</a:t>
            </a:r>
            <a:r>
              <a:rPr lang="en-US" sz="3600" dirty="0"/>
              <a:t> para la </a:t>
            </a:r>
            <a:r>
              <a:rPr lang="en-US" sz="3600" dirty="0" err="1"/>
              <a:t>proporción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/>
              <p:nvPr/>
            </p:nvSpPr>
            <p:spPr>
              <a:xfrm>
                <a:off x="1043608" y="1827258"/>
                <a:ext cx="828092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hangingPunct="1"/>
                <a:r>
                  <a:rPr lang="es-AR" altLang="en-US" sz="2400" dirty="0">
                    <a:solidFill>
                      <a:schemeClr val="tx1"/>
                    </a:solidFill>
                  </a:rPr>
                  <a:t>Es muy parecido al caso de </a:t>
                </a:r>
                <a14:m>
                  <m:oMath xmlns:m="http://schemas.openxmlformats.org/officeDocument/2006/math">
                    <m:r>
                      <a:rPr lang="es-AR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s-AR" altLang="en-US" sz="2400" dirty="0">
                    <a:solidFill>
                      <a:schemeClr val="tx1"/>
                    </a:solidFill>
                  </a:rPr>
                  <a:t> conocido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1827258"/>
                <a:ext cx="8280920" cy="461665"/>
              </a:xfrm>
              <a:prstGeom prst="rect">
                <a:avLst/>
              </a:prstGeom>
              <a:blipFill>
                <a:blip r:embed="rId2"/>
                <a:stretch>
                  <a:fillRect l="-1104" t="-9333" b="-3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669D0D4-2060-4A26-85AB-F54DC0A19A2D}"/>
                  </a:ext>
                </a:extLst>
              </p:cNvPr>
              <p:cNvSpPr/>
              <p:nvPr/>
            </p:nvSpPr>
            <p:spPr>
              <a:xfrm>
                <a:off x="1043608" y="2782670"/>
                <a:ext cx="828092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hangingPunct="1"/>
                <a:r>
                  <a:rPr lang="es-AR" altLang="en-US" sz="2400" dirty="0">
                    <a:solidFill>
                      <a:schemeClr val="tx1"/>
                    </a:solidFill>
                  </a:rPr>
                  <a:t>Sabemos que, para </a:t>
                </a:r>
                <a14:m>
                  <m:oMath xmlns:m="http://schemas.openxmlformats.org/officeDocument/2006/math">
                    <m:r>
                      <a:rPr lang="es-AR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AR" altLang="en-US" sz="2400" dirty="0">
                    <a:solidFill>
                      <a:schemeClr val="tx1"/>
                    </a:solidFill>
                  </a:rPr>
                  <a:t> grande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669D0D4-2060-4A26-85AB-F54DC0A19A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782670"/>
                <a:ext cx="8280920" cy="461665"/>
              </a:xfrm>
              <a:prstGeom prst="rect">
                <a:avLst/>
              </a:prstGeom>
              <a:blipFill>
                <a:blip r:embed="rId3"/>
                <a:stretch>
                  <a:fillRect l="-1104" t="-9211" b="-302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69A92BA-9285-4047-AF04-C61D00DA0735}"/>
                  </a:ext>
                </a:extLst>
              </p:cNvPr>
              <p:cNvSpPr/>
              <p:nvPr/>
            </p:nvSpPr>
            <p:spPr>
              <a:xfrm>
                <a:off x="3065524" y="3738082"/>
                <a:ext cx="3012940" cy="1295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s-AR" altLang="en-US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d>
                        <m:d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ad>
                            <m:radPr>
                              <m:degHide m:val="on"/>
                              <m:ctrlPr>
                                <a:rPr lang="es-AR" alt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altLang="en-US" sz="24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AR" alt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s-AR" alt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(1−</m:t>
                                  </m:r>
                                  <m:r>
                                    <a:rPr lang="es-AR" alt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s-AR" alt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s-AR" alt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69A92BA-9285-4047-AF04-C61D00DA07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524" y="3738082"/>
                <a:ext cx="3012940" cy="12954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568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Regla</a:t>
            </a:r>
            <a:r>
              <a:rPr lang="en-US" sz="3600" dirty="0"/>
              <a:t> de </a:t>
            </a:r>
            <a:r>
              <a:rPr lang="en-US" sz="3600" dirty="0" err="1"/>
              <a:t>decisión</a:t>
            </a:r>
            <a:endParaRPr lang="en-US" sz="36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DC98801-C579-427E-8F9C-99993A153FA6}"/>
              </a:ext>
            </a:extLst>
          </p:cNvPr>
          <p:cNvGrpSpPr/>
          <p:nvPr/>
        </p:nvGrpSpPr>
        <p:grpSpPr>
          <a:xfrm>
            <a:off x="538179" y="2472736"/>
            <a:ext cx="7895211" cy="1766441"/>
            <a:chOff x="678107" y="1412776"/>
            <a:chExt cx="7895211" cy="1766441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4DA2A5E-4338-4453-B012-1B19668FAD23}"/>
                </a:ext>
              </a:extLst>
            </p:cNvPr>
            <p:cNvCxnSpPr>
              <a:cxnSpLocks/>
            </p:cNvCxnSpPr>
            <p:nvPr/>
          </p:nvCxnSpPr>
          <p:spPr>
            <a:xfrm>
              <a:off x="678107" y="2569401"/>
              <a:ext cx="7854339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947A33-F48C-414C-B907-91F4DFC8669A}"/>
                </a:ext>
              </a:extLst>
            </p:cNvPr>
            <p:cNvCxnSpPr/>
            <p:nvPr/>
          </p:nvCxnSpPr>
          <p:spPr>
            <a:xfrm>
              <a:off x="4572006" y="2391994"/>
              <a:ext cx="0" cy="36004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315897-7738-4523-8BAE-B97D3FF94A54}"/>
                    </a:ext>
                  </a:extLst>
                </p:cNvPr>
                <p:cNvSpPr/>
                <p:nvPr/>
              </p:nvSpPr>
              <p:spPr>
                <a:xfrm>
                  <a:off x="8128389" y="2717552"/>
                  <a:ext cx="444929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s-AR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es-A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𝑝</m:t>
                            </m:r>
                          </m:e>
                        </m:acc>
                      </m:oMath>
                    </m:oMathPara>
                  </a14:m>
                  <a:endParaRPr lang="es-A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315897-7738-4523-8BAE-B97D3FF94A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8389" y="2717552"/>
                  <a:ext cx="444929" cy="461665"/>
                </a:xfrm>
                <a:prstGeom prst="rect">
                  <a:avLst/>
                </a:prstGeom>
                <a:blipFill>
                  <a:blip r:embed="rId2"/>
                  <a:stretch>
                    <a:fillRect t="-1333" r="-49315" b="-13333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C6E768-9A69-48B2-93BD-EEB1E6D98A8C}"/>
                </a:ext>
              </a:extLst>
            </p:cNvPr>
            <p:cNvCxnSpPr/>
            <p:nvPr/>
          </p:nvCxnSpPr>
          <p:spPr>
            <a:xfrm>
              <a:off x="6876262" y="2389381"/>
              <a:ext cx="0" cy="36004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D663A57-D644-45BF-A4FE-CAA485DBFDDF}"/>
                </a:ext>
              </a:extLst>
            </p:cNvPr>
            <p:cNvCxnSpPr/>
            <p:nvPr/>
          </p:nvCxnSpPr>
          <p:spPr>
            <a:xfrm>
              <a:off x="4571994" y="2076465"/>
              <a:ext cx="2304256" cy="0"/>
            </a:xfrm>
            <a:prstGeom prst="straightConnector1">
              <a:avLst/>
            </a:prstGeom>
            <a:ln w="38100">
              <a:headEnd type="triangle" w="med" len="med"/>
              <a:tailEnd type="triangl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96872A3-BE59-4067-8955-6B5927BBD805}"/>
                    </a:ext>
                  </a:extLst>
                </p:cNvPr>
                <p:cNvSpPr/>
                <p:nvPr/>
              </p:nvSpPr>
              <p:spPr>
                <a:xfrm>
                  <a:off x="5497953" y="1412776"/>
                  <a:ext cx="45236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∆</m:t>
                        </m:r>
                      </m:oMath>
                    </m:oMathPara>
                  </a14:m>
                  <a:endParaRPr lang="es-A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96872A3-BE59-4067-8955-6B5927BBD8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953" y="1412776"/>
                  <a:ext cx="452367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CD2FDFE-0E16-4902-B2A4-BF2E71D18A76}"/>
                    </a:ext>
                  </a:extLst>
                </p:cNvPr>
                <p:cNvSpPr/>
                <p:nvPr/>
              </p:nvSpPr>
              <p:spPr>
                <a:xfrm>
                  <a:off x="4310636" y="2717552"/>
                  <a:ext cx="58054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s-A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lang="es-A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A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CD2FDFE-0E16-4902-B2A4-BF2E71D18A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0636" y="2717552"/>
                  <a:ext cx="580544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F74BE02B-640F-4460-9DAC-F120203C8246}"/>
                    </a:ext>
                  </a:extLst>
                </p:cNvPr>
                <p:cNvSpPr/>
                <p:nvPr/>
              </p:nvSpPr>
              <p:spPr>
                <a:xfrm>
                  <a:off x="6576304" y="2717552"/>
                  <a:ext cx="562846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AR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lang="es-AR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s-A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A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F74BE02B-640F-4460-9DAC-F120203C82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6304" y="2717552"/>
                  <a:ext cx="562846" cy="461665"/>
                </a:xfrm>
                <a:prstGeom prst="rect">
                  <a:avLst/>
                </a:prstGeom>
                <a:blipFill>
                  <a:blip r:embed="rId5"/>
                  <a:stretch>
                    <a:fillRect t="-1333" r="-31522" b="-13333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A94A8F0-F7B4-4D8D-B7E0-9E247BF439F1}"/>
                  </a:ext>
                </a:extLst>
              </p:cNvPr>
              <p:cNvSpPr/>
              <p:nvPr/>
            </p:nvSpPr>
            <p:spPr>
              <a:xfrm>
                <a:off x="2544067" y="4676879"/>
                <a:ext cx="4055854" cy="11835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A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b>
                      </m:sSub>
                      <m:rad>
                        <m:radPr>
                          <m:degHide m:val="on"/>
                          <m:ctrlPr>
                            <a:rPr lang="es-A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AR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s-A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A94A8F0-F7B4-4D8D-B7E0-9E247BF439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067" y="4676879"/>
                <a:ext cx="4055854" cy="11835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D2048BA-56C1-4568-88E7-DBFA15BDED83}"/>
                  </a:ext>
                </a:extLst>
              </p:cNvPr>
              <p:cNvSpPr/>
              <p:nvPr/>
            </p:nvSpPr>
            <p:spPr>
              <a:xfrm>
                <a:off x="3663770" y="2275129"/>
                <a:ext cx="163256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D2048BA-56C1-4568-88E7-DBFA15BDED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770" y="2275129"/>
                <a:ext cx="1632563" cy="461665"/>
              </a:xfrm>
              <a:prstGeom prst="rect">
                <a:avLst/>
              </a:prstGeom>
              <a:blipFill>
                <a:blip r:embed="rId7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18150C0-CE8A-41C1-93AE-F8C02723D65D}"/>
                  </a:ext>
                </a:extLst>
              </p:cNvPr>
              <p:cNvSpPr/>
              <p:nvPr/>
            </p:nvSpPr>
            <p:spPr>
              <a:xfrm>
                <a:off x="3649737" y="1628800"/>
                <a:ext cx="163968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18150C0-CE8A-41C1-93AE-F8C02723D6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9737" y="1628800"/>
                <a:ext cx="1639680" cy="461665"/>
              </a:xfrm>
              <a:prstGeom prst="rect">
                <a:avLst/>
              </a:prstGeom>
              <a:blipFill>
                <a:blip r:embed="rId8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0777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Regla</a:t>
            </a:r>
            <a:r>
              <a:rPr lang="en-US" sz="3600" dirty="0"/>
              <a:t> de </a:t>
            </a:r>
            <a:r>
              <a:rPr lang="en-US" sz="3600" dirty="0" err="1"/>
              <a:t>decisión</a:t>
            </a:r>
            <a:endParaRPr 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8EC67E-C974-4934-90FA-85ADD21BE5CE}"/>
              </a:ext>
            </a:extLst>
          </p:cNvPr>
          <p:cNvSpPr/>
          <p:nvPr/>
        </p:nvSpPr>
        <p:spPr>
          <a:xfrm>
            <a:off x="1043608" y="1827258"/>
            <a:ext cx="766884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s-ES" altLang="en-US" sz="2400" dirty="0"/>
              <a:t>Si la </a:t>
            </a:r>
            <a:r>
              <a:rPr lang="es-ES" altLang="en-US" sz="2400" dirty="0" err="1"/>
              <a:t>hipótesis</a:t>
            </a:r>
            <a:r>
              <a:rPr lang="es-ES" altLang="en-US" sz="2400" dirty="0"/>
              <a:t> nula fuera falsa: ¿qué error estaríamos cometiendo?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B67174-5302-4A54-A9A3-B1C41DEAB3C5}"/>
              </a:ext>
            </a:extLst>
          </p:cNvPr>
          <p:cNvSpPr/>
          <p:nvPr/>
        </p:nvSpPr>
        <p:spPr>
          <a:xfrm>
            <a:off x="1043608" y="2797322"/>
            <a:ext cx="76688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s-ES" altLang="en-US" sz="2400" dirty="0"/>
              <a:t>Va a depender de “qué tan falsa” sea…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7502A3A-1372-4DC2-A0D9-08430A990323}"/>
                  </a:ext>
                </a:extLst>
              </p:cNvPr>
              <p:cNvSpPr/>
              <p:nvPr/>
            </p:nvSpPr>
            <p:spPr>
              <a:xfrm>
                <a:off x="2190477" y="3382835"/>
                <a:ext cx="5326010" cy="12813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(1−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7502A3A-1372-4DC2-A0D9-08430A9903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477" y="3382835"/>
                <a:ext cx="5326010" cy="12813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BFB8BF1-F643-4CFC-8EE6-ADDCEEC90937}"/>
                  </a:ext>
                </a:extLst>
              </p:cNvPr>
              <p:cNvSpPr/>
              <p:nvPr/>
            </p:nvSpPr>
            <p:spPr>
              <a:xfrm>
                <a:off x="1835696" y="5026590"/>
                <a:ext cx="245676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m:rPr>
                          <m:nor/>
                        </m:rPr>
                        <a:rPr lang="es-AR" altLang="en-US" sz="2400" dirty="0">
                          <a:solidFill>
                            <a:schemeClr val="tx1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BFB8BF1-F643-4CFC-8EE6-ADDCEEC909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5026590"/>
                <a:ext cx="2456763" cy="461665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E0638A7F-C6ED-4A4B-AD5D-270B56CA8E0B}"/>
              </a:ext>
            </a:extLst>
          </p:cNvPr>
          <p:cNvSpPr/>
          <p:nvPr/>
        </p:nvSpPr>
        <p:spPr>
          <a:xfrm>
            <a:off x="1079618" y="4305011"/>
            <a:ext cx="76688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s-ES" altLang="en-US" sz="2400" dirty="0"/>
              <a:t>Algunos valores conocidos: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6044D05-3D64-4E55-94F6-3AE91BA8804E}"/>
                  </a:ext>
                </a:extLst>
              </p:cNvPr>
              <p:cNvSpPr/>
              <p:nvPr/>
            </p:nvSpPr>
            <p:spPr>
              <a:xfrm>
                <a:off x="5491270" y="5404162"/>
                <a:ext cx="14552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6044D05-3D64-4E55-94F6-3AE91BA880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1270" y="5404162"/>
                <a:ext cx="1455270" cy="461665"/>
              </a:xfrm>
              <a:prstGeom prst="rect">
                <a:avLst/>
              </a:prstGeom>
              <a:blipFill>
                <a:blip r:embed="rId4"/>
                <a:stretch>
                  <a:fillRect l="-418" b="-2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69BBF59-D0D9-45E4-9067-AE0AA8842A03}"/>
                  </a:ext>
                </a:extLst>
              </p:cNvPr>
              <p:cNvSpPr/>
              <p:nvPr/>
            </p:nvSpPr>
            <p:spPr>
              <a:xfrm>
                <a:off x="1846103" y="5775647"/>
                <a:ext cx="181703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69BBF59-D0D9-45E4-9067-AE0AA8842A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103" y="5775647"/>
                <a:ext cx="1817036" cy="461665"/>
              </a:xfrm>
              <a:prstGeom prst="rect">
                <a:avLst/>
              </a:prstGeom>
              <a:blipFill>
                <a:blip r:embed="rId5"/>
                <a:stretch>
                  <a:fillRect l="-336" t="-1316" b="-197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734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22" grpId="0"/>
      <p:bldP spid="26" grpId="0"/>
      <p:bldP spid="27" grpId="0"/>
      <p:bldP spid="28" grpId="0"/>
      <p:bldP spid="2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AR" sz="3600" dirty="0"/>
              <a:t>Valor p</a:t>
            </a:r>
            <a:endParaRPr lang="en-US" sz="3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5E0D61-F88B-42DF-B0D9-754A000CED4B}"/>
              </a:ext>
            </a:extLst>
          </p:cNvPr>
          <p:cNvSpPr/>
          <p:nvPr/>
        </p:nvSpPr>
        <p:spPr>
          <a:xfrm>
            <a:off x="1093262" y="1772816"/>
            <a:ext cx="75111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s-AR" altLang="en-US" sz="2400" dirty="0">
                <a:solidFill>
                  <a:prstClr val="black"/>
                </a:solidFill>
              </a:rPr>
              <a:t>El valor p se define como la probabilidad de que, si la </a:t>
            </a:r>
            <a:r>
              <a:rPr lang="es-AR" altLang="en-US" sz="2400" dirty="0" err="1">
                <a:solidFill>
                  <a:prstClr val="black"/>
                </a:solidFill>
              </a:rPr>
              <a:t>hipótesis</a:t>
            </a:r>
            <a:r>
              <a:rPr lang="es-AR" altLang="en-US" sz="2400" dirty="0">
                <a:solidFill>
                  <a:prstClr val="black"/>
                </a:solidFill>
              </a:rPr>
              <a:t> nula es verdadera, el estadístico de prueba dé tan mal o peor de lo que dio.</a:t>
            </a:r>
            <a:endParaRPr lang="es-ES" altLang="en-US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7A9A449-BFED-4D63-824D-96A5C2C5CBC0}"/>
                  </a:ext>
                </a:extLst>
              </p:cNvPr>
              <p:cNvSpPr/>
              <p:nvPr/>
            </p:nvSpPr>
            <p:spPr>
              <a:xfrm>
                <a:off x="1237684" y="3932003"/>
                <a:ext cx="6668620" cy="12813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en-US" sz="2400" i="0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en-US" sz="2400" b="0" i="0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alor</m:t>
                      </m:r>
                      <m:r>
                        <m:rPr>
                          <m:nor/>
                        </m:rPr>
                        <a:rPr lang="en-US" altLang="en-US" sz="2400" b="0" i="0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en-US" sz="2400" b="0" i="0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s-AR" altLang="en-US" sz="24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s-AR" sz="2400" i="1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AR" sz="2400" i="1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s-AR" alt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AR" sz="2400" i="1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es-AR" altLang="en-US" sz="24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s-AR" sz="2400" i="1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AR" sz="2400" i="1">
                                      <a:solidFill>
                                        <a:srgbClr val="402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solidFill>
                                        <a:srgbClr val="402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sz="2400" i="1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</a:rPr>
                                <m:t>𝑜𝑏𝑠</m:t>
                              </m:r>
                            </m:sub>
                          </m:sSub>
                        </m:e>
                      </m:d>
                      <m:r>
                        <a:rPr lang="es-AR" altLang="en-US" sz="24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l-GR" altLang="en-US" sz="24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en-US" sz="24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rgbClr val="402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s-AR" sz="2400" i="1">
                                          <a:solidFill>
                                            <a:srgbClr val="402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2400" i="1">
                                          <a:solidFill>
                                            <a:srgbClr val="402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rgbClr val="402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𝑜𝑏𝑠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rgbClr val="402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solidFill>
                                        <a:srgbClr val="402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rgbClr val="402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s-AR" sz="2400" i="1">
                                      <a:solidFill>
                                        <a:srgbClr val="402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s-AR" sz="2400" i="1">
                                          <a:solidFill>
                                            <a:srgbClr val="402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s-AR" sz="2400" i="1">
                                              <a:solidFill>
                                                <a:srgbClr val="402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AR" sz="2400" i="1">
                                              <a:solidFill>
                                                <a:srgbClr val="402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s-AR" sz="2400" i="1">
                                              <a:solidFill>
                                                <a:srgbClr val="402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s-AR" sz="2400" i="1">
                                          <a:solidFill>
                                            <a:srgbClr val="402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(1−</m:t>
                                      </m:r>
                                      <m:sSub>
                                        <m:sSubPr>
                                          <m:ctrlPr>
                                            <a:rPr lang="es-AR" sz="2400" i="1">
                                              <a:solidFill>
                                                <a:srgbClr val="402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AR" sz="2400" i="1">
                                              <a:solidFill>
                                                <a:srgbClr val="402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s-AR" sz="2400" i="1">
                                              <a:solidFill>
                                                <a:srgbClr val="402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s-AR" sz="2400" i="1">
                                          <a:solidFill>
                                            <a:srgbClr val="402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a:rPr lang="es-AR" sz="2400" i="1">
                                          <a:solidFill>
                                            <a:srgbClr val="402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7A9A449-BFED-4D63-824D-96A5C2C5CB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684" y="3932003"/>
                <a:ext cx="6668620" cy="12813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947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Otro</a:t>
            </a:r>
            <a:r>
              <a:rPr lang="en-US" sz="3600" dirty="0"/>
              <a:t> </a:t>
            </a:r>
            <a:r>
              <a:rPr lang="en-US" sz="3600" dirty="0" err="1"/>
              <a:t>ejemplo</a:t>
            </a:r>
            <a:endParaRPr 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8EC67E-C974-4934-90FA-85ADD21BE5CE}"/>
              </a:ext>
            </a:extLst>
          </p:cNvPr>
          <p:cNvSpPr/>
          <p:nvPr/>
        </p:nvSpPr>
        <p:spPr>
          <a:xfrm>
            <a:off x="1043608" y="1827258"/>
            <a:ext cx="766884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s-AR" altLang="en-US" sz="2400" dirty="0"/>
              <a:t>Una máquina dosificadora en una operación de producción se debe ajustar si el porcentaje de envases con falta de llenado es significativamente superior al 8%. En una muestra aleatoria de 145 envases de la producción de un día se encontraron 18 envases incompletos en su llenado. </a:t>
            </a:r>
          </a:p>
          <a:p>
            <a:pPr algn="just" eaLnBrk="1" hangingPunct="1"/>
            <a:r>
              <a:rPr lang="es-AR" altLang="en-US" sz="2400" dirty="0"/>
              <a:t>¿Indican los resultados que hay que ajustar la máquina dosificadora?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161203-F9B8-4C68-A74D-5A4F258968FD}"/>
              </a:ext>
            </a:extLst>
          </p:cNvPr>
          <p:cNvSpPr/>
          <p:nvPr/>
        </p:nvSpPr>
        <p:spPr>
          <a:xfrm>
            <a:off x="1023680" y="5107425"/>
            <a:ext cx="8280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s-AR" altLang="en-US" sz="2400" dirty="0"/>
              <a:t>Utilizar un nivel de significación del 5%.</a:t>
            </a:r>
          </a:p>
        </p:txBody>
      </p:sp>
    </p:spTree>
    <p:extLst>
      <p:ext uri="{BB962C8B-B14F-4D97-AF65-F5344CB8AC3E}">
        <p14:creationId xmlns:p14="http://schemas.microsoft.com/office/powerpoint/2010/main" val="181706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Otro</a:t>
            </a:r>
            <a:r>
              <a:rPr lang="en-US" sz="3600" dirty="0"/>
              <a:t> </a:t>
            </a:r>
            <a:r>
              <a:rPr lang="en-US" sz="3600" dirty="0" err="1"/>
              <a:t>ejemplo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4B71819-A31E-45E4-9A2A-EFDD89B01BEA}"/>
                  </a:ext>
                </a:extLst>
              </p:cNvPr>
              <p:cNvSpPr/>
              <p:nvPr/>
            </p:nvSpPr>
            <p:spPr>
              <a:xfrm>
                <a:off x="3663770" y="2463279"/>
                <a:ext cx="189391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&gt;0.08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4B71819-A31E-45E4-9A2A-EFDD89B01B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770" y="2463279"/>
                <a:ext cx="1893916" cy="461665"/>
              </a:xfrm>
              <a:prstGeom prst="rect">
                <a:avLst/>
              </a:prstGeom>
              <a:blipFill>
                <a:blip r:embed="rId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3E256DE-A811-484B-B19D-377301F88673}"/>
                  </a:ext>
                </a:extLst>
              </p:cNvPr>
              <p:cNvSpPr/>
              <p:nvPr/>
            </p:nvSpPr>
            <p:spPr>
              <a:xfrm>
                <a:off x="3649737" y="1816950"/>
                <a:ext cx="190103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.08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3E256DE-A811-484B-B19D-377301F886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9737" y="1816950"/>
                <a:ext cx="1901033" cy="461665"/>
              </a:xfrm>
              <a:prstGeom prst="rect">
                <a:avLst/>
              </a:prstGeom>
              <a:blipFill>
                <a:blip r:embed="rId3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7077E05-D666-44E5-8825-035C6CCC1F9E}"/>
                  </a:ext>
                </a:extLst>
              </p:cNvPr>
              <p:cNvSpPr/>
              <p:nvPr/>
            </p:nvSpPr>
            <p:spPr>
              <a:xfrm>
                <a:off x="1813785" y="3141260"/>
                <a:ext cx="5572936" cy="11835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A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0.08+</m:t>
                      </m:r>
                      <m:r>
                        <a:rPr lang="es-AR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A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.6449</m:t>
                      </m:r>
                      <m:rad>
                        <m:radPr>
                          <m:degHide m:val="on"/>
                          <m:ctrlPr>
                            <a:rPr lang="es-A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AR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0.08 0.92</m:t>
                              </m:r>
                            </m:num>
                            <m:den>
                              <m:r>
                                <a:rPr lang="es-A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145</m:t>
                              </m:r>
                            </m:den>
                          </m:f>
                        </m:e>
                      </m:rad>
                      <m:r>
                        <a:rPr lang="es-A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=0.1171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7077E05-D666-44E5-8825-035C6CCC1F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785" y="3141260"/>
                <a:ext cx="5572936" cy="11835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C8BA20F-86BF-4258-BCA8-7BFD43E8EF44}"/>
                  </a:ext>
                </a:extLst>
              </p:cNvPr>
              <p:cNvSpPr/>
              <p:nvPr/>
            </p:nvSpPr>
            <p:spPr>
              <a:xfrm>
                <a:off x="855135" y="4587819"/>
                <a:ext cx="7511185" cy="6169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A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A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A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s-A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𝑜𝑏𝑠</m:t>
                        </m:r>
                      </m:sub>
                    </m:sSub>
                    <m:r>
                      <a:rPr lang="es-AR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s-AR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145</m:t>
                        </m:r>
                      </m:den>
                    </m:f>
                    <m:r>
                      <a:rPr lang="es-A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=0.1241</m:t>
                    </m:r>
                    <m:r>
                      <a:rPr lang="es-A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 err="1">
                    <a:solidFill>
                      <a:schemeClr val="tx1"/>
                    </a:solidFill>
                  </a:rPr>
                  <a:t>Rechazamos</a:t>
                </a:r>
                <a:r>
                  <a:rPr lang="en-US" sz="2400" dirty="0">
                    <a:solidFill>
                      <a:schemeClr val="tx1"/>
                    </a:solidFill>
                  </a:rPr>
                  <a:t> la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hipótesis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nula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C8BA20F-86BF-4258-BCA8-7BFD43E8EF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35" y="4587819"/>
                <a:ext cx="7511185" cy="616964"/>
              </a:xfrm>
              <a:prstGeom prst="rect">
                <a:avLst/>
              </a:prstGeom>
              <a:blipFill>
                <a:blip r:embed="rId5"/>
                <a:stretch>
                  <a:fillRect b="-89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614FF36-8833-4504-81CE-87928D011479}"/>
                  </a:ext>
                </a:extLst>
              </p:cNvPr>
              <p:cNvSpPr/>
              <p:nvPr/>
            </p:nvSpPr>
            <p:spPr>
              <a:xfrm>
                <a:off x="287518" y="5432782"/>
                <a:ext cx="8568952" cy="10831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en-US" sz="2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Valor</m:t>
                      </m:r>
                      <m:r>
                        <m:rPr>
                          <m:nor/>
                        </m:rPr>
                        <a:rPr lang="en-US" altLang="en-US" sz="2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en-US" sz="2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s-AR" alt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s-A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A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s-AR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A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es-AR" alt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s-A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0.1241</m:t>
                          </m:r>
                        </m:e>
                      </m:d>
                      <m:r>
                        <a:rPr lang="es-AR" alt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l-GR" alt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0.1241</m:t>
                              </m:r>
                              <m:r>
                                <a:rPr lang="es-A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0.08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s-AR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s-AR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AR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0.08 0.92</m:t>
                                      </m:r>
                                    </m:num>
                                    <m:den>
                                      <m:r>
                                        <a:rPr lang="es-AR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145</m:t>
                                      </m:r>
                                    </m:den>
                                  </m:f>
                                </m:e>
                              </m:rad>
                            </m:den>
                          </m:f>
                        </m:e>
                      </m:d>
                      <m:r>
                        <a:rPr lang="es-A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=0.0251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614FF36-8833-4504-81CE-87928D0114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18" y="5432782"/>
                <a:ext cx="8568952" cy="10831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0362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Otro</a:t>
            </a:r>
            <a:r>
              <a:rPr lang="en-US" sz="3600" dirty="0"/>
              <a:t> </a:t>
            </a:r>
            <a:r>
              <a:rPr lang="en-US" sz="3600" dirty="0" err="1"/>
              <a:t>ejemplo</a:t>
            </a:r>
            <a:endParaRPr lang="en-US"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E26288-C63C-4D95-9C89-A2A214D53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56" y="1556792"/>
            <a:ext cx="7712108" cy="505402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DD0E34-EED6-4636-994E-37FE4F0F0044}"/>
              </a:ext>
            </a:extLst>
          </p:cNvPr>
          <p:cNvCxnSpPr/>
          <p:nvPr/>
        </p:nvCxnSpPr>
        <p:spPr>
          <a:xfrm>
            <a:off x="3704729" y="4077072"/>
            <a:ext cx="0" cy="2088232"/>
          </a:xfrm>
          <a:prstGeom prst="line">
            <a:avLst/>
          </a:prstGeom>
          <a:ln w="76200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4166900-4097-4DBC-88CD-9DF1E64D7E29}"/>
                  </a:ext>
                </a:extLst>
              </p:cNvPr>
              <p:cNvSpPr/>
              <p:nvPr/>
            </p:nvSpPr>
            <p:spPr>
              <a:xfrm>
                <a:off x="3467959" y="6127249"/>
                <a:ext cx="56380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A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s-AR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4166900-4097-4DBC-88CD-9DF1E64D7E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959" y="6127249"/>
                <a:ext cx="563809" cy="461665"/>
              </a:xfrm>
              <a:prstGeom prst="rect">
                <a:avLst/>
              </a:prstGeom>
              <a:blipFill>
                <a:blip r:embed="rId3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7437548-32E8-469C-82F3-D67DBBA314AA}"/>
                  </a:ext>
                </a:extLst>
              </p:cNvPr>
              <p:cNvSpPr/>
              <p:nvPr/>
            </p:nvSpPr>
            <p:spPr>
              <a:xfrm>
                <a:off x="2726810" y="2223194"/>
                <a:ext cx="130151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m:rPr>
                          <m:nor/>
                        </m:rPr>
                        <a:rPr lang="es-AR" altLang="en-US" sz="2400" dirty="0">
                          <a:solidFill>
                            <a:srgbClr val="00B050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7437548-32E8-469C-82F3-D67DBBA31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810" y="2223194"/>
                <a:ext cx="130151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90BC715-AF02-402C-99BD-35739875A066}"/>
              </a:ext>
            </a:extLst>
          </p:cNvPr>
          <p:cNvCxnSpPr>
            <a:cxnSpLocks/>
          </p:cNvCxnSpPr>
          <p:nvPr/>
        </p:nvCxnSpPr>
        <p:spPr>
          <a:xfrm flipH="1">
            <a:off x="1724064" y="2439218"/>
            <a:ext cx="864096" cy="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598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Regla</a:t>
            </a:r>
            <a:r>
              <a:rPr lang="en-US" sz="3600" dirty="0"/>
              <a:t> de </a:t>
            </a:r>
            <a:r>
              <a:rPr lang="en-US" sz="3600" dirty="0" err="1"/>
              <a:t>decisión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541A53-F421-4942-852C-009DBE489110}"/>
                  </a:ext>
                </a:extLst>
              </p:cNvPr>
              <p:cNvSpPr/>
              <p:nvPr/>
            </p:nvSpPr>
            <p:spPr>
              <a:xfrm>
                <a:off x="3711453" y="2190055"/>
                <a:ext cx="162602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541A53-F421-4942-852C-009DBE4891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453" y="2190055"/>
                <a:ext cx="1626022" cy="461665"/>
              </a:xfrm>
              <a:prstGeom prst="rect">
                <a:avLst/>
              </a:prstGeom>
              <a:blipFill>
                <a:blip r:embed="rId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AC33B5D-97BC-4A7E-9BC4-8C56D122D407}"/>
                  </a:ext>
                </a:extLst>
              </p:cNvPr>
              <p:cNvSpPr/>
              <p:nvPr/>
            </p:nvSpPr>
            <p:spPr>
              <a:xfrm>
                <a:off x="3697420" y="1543726"/>
                <a:ext cx="163313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AC33B5D-97BC-4A7E-9BC4-8C56D122D4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420" y="1543726"/>
                <a:ext cx="1633139" cy="461665"/>
              </a:xfrm>
              <a:prstGeom prst="rect">
                <a:avLst/>
              </a:prstGeom>
              <a:blipFill>
                <a:blip r:embed="rId3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6DC98801-C579-427E-8F9C-99993A153FA6}"/>
              </a:ext>
            </a:extLst>
          </p:cNvPr>
          <p:cNvGrpSpPr/>
          <p:nvPr/>
        </p:nvGrpSpPr>
        <p:grpSpPr>
          <a:xfrm>
            <a:off x="624394" y="3068960"/>
            <a:ext cx="7895211" cy="1656545"/>
            <a:chOff x="678107" y="1522672"/>
            <a:chExt cx="7895211" cy="165654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4DA2A5E-4338-4453-B012-1B19668FAD23}"/>
                </a:ext>
              </a:extLst>
            </p:cNvPr>
            <p:cNvCxnSpPr>
              <a:cxnSpLocks/>
            </p:cNvCxnSpPr>
            <p:nvPr/>
          </p:nvCxnSpPr>
          <p:spPr>
            <a:xfrm>
              <a:off x="678107" y="2569401"/>
              <a:ext cx="7854339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947A33-F48C-414C-B907-91F4DFC8669A}"/>
                </a:ext>
              </a:extLst>
            </p:cNvPr>
            <p:cNvCxnSpPr/>
            <p:nvPr/>
          </p:nvCxnSpPr>
          <p:spPr>
            <a:xfrm>
              <a:off x="4572006" y="2391994"/>
              <a:ext cx="0" cy="36004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315897-7738-4523-8BAE-B97D3FF94A54}"/>
                    </a:ext>
                  </a:extLst>
                </p:cNvPr>
                <p:cNvSpPr/>
                <p:nvPr/>
              </p:nvSpPr>
              <p:spPr>
                <a:xfrm>
                  <a:off x="8128389" y="2717552"/>
                  <a:ext cx="444929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s-AR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A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oMath>
                    </m:oMathPara>
                  </a14:m>
                  <a:endParaRPr lang="es-A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315897-7738-4523-8BAE-B97D3FF94A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8389" y="2717552"/>
                  <a:ext cx="444929" cy="461665"/>
                </a:xfrm>
                <a:prstGeom prst="rect">
                  <a:avLst/>
                </a:prstGeom>
                <a:blipFill>
                  <a:blip r:embed="rId4"/>
                  <a:stretch>
                    <a:fillRect t="-1316" r="-47945" b="-13158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C6E768-9A69-48B2-93BD-EEB1E6D98A8C}"/>
                </a:ext>
              </a:extLst>
            </p:cNvPr>
            <p:cNvCxnSpPr/>
            <p:nvPr/>
          </p:nvCxnSpPr>
          <p:spPr>
            <a:xfrm>
              <a:off x="2307969" y="2389381"/>
              <a:ext cx="0" cy="36004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D663A57-D644-45BF-A4FE-CAA485DBFDDF}"/>
                </a:ext>
              </a:extLst>
            </p:cNvPr>
            <p:cNvCxnSpPr/>
            <p:nvPr/>
          </p:nvCxnSpPr>
          <p:spPr>
            <a:xfrm>
              <a:off x="2267750" y="2069480"/>
              <a:ext cx="2304256" cy="0"/>
            </a:xfrm>
            <a:prstGeom prst="straightConnector1">
              <a:avLst/>
            </a:prstGeom>
            <a:ln w="38100">
              <a:headEnd type="triangle" w="med" len="med"/>
              <a:tailEnd type="triangl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96872A3-BE59-4067-8955-6B5927BBD805}"/>
                    </a:ext>
                  </a:extLst>
                </p:cNvPr>
                <p:cNvSpPr/>
                <p:nvPr/>
              </p:nvSpPr>
              <p:spPr>
                <a:xfrm>
                  <a:off x="3193694" y="1522672"/>
                  <a:ext cx="45236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∆</m:t>
                        </m:r>
                      </m:oMath>
                    </m:oMathPara>
                  </a14:m>
                  <a:endParaRPr lang="es-A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96872A3-BE59-4067-8955-6B5927BBD8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3694" y="1522672"/>
                  <a:ext cx="452367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CD2FDFE-0E16-4902-B2A4-BF2E71D18A76}"/>
                    </a:ext>
                  </a:extLst>
                </p:cNvPr>
                <p:cNvSpPr/>
                <p:nvPr/>
              </p:nvSpPr>
              <p:spPr>
                <a:xfrm>
                  <a:off x="4310636" y="2717552"/>
                  <a:ext cx="58054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s-A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lang="es-A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A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CD2FDFE-0E16-4902-B2A4-BF2E71D18A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0636" y="2717552"/>
                  <a:ext cx="580544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3158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9AFB905-85FC-4A2E-9A5F-AEF1C13B664A}"/>
                  </a:ext>
                </a:extLst>
              </p:cNvPr>
              <p:cNvSpPr/>
              <p:nvPr/>
            </p:nvSpPr>
            <p:spPr>
              <a:xfrm>
                <a:off x="2486542" y="5445251"/>
                <a:ext cx="4054893" cy="11835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A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b>
                      </m:sSub>
                      <m:rad>
                        <m:radPr>
                          <m:degHide m:val="on"/>
                          <m:ctrlP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9AFB905-85FC-4A2E-9A5F-AEF1C13B66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542" y="5445251"/>
                <a:ext cx="4054893" cy="11835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34946A4-F74F-40BD-B522-C67060D72E69}"/>
                  </a:ext>
                </a:extLst>
              </p:cNvPr>
              <p:cNvSpPr/>
              <p:nvPr/>
            </p:nvSpPr>
            <p:spPr>
              <a:xfrm>
                <a:off x="1972833" y="4263840"/>
                <a:ext cx="56284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34946A4-F74F-40BD-B522-C67060D72E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833" y="4263840"/>
                <a:ext cx="562846" cy="461665"/>
              </a:xfrm>
              <a:prstGeom prst="rect">
                <a:avLst/>
              </a:prstGeom>
              <a:blipFill>
                <a:blip r:embed="rId8"/>
                <a:stretch>
                  <a:fillRect t="-1316" r="-31522" b="-131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0928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8" grpId="0"/>
      <p:bldP spid="2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Regla</a:t>
            </a:r>
            <a:r>
              <a:rPr lang="en-US" sz="3600" dirty="0"/>
              <a:t> de </a:t>
            </a:r>
            <a:r>
              <a:rPr lang="en-US" sz="3600" dirty="0" err="1"/>
              <a:t>decisión</a:t>
            </a:r>
            <a:endParaRPr 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8EC67E-C974-4934-90FA-85ADD21BE5CE}"/>
              </a:ext>
            </a:extLst>
          </p:cNvPr>
          <p:cNvSpPr/>
          <p:nvPr/>
        </p:nvSpPr>
        <p:spPr>
          <a:xfrm>
            <a:off x="971600" y="1827258"/>
            <a:ext cx="77408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s-ES" altLang="en-US" sz="2400" dirty="0"/>
              <a:t>Si la </a:t>
            </a:r>
            <a:r>
              <a:rPr lang="es-ES" altLang="en-US" sz="2400" dirty="0" err="1"/>
              <a:t>hipótesis</a:t>
            </a:r>
            <a:r>
              <a:rPr lang="es-ES" altLang="en-US" sz="2400" dirty="0"/>
              <a:t> nula fuera falsa: ¿qué error estaríamos cometiendo?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B67174-5302-4A54-A9A3-B1C41DEAB3C5}"/>
              </a:ext>
            </a:extLst>
          </p:cNvPr>
          <p:cNvSpPr/>
          <p:nvPr/>
        </p:nvSpPr>
        <p:spPr>
          <a:xfrm>
            <a:off x="971600" y="2797322"/>
            <a:ext cx="77408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s-ES" altLang="en-US" sz="2400" dirty="0"/>
              <a:t>Va a depender de “qué tan falsa” sea…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7502A3A-1372-4DC2-A0D9-08430A990323}"/>
                  </a:ext>
                </a:extLst>
              </p:cNvPr>
              <p:cNvSpPr/>
              <p:nvPr/>
            </p:nvSpPr>
            <p:spPr>
              <a:xfrm>
                <a:off x="1742027" y="3396823"/>
                <a:ext cx="5731954" cy="12813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l-G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(1−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7502A3A-1372-4DC2-A0D9-08430A9903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2027" y="3396823"/>
                <a:ext cx="5731954" cy="12813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E0638A7F-C6ED-4A4B-AD5D-270B56CA8E0B}"/>
              </a:ext>
            </a:extLst>
          </p:cNvPr>
          <p:cNvSpPr/>
          <p:nvPr/>
        </p:nvSpPr>
        <p:spPr>
          <a:xfrm>
            <a:off x="1043608" y="4740134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s-ES" altLang="en-US" sz="2400" dirty="0"/>
              <a:t>Algunos valores conocidos: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CD709CA-2307-423C-80E7-ECA6E0CBF1AE}"/>
                  </a:ext>
                </a:extLst>
              </p:cNvPr>
              <p:cNvSpPr/>
              <p:nvPr/>
            </p:nvSpPr>
            <p:spPr>
              <a:xfrm>
                <a:off x="1763688" y="5458638"/>
                <a:ext cx="245676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m:rPr>
                          <m:nor/>
                        </m:rPr>
                        <a:rPr lang="es-AR" altLang="en-US" sz="2400" dirty="0">
                          <a:solidFill>
                            <a:schemeClr val="tx1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CD709CA-2307-423C-80E7-ECA6E0CBF1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5458638"/>
                <a:ext cx="2456763" cy="461665"/>
              </a:xfrm>
              <a:prstGeom prst="rect">
                <a:avLst/>
              </a:prstGeom>
              <a:blipFill>
                <a:blip r:embed="rId3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5646158-6A69-409B-A2ED-0C2BAB5B03BE}"/>
                  </a:ext>
                </a:extLst>
              </p:cNvPr>
              <p:cNvSpPr/>
              <p:nvPr/>
            </p:nvSpPr>
            <p:spPr>
              <a:xfrm>
                <a:off x="5419262" y="5836210"/>
                <a:ext cx="14552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5646158-6A69-409B-A2ED-0C2BAB5B03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262" y="5836210"/>
                <a:ext cx="1455270" cy="461665"/>
              </a:xfrm>
              <a:prstGeom prst="rect">
                <a:avLst/>
              </a:prstGeom>
              <a:blipFill>
                <a:blip r:embed="rId4"/>
                <a:stretch>
                  <a:fillRect l="-418" b="-197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F7D432D-2350-4335-95B4-7DAB3A0741AD}"/>
                  </a:ext>
                </a:extLst>
              </p:cNvPr>
              <p:cNvSpPr/>
              <p:nvPr/>
            </p:nvSpPr>
            <p:spPr>
              <a:xfrm>
                <a:off x="1774095" y="6207695"/>
                <a:ext cx="181703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F7D432D-2350-4335-95B4-7DAB3A0741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095" y="6207695"/>
                <a:ext cx="1817036" cy="461665"/>
              </a:xfrm>
              <a:prstGeom prst="rect">
                <a:avLst/>
              </a:prstGeom>
              <a:blipFill>
                <a:blip r:embed="rId5"/>
                <a:stretch>
                  <a:fillRect t="-1316" b="-197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0276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22" grpId="0"/>
      <p:bldP spid="27" grpId="0"/>
      <p:bldP spid="11" grpId="0"/>
      <p:bldP spid="12" grpId="0"/>
      <p:bldP spid="1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AR" sz="3600" dirty="0"/>
              <a:t>Valor p</a:t>
            </a:r>
            <a:endParaRPr lang="en-US" sz="3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5E0D61-F88B-42DF-B0D9-754A000CED4B}"/>
              </a:ext>
            </a:extLst>
          </p:cNvPr>
          <p:cNvSpPr/>
          <p:nvPr/>
        </p:nvSpPr>
        <p:spPr>
          <a:xfrm>
            <a:off x="1043608" y="1772816"/>
            <a:ext cx="75608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s-AR" altLang="en-US" sz="2400" dirty="0"/>
              <a:t>El valor p se define como la probabilidad de que, si la </a:t>
            </a:r>
            <a:r>
              <a:rPr lang="es-AR" altLang="en-US" sz="2400" dirty="0" err="1"/>
              <a:t>hipótesis</a:t>
            </a:r>
            <a:r>
              <a:rPr lang="es-AR" altLang="en-US" sz="2400" dirty="0"/>
              <a:t> nula es verdadera, el estadístico de prueba dé tan mal o peor de lo que dio.</a:t>
            </a:r>
            <a:endParaRPr lang="es-ES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3C519BF-3661-4418-998D-5E598EEB202E}"/>
                  </a:ext>
                </a:extLst>
              </p:cNvPr>
              <p:cNvSpPr/>
              <p:nvPr/>
            </p:nvSpPr>
            <p:spPr>
              <a:xfrm>
                <a:off x="1469676" y="3904294"/>
                <a:ext cx="6132640" cy="12813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en-US" sz="24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en-US" sz="24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alor</m:t>
                      </m:r>
                      <m:r>
                        <m:rPr>
                          <m:nor/>
                        </m:rPr>
                        <a:rPr lang="en-US" altLang="en-US" sz="24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en-US" sz="24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𝑜𝑏𝑠</m:t>
                              </m:r>
                            </m:sub>
                          </m:sSub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𝑜𝑏𝑠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s-AR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AR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s-AR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(1−</m:t>
                                      </m:r>
                                      <m:sSub>
                                        <m:sSubPr>
                                          <m:ctrlPr>
                                            <a:rPr lang="es-AR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AR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s-AR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3C519BF-3661-4418-998D-5E598EEB20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676" y="3904294"/>
                <a:ext cx="6132640" cy="12813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5216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Regla</a:t>
            </a:r>
            <a:r>
              <a:rPr lang="en-US" sz="3600" dirty="0"/>
              <a:t> de </a:t>
            </a:r>
            <a:r>
              <a:rPr lang="en-US" sz="3600" dirty="0" err="1"/>
              <a:t>decisión</a:t>
            </a:r>
            <a:endParaRPr lang="en-US" sz="36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DC98801-C579-427E-8F9C-99993A153FA6}"/>
              </a:ext>
            </a:extLst>
          </p:cNvPr>
          <p:cNvGrpSpPr/>
          <p:nvPr/>
        </p:nvGrpSpPr>
        <p:grpSpPr>
          <a:xfrm>
            <a:off x="538179" y="2725766"/>
            <a:ext cx="7895212" cy="1656545"/>
            <a:chOff x="678107" y="1522672"/>
            <a:chExt cx="7895212" cy="165654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4DA2A5E-4338-4453-B012-1B19668FAD23}"/>
                </a:ext>
              </a:extLst>
            </p:cNvPr>
            <p:cNvCxnSpPr>
              <a:cxnSpLocks/>
            </p:cNvCxnSpPr>
            <p:nvPr/>
          </p:nvCxnSpPr>
          <p:spPr>
            <a:xfrm>
              <a:off x="678107" y="2569401"/>
              <a:ext cx="7854339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947A33-F48C-414C-B907-91F4DFC8669A}"/>
                </a:ext>
              </a:extLst>
            </p:cNvPr>
            <p:cNvCxnSpPr/>
            <p:nvPr/>
          </p:nvCxnSpPr>
          <p:spPr>
            <a:xfrm>
              <a:off x="4572006" y="2391994"/>
              <a:ext cx="0" cy="36004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315897-7738-4523-8BAE-B97D3FF94A54}"/>
                    </a:ext>
                  </a:extLst>
                </p:cNvPr>
                <p:cNvSpPr/>
                <p:nvPr/>
              </p:nvSpPr>
              <p:spPr>
                <a:xfrm>
                  <a:off x="8128389" y="2717552"/>
                  <a:ext cx="44493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s-AR" sz="2400" i="1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AR" sz="2400" i="1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315897-7738-4523-8BAE-B97D3FF94A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8389" y="2717552"/>
                  <a:ext cx="444930" cy="461665"/>
                </a:xfrm>
                <a:prstGeom prst="rect">
                  <a:avLst/>
                </a:prstGeom>
                <a:blipFill>
                  <a:blip r:embed="rId3"/>
                  <a:stretch>
                    <a:fillRect t="-1316" r="-49315" b="-13158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C6E768-9A69-48B2-93BD-EEB1E6D98A8C}"/>
                </a:ext>
              </a:extLst>
            </p:cNvPr>
            <p:cNvCxnSpPr/>
            <p:nvPr/>
          </p:nvCxnSpPr>
          <p:spPr>
            <a:xfrm>
              <a:off x="2307969" y="2389381"/>
              <a:ext cx="0" cy="36004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D663A57-D644-45BF-A4FE-CAA485DBFDDF}"/>
                </a:ext>
              </a:extLst>
            </p:cNvPr>
            <p:cNvCxnSpPr/>
            <p:nvPr/>
          </p:nvCxnSpPr>
          <p:spPr>
            <a:xfrm>
              <a:off x="2267750" y="2069480"/>
              <a:ext cx="2304256" cy="0"/>
            </a:xfrm>
            <a:prstGeom prst="straightConnector1">
              <a:avLst/>
            </a:prstGeom>
            <a:ln w="38100">
              <a:headEnd type="triangle" w="med" len="med"/>
              <a:tailEnd type="triangl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96872A3-BE59-4067-8955-6B5927BBD805}"/>
                    </a:ext>
                  </a:extLst>
                </p:cNvPr>
                <p:cNvSpPr/>
                <p:nvPr/>
              </p:nvSpPr>
              <p:spPr>
                <a:xfrm>
                  <a:off x="3193694" y="1522672"/>
                  <a:ext cx="45236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i="1" smtClean="0">
                            <a:solidFill>
                              <a:srgbClr val="402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∆</m:t>
                        </m:r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96872A3-BE59-4067-8955-6B5927BBD8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3694" y="1522672"/>
                  <a:ext cx="452367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CD2FDFE-0E16-4902-B2A4-BF2E71D18A76}"/>
                    </a:ext>
                  </a:extLst>
                </p:cNvPr>
                <p:cNvSpPr/>
                <p:nvPr/>
              </p:nvSpPr>
              <p:spPr>
                <a:xfrm>
                  <a:off x="4310636" y="2717552"/>
                  <a:ext cx="574003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s-AR" sz="2400" b="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lang="es-AR" sz="2400" b="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CD2FDFE-0E16-4902-B2A4-BF2E71D18A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0636" y="2717552"/>
                  <a:ext cx="574003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3158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9BA51EA-55C7-483E-94C7-DFC0EB3355F6}"/>
                </a:ext>
              </a:extLst>
            </p:cNvPr>
            <p:cNvCxnSpPr/>
            <p:nvPr/>
          </p:nvCxnSpPr>
          <p:spPr>
            <a:xfrm>
              <a:off x="4576437" y="2069480"/>
              <a:ext cx="2304256" cy="0"/>
            </a:xfrm>
            <a:prstGeom prst="straightConnector1">
              <a:avLst/>
            </a:prstGeom>
            <a:ln w="38100">
              <a:headEnd type="triangle" w="med" len="med"/>
              <a:tailEnd type="triangl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8DE3E2-B1C3-4A63-926C-19D1A4089F38}"/>
                </a:ext>
              </a:extLst>
            </p:cNvPr>
            <p:cNvCxnSpPr/>
            <p:nvPr/>
          </p:nvCxnSpPr>
          <p:spPr>
            <a:xfrm>
              <a:off x="6851564" y="2391994"/>
              <a:ext cx="0" cy="36004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C6FED23A-327D-4152-99FD-D7B07E658572}"/>
                    </a:ext>
                  </a:extLst>
                </p:cNvPr>
                <p:cNvSpPr/>
                <p:nvPr/>
              </p:nvSpPr>
              <p:spPr>
                <a:xfrm>
                  <a:off x="5460134" y="1535807"/>
                  <a:ext cx="45236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i="1" smtClean="0">
                            <a:solidFill>
                              <a:srgbClr val="402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∆</m:t>
                        </m:r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C6FED23A-327D-4152-99FD-D7B07E6585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0134" y="1535807"/>
                  <a:ext cx="452367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9AFB905-85FC-4A2E-9A5F-AEF1C13B664A}"/>
                  </a:ext>
                </a:extLst>
              </p:cNvPr>
              <p:cNvSpPr/>
              <p:nvPr/>
            </p:nvSpPr>
            <p:spPr>
              <a:xfrm>
                <a:off x="2683939" y="4929601"/>
                <a:ext cx="3496278" cy="11835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 =</m:t>
                      </m:r>
                      <m:sSub>
                        <m:sSubPr>
                          <m:ctrlP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A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s-A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9AFB905-85FC-4A2E-9A5F-AEF1C13B66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939" y="4929601"/>
                <a:ext cx="3496278" cy="11835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B7E3115-0F27-4C91-9CC3-BB799D29E019}"/>
                  </a:ext>
                </a:extLst>
              </p:cNvPr>
              <p:cNvSpPr/>
              <p:nvPr/>
            </p:nvSpPr>
            <p:spPr>
              <a:xfrm>
                <a:off x="3711453" y="2190055"/>
                <a:ext cx="162602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B7E3115-0F27-4C91-9CC3-BB799D29E0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453" y="2190055"/>
                <a:ext cx="1626022" cy="461665"/>
              </a:xfrm>
              <a:prstGeom prst="rect">
                <a:avLst/>
              </a:prstGeom>
              <a:blipFill>
                <a:blip r:embed="rId8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4F34C00-B8A8-4CCF-B85C-C6A90DF2D9B8}"/>
                  </a:ext>
                </a:extLst>
              </p:cNvPr>
              <p:cNvSpPr/>
              <p:nvPr/>
            </p:nvSpPr>
            <p:spPr>
              <a:xfrm>
                <a:off x="3697420" y="1543726"/>
                <a:ext cx="163313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4F34C00-B8A8-4CCF-B85C-C6A90DF2D9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420" y="1543726"/>
                <a:ext cx="1633139" cy="461665"/>
              </a:xfrm>
              <a:prstGeom prst="rect">
                <a:avLst/>
              </a:prstGeom>
              <a:blipFill>
                <a:blip r:embed="rId9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5E67D92-59F5-408E-8B3D-29BF18437E1D}"/>
                  </a:ext>
                </a:extLst>
              </p:cNvPr>
              <p:cNvSpPr/>
              <p:nvPr/>
            </p:nvSpPr>
            <p:spPr>
              <a:xfrm>
                <a:off x="1835696" y="3920645"/>
                <a:ext cx="670183" cy="4934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solidFill>
                                <a:srgbClr val="402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AR" sz="2400" i="1" smtClean="0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b="0" i="1" smtClean="0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s-AR" sz="2400" i="1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s-AR" sz="2400" i="1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5E67D92-59F5-408E-8B3D-29BF18437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3920645"/>
                <a:ext cx="670183" cy="493405"/>
              </a:xfrm>
              <a:prstGeom prst="rect">
                <a:avLst/>
              </a:prstGeom>
              <a:blipFill>
                <a:blip r:embed="rId10"/>
                <a:stretch>
                  <a:fillRect t="-2469" r="-10909" b="-493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7545CEA-935D-43A7-9CC7-9C4CD96508E3}"/>
                  </a:ext>
                </a:extLst>
              </p:cNvPr>
              <p:cNvSpPr/>
              <p:nvPr/>
            </p:nvSpPr>
            <p:spPr>
              <a:xfrm>
                <a:off x="6409540" y="3961643"/>
                <a:ext cx="670183" cy="4934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solidFill>
                                <a:srgbClr val="402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AR" sz="2400" i="1" smtClean="0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b="0" i="1" smtClean="0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s-AR" sz="2400" i="1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s-AR" sz="2400" b="0" i="1" smtClean="0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7545CEA-935D-43A7-9CC7-9C4CD96508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9540" y="3961643"/>
                <a:ext cx="670183" cy="493405"/>
              </a:xfrm>
              <a:prstGeom prst="rect">
                <a:avLst/>
              </a:prstGeom>
              <a:blipFill>
                <a:blip r:embed="rId11"/>
                <a:stretch>
                  <a:fillRect t="-2469" r="-10909" b="-370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348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7" grpId="0"/>
      <p:bldP spid="2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Regla</a:t>
            </a:r>
            <a:r>
              <a:rPr lang="en-US" sz="3600" dirty="0"/>
              <a:t> de </a:t>
            </a:r>
            <a:r>
              <a:rPr lang="en-US" sz="3600" dirty="0" err="1"/>
              <a:t>decisión</a:t>
            </a:r>
            <a:endParaRPr 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8EC67E-C974-4934-90FA-85ADD21BE5CE}"/>
              </a:ext>
            </a:extLst>
          </p:cNvPr>
          <p:cNvSpPr/>
          <p:nvPr/>
        </p:nvSpPr>
        <p:spPr>
          <a:xfrm>
            <a:off x="971600" y="1827258"/>
            <a:ext cx="856176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s-ES" altLang="en-US" sz="2400" dirty="0"/>
              <a:t>Si la </a:t>
            </a:r>
            <a:r>
              <a:rPr lang="es-ES" altLang="en-US" sz="2400" dirty="0" err="1"/>
              <a:t>hipótesis</a:t>
            </a:r>
            <a:r>
              <a:rPr lang="es-ES" altLang="en-US" sz="2400" dirty="0"/>
              <a:t> nula fuera falsa: ¿qué error estaríamos cometiendo?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B67174-5302-4A54-A9A3-B1C41DEAB3C5}"/>
              </a:ext>
            </a:extLst>
          </p:cNvPr>
          <p:cNvSpPr/>
          <p:nvPr/>
        </p:nvSpPr>
        <p:spPr>
          <a:xfrm>
            <a:off x="971600" y="2797322"/>
            <a:ext cx="85617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s-ES" altLang="en-US" sz="2400" dirty="0"/>
              <a:t>Va a depender de “qué tan falsa” sea…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7502A3A-1372-4DC2-A0D9-08430A990323}"/>
                  </a:ext>
                </a:extLst>
              </p:cNvPr>
              <p:cNvSpPr/>
              <p:nvPr/>
            </p:nvSpPr>
            <p:spPr>
              <a:xfrm>
                <a:off x="252780" y="3467309"/>
                <a:ext cx="8561762" cy="13601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AR" alt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AR" alt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alt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s-AR" alt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alt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AR" alt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s-AR" alt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AR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sSub>
                                <m:sSubPr>
                                  <m:ctrlPr>
                                    <a:rPr lang="es-AR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AR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s-AR" alt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acc>
                            <m:accPr>
                              <m:chr m:val="̂"/>
                              <m:ctrlPr>
                                <a:rPr lang="es-A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es-AR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s-A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AR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sSub>
                                <m:sSubPr>
                                  <m:ctrlPr>
                                    <a:rPr lang="es-AR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AR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s-AR" alt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s-AR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sSub>
                                    <m:sSubPr>
                                      <m:ctrlPr>
                                        <a:rPr lang="es-AR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s-AR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s-A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s-AR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s-AR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s-AR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(1−</m:t>
                                      </m:r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s-AR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a:rPr lang="es-AR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rad>
                            </m:den>
                          </m:f>
                        </m:e>
                      </m:d>
                      <m:r>
                        <a:rPr lang="es-AR" alt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alt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s-AR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sSub>
                                    <m:sSubPr>
                                      <m:ctrlPr>
                                        <a:rPr lang="es-AR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s-AR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s-A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s-AR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s-AR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s-AR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(1−</m:t>
                                      </m:r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s-AR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a:rPr lang="es-AR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7502A3A-1372-4DC2-A0D9-08430A9903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780" y="3467309"/>
                <a:ext cx="8561762" cy="13601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BFB8BF1-F643-4CFC-8EE6-ADDCEEC90937}"/>
                  </a:ext>
                </a:extLst>
              </p:cNvPr>
              <p:cNvSpPr/>
              <p:nvPr/>
            </p:nvSpPr>
            <p:spPr>
              <a:xfrm>
                <a:off x="829018" y="4960891"/>
                <a:ext cx="254008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alt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m:rPr>
                          <m:nor/>
                        </m:rPr>
                        <a:rPr lang="es-AR" altLang="en-US" sz="2400" dirty="0">
                          <a:solidFill>
                            <a:schemeClr val="tx1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BFB8BF1-F643-4CFC-8EE6-ADDCEEC909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18" y="4960891"/>
                <a:ext cx="2540082" cy="461665"/>
              </a:xfrm>
              <a:prstGeom prst="rect">
                <a:avLst/>
              </a:prstGeom>
              <a:blipFill>
                <a:blip r:embed="rId3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6044D05-3D64-4E55-94F6-3AE91BA8804E}"/>
                  </a:ext>
                </a:extLst>
              </p:cNvPr>
              <p:cNvSpPr/>
              <p:nvPr/>
            </p:nvSpPr>
            <p:spPr>
              <a:xfrm>
                <a:off x="6372200" y="5533619"/>
                <a:ext cx="244695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fName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alt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func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6044D05-3D64-4E55-94F6-3AE91BA880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00" y="5533619"/>
                <a:ext cx="2446952" cy="461665"/>
              </a:xfrm>
              <a:prstGeom prst="rect">
                <a:avLst/>
              </a:prstGeom>
              <a:blipFill>
                <a:blip r:embed="rId4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69BBF59-D0D9-45E4-9067-AE0AA8842A03}"/>
                  </a:ext>
                </a:extLst>
              </p:cNvPr>
              <p:cNvSpPr/>
              <p:nvPr/>
            </p:nvSpPr>
            <p:spPr>
              <a:xfrm>
                <a:off x="846807" y="5991692"/>
                <a:ext cx="2075025" cy="5343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69BBF59-D0D9-45E4-9067-AE0AA8842A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07" y="5991692"/>
                <a:ext cx="2075025" cy="5343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194B51C-0F79-437E-BF43-918CC01C0678}"/>
                  </a:ext>
                </a:extLst>
              </p:cNvPr>
              <p:cNvSpPr/>
              <p:nvPr/>
            </p:nvSpPr>
            <p:spPr>
              <a:xfrm>
                <a:off x="2921832" y="5949280"/>
                <a:ext cx="2005998" cy="5343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194B51C-0F79-437E-BF43-918CC01C06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832" y="5949280"/>
                <a:ext cx="2005998" cy="5343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970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22" grpId="0"/>
      <p:bldP spid="26" grpId="0"/>
      <p:bldP spid="28" grpId="0"/>
      <p:bldP spid="29" grpId="0"/>
      <p:bldP spid="1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AR" sz="3600" dirty="0"/>
              <a:t>Valor p</a:t>
            </a:r>
            <a:endParaRPr lang="en-US" sz="3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5E0D61-F88B-42DF-B0D9-754A000CED4B}"/>
              </a:ext>
            </a:extLst>
          </p:cNvPr>
          <p:cNvSpPr/>
          <p:nvPr/>
        </p:nvSpPr>
        <p:spPr>
          <a:xfrm>
            <a:off x="1093262" y="1772816"/>
            <a:ext cx="75111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s-AR" altLang="en-US" sz="2400" dirty="0"/>
              <a:t>El valor p se define como la probabilidad de que, si la </a:t>
            </a:r>
            <a:r>
              <a:rPr lang="es-AR" altLang="en-US" sz="2400" dirty="0" err="1"/>
              <a:t>hipótesis</a:t>
            </a:r>
            <a:r>
              <a:rPr lang="es-AR" altLang="en-US" sz="2400" dirty="0"/>
              <a:t> nula es verdadera, el estadístico de prueba dé tan mal o peor de lo que dio.</a:t>
            </a:r>
            <a:endParaRPr lang="es-ES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7A9A449-BFED-4D63-824D-96A5C2C5CBC0}"/>
                  </a:ext>
                </a:extLst>
              </p:cNvPr>
              <p:cNvSpPr/>
              <p:nvPr/>
            </p:nvSpPr>
            <p:spPr>
              <a:xfrm>
                <a:off x="1224442" y="4235856"/>
                <a:ext cx="6695103" cy="12813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s-AR" altLang="en-US" sz="24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alt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s-A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𝑜𝑏𝑠</m:t>
                              </m:r>
                            </m:sub>
                          </m:sSub>
                        </m:e>
                      </m:d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["/>
                          <m:endChr m:val="]"/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l-G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l-G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l-GR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∆</m:t>
                                      </m:r>
                                    </m:e>
                                    <m:sub>
                                      <m: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𝑜𝑏𝑠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f>
                                        <m:fPr>
                                          <m:ctrlPr>
                                            <a:rPr lang="es-AR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s-AR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AR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s-AR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s-AR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s-AR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AR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s-AR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s-AR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num>
                                        <m:den>
                                          <m:r>
                                            <a:rPr lang="es-AR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den>
                                      </m:f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7A9A449-BFED-4D63-824D-96A5C2C5CB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442" y="4235856"/>
                <a:ext cx="6695103" cy="12813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C925842-4C47-446C-9790-DC54077D355F}"/>
                  </a:ext>
                </a:extLst>
              </p:cNvPr>
              <p:cNvSpPr/>
              <p:nvPr/>
            </p:nvSpPr>
            <p:spPr>
              <a:xfrm>
                <a:off x="3244579" y="3198167"/>
                <a:ext cx="265611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altLang="en-US" sz="24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s-AR" altLang="en-US" sz="24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|"/>
                          <m:endChr m:val="|"/>
                          <m:ctrlPr>
                            <a:rPr lang="es-AR" alt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i="1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AR" altLang="en-US" sz="2400" b="0" i="1" dirty="0" smtClean="0">
                                      <a:solidFill>
                                        <a:srgbClr val="402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altLang="en-US" sz="2400" b="0" i="1" dirty="0" smtClean="0">
                                      <a:solidFill>
                                        <a:srgbClr val="402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AR" sz="2400" i="1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</a:rPr>
                                <m:t>𝑜𝑏𝑠</m:t>
                              </m:r>
                            </m:sub>
                          </m:sSub>
                          <m:r>
                            <a:rPr lang="es-AR" alt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AR" sz="2400" i="1">
                                  <a:solidFill>
                                    <a:srgbClr val="402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C925842-4C47-446C-9790-DC54077D35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579" y="3198167"/>
                <a:ext cx="2656112" cy="461665"/>
              </a:xfrm>
              <a:prstGeom prst="rect">
                <a:avLst/>
              </a:prstGeom>
              <a:blipFill>
                <a:blip r:embed="rId3"/>
                <a:stretch>
                  <a:fillRect t="-1333" b="-13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454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Regla</a:t>
            </a:r>
            <a:r>
              <a:rPr lang="en-US" sz="3600" dirty="0"/>
              <a:t> de </a:t>
            </a:r>
            <a:r>
              <a:rPr lang="en-US" sz="3600" dirty="0" err="1"/>
              <a:t>decisión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/>
              <p:nvPr/>
            </p:nvSpPr>
            <p:spPr>
              <a:xfrm>
                <a:off x="971600" y="1827258"/>
                <a:ext cx="7740854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hangingPunct="1"/>
                <a:r>
                  <a:rPr lang="es-AR" altLang="en-US" sz="2400" dirty="0">
                    <a:solidFill>
                      <a:schemeClr val="tx1"/>
                    </a:solidFill>
                  </a:rPr>
                  <a:t>¿No puede usarse otro estadístico de prueba además de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AR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s-ES" altLang="en-US" sz="2400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8EC67E-C974-4934-90FA-85ADD21BE5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827258"/>
                <a:ext cx="7740854" cy="830997"/>
              </a:xfrm>
              <a:prstGeom prst="rect">
                <a:avLst/>
              </a:prstGeom>
              <a:blipFill>
                <a:blip r:embed="rId2"/>
                <a:stretch>
                  <a:fillRect l="-1181" t="-5147" r="-1260" b="-169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325E0D61-F88B-42DF-B0D9-754A000CED4B}"/>
              </a:ext>
            </a:extLst>
          </p:cNvPr>
          <p:cNvSpPr/>
          <p:nvPr/>
        </p:nvSpPr>
        <p:spPr>
          <a:xfrm>
            <a:off x="1043608" y="3044982"/>
            <a:ext cx="763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s-AR" altLang="en-US" sz="2400" dirty="0"/>
              <a:t>Sí, hay otro estadístico que es absolutamente equivalente:</a:t>
            </a:r>
            <a:endParaRPr lang="es-ES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CF8311A-56F8-4257-81EB-03F82411A190}"/>
                  </a:ext>
                </a:extLst>
              </p:cNvPr>
              <p:cNvSpPr/>
              <p:nvPr/>
            </p:nvSpPr>
            <p:spPr>
              <a:xfrm>
                <a:off x="3338451" y="4365104"/>
                <a:ext cx="2467086" cy="12547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s-AR" altLang="en-US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alt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AR" alt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(1−</m:t>
                                  </m:r>
                                  <m:sSub>
                                    <m:sSubPr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s-AR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CF8311A-56F8-4257-81EB-03F82411A1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8451" y="4365104"/>
                <a:ext cx="2467086" cy="12547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7143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 err="1"/>
              <a:t>Regla</a:t>
            </a:r>
            <a:r>
              <a:rPr lang="en-US" sz="3600" dirty="0"/>
              <a:t> de </a:t>
            </a:r>
            <a:r>
              <a:rPr lang="en-US" sz="3600" dirty="0" err="1"/>
              <a:t>decisión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541A53-F421-4942-852C-009DBE489110}"/>
                  </a:ext>
                </a:extLst>
              </p:cNvPr>
              <p:cNvSpPr/>
              <p:nvPr/>
            </p:nvSpPr>
            <p:spPr>
              <a:xfrm>
                <a:off x="1283253" y="2757581"/>
                <a:ext cx="163256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541A53-F421-4942-852C-009DBE4891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253" y="2757581"/>
                <a:ext cx="1632563" cy="461665"/>
              </a:xfrm>
              <a:prstGeom prst="rect">
                <a:avLst/>
              </a:prstGeom>
              <a:blipFill>
                <a:blip r:embed="rId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AC33B5D-97BC-4A7E-9BC4-8C56D122D407}"/>
                  </a:ext>
                </a:extLst>
              </p:cNvPr>
              <p:cNvSpPr/>
              <p:nvPr/>
            </p:nvSpPr>
            <p:spPr>
              <a:xfrm>
                <a:off x="1269220" y="2111252"/>
                <a:ext cx="163968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AC33B5D-97BC-4A7E-9BC4-8C56D122D4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220" y="2111252"/>
                <a:ext cx="1639680" cy="461665"/>
              </a:xfrm>
              <a:prstGeom prst="rect">
                <a:avLst/>
              </a:prstGeom>
              <a:blipFill>
                <a:blip r:embed="rId3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6DC98801-C579-427E-8F9C-99993A153FA6}"/>
              </a:ext>
            </a:extLst>
          </p:cNvPr>
          <p:cNvGrpSpPr/>
          <p:nvPr/>
        </p:nvGrpSpPr>
        <p:grpSpPr>
          <a:xfrm>
            <a:off x="5222741" y="2572917"/>
            <a:ext cx="3104846" cy="820886"/>
            <a:chOff x="3007741" y="2391994"/>
            <a:chExt cx="5580517" cy="82088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4DA2A5E-4338-4453-B012-1B19668FAD23}"/>
                </a:ext>
              </a:extLst>
            </p:cNvPr>
            <p:cNvCxnSpPr>
              <a:cxnSpLocks/>
            </p:cNvCxnSpPr>
            <p:nvPr/>
          </p:nvCxnSpPr>
          <p:spPr>
            <a:xfrm>
              <a:off x="3007741" y="2569401"/>
              <a:ext cx="5524706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947A33-F48C-414C-B907-91F4DFC8669A}"/>
                </a:ext>
              </a:extLst>
            </p:cNvPr>
            <p:cNvCxnSpPr/>
            <p:nvPr/>
          </p:nvCxnSpPr>
          <p:spPr>
            <a:xfrm>
              <a:off x="4572006" y="2391994"/>
              <a:ext cx="0" cy="36004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315897-7738-4523-8BAE-B97D3FF94A54}"/>
                    </a:ext>
                  </a:extLst>
                </p:cNvPr>
                <p:cNvSpPr/>
                <p:nvPr/>
              </p:nvSpPr>
              <p:spPr>
                <a:xfrm>
                  <a:off x="8128389" y="2717552"/>
                  <a:ext cx="459869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b="0" i="1" smtClean="0">
                            <a:solidFill>
                              <a:srgbClr val="402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𝑍</m:t>
                        </m:r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315897-7738-4523-8BAE-B97D3FF94A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8389" y="2717552"/>
                  <a:ext cx="459869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4762" r="-50000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C6E768-9A69-48B2-93BD-EEB1E6D98A8C}"/>
                </a:ext>
              </a:extLst>
            </p:cNvPr>
            <p:cNvCxnSpPr/>
            <p:nvPr/>
          </p:nvCxnSpPr>
          <p:spPr>
            <a:xfrm>
              <a:off x="6576304" y="2391994"/>
              <a:ext cx="0" cy="36004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CD2FDFE-0E16-4902-B2A4-BF2E71D18A76}"/>
                    </a:ext>
                  </a:extLst>
                </p:cNvPr>
                <p:cNvSpPr/>
                <p:nvPr/>
              </p:nvSpPr>
              <p:spPr>
                <a:xfrm>
                  <a:off x="4310636" y="2717552"/>
                  <a:ext cx="43954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i="1" smtClean="0">
                            <a:solidFill>
                              <a:srgbClr val="402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CD2FDFE-0E16-4902-B2A4-BF2E71D18A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0636" y="2717552"/>
                  <a:ext cx="439544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7500" r="-50000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F74BE02B-640F-4460-9DAC-F120203C8246}"/>
                    </a:ext>
                  </a:extLst>
                </p:cNvPr>
                <p:cNvSpPr/>
                <p:nvPr/>
              </p:nvSpPr>
              <p:spPr>
                <a:xfrm>
                  <a:off x="6124092" y="2717552"/>
                  <a:ext cx="1054518" cy="49532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</m:e>
                          <m:sub>
                            <m:r>
                              <a:rPr lang="es-AR" sz="2400" b="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s-AR" altLang="en-US" sz="24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altLang="en-US" sz="24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s-AR" altLang="en-US" sz="24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F74BE02B-640F-4460-9DAC-F120203C82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4092" y="2717552"/>
                  <a:ext cx="1054518" cy="495328"/>
                </a:xfrm>
                <a:prstGeom prst="rect">
                  <a:avLst/>
                </a:prstGeom>
                <a:blipFill>
                  <a:blip r:embed="rId6"/>
                  <a:stretch>
                    <a:fillRect r="-54167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9229622-E9D4-4DFA-9F42-679E2B6B73C5}"/>
                  </a:ext>
                </a:extLst>
              </p:cNvPr>
              <p:cNvSpPr/>
              <p:nvPr/>
            </p:nvSpPr>
            <p:spPr>
              <a:xfrm>
                <a:off x="1252201" y="4294964"/>
                <a:ext cx="163256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9229622-E9D4-4DFA-9F42-679E2B6B73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201" y="4294964"/>
                <a:ext cx="1632563" cy="461665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ACBF018-1586-4BF3-9CB7-7E4D12F6E319}"/>
                  </a:ext>
                </a:extLst>
              </p:cNvPr>
              <p:cNvSpPr/>
              <p:nvPr/>
            </p:nvSpPr>
            <p:spPr>
              <a:xfrm>
                <a:off x="1238168" y="3648635"/>
                <a:ext cx="163968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ACBF018-1586-4BF3-9CB7-7E4D12F6E3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168" y="3648635"/>
                <a:ext cx="1639680" cy="461665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D8ED5716-3FD2-4107-AF0C-16EB6F4FC6FE}"/>
              </a:ext>
            </a:extLst>
          </p:cNvPr>
          <p:cNvGrpSpPr/>
          <p:nvPr/>
        </p:nvGrpSpPr>
        <p:grpSpPr>
          <a:xfrm>
            <a:off x="5191689" y="4075818"/>
            <a:ext cx="3104846" cy="821705"/>
            <a:chOff x="3007741" y="2357512"/>
            <a:chExt cx="5580517" cy="821705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B9EAC7A-B13E-4437-B971-ED1F02CA5A31}"/>
                </a:ext>
              </a:extLst>
            </p:cNvPr>
            <p:cNvCxnSpPr>
              <a:cxnSpLocks/>
            </p:cNvCxnSpPr>
            <p:nvPr/>
          </p:nvCxnSpPr>
          <p:spPr>
            <a:xfrm>
              <a:off x="3007741" y="2569401"/>
              <a:ext cx="5524706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644E8B5-C9E7-4FF9-A563-F7906A9B8929}"/>
                </a:ext>
              </a:extLst>
            </p:cNvPr>
            <p:cNvCxnSpPr/>
            <p:nvPr/>
          </p:nvCxnSpPr>
          <p:spPr>
            <a:xfrm>
              <a:off x="6645716" y="2357512"/>
              <a:ext cx="0" cy="36004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B1468E83-A8B6-420A-A333-5ECC0AE1EFE2}"/>
                    </a:ext>
                  </a:extLst>
                </p:cNvPr>
                <p:cNvSpPr/>
                <p:nvPr/>
              </p:nvSpPr>
              <p:spPr>
                <a:xfrm>
                  <a:off x="8128389" y="2717552"/>
                  <a:ext cx="459869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b="0" i="1" smtClean="0">
                            <a:solidFill>
                              <a:srgbClr val="402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𝑍</m:t>
                        </m:r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B1468E83-A8B6-420A-A333-5ECC0AE1EF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8389" y="2717552"/>
                  <a:ext cx="459869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4762" r="-50000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9FC1748-D4CE-4B1A-BFF5-74281DA2076B}"/>
                </a:ext>
              </a:extLst>
            </p:cNvPr>
            <p:cNvCxnSpPr/>
            <p:nvPr/>
          </p:nvCxnSpPr>
          <p:spPr>
            <a:xfrm>
              <a:off x="4601955" y="2396638"/>
              <a:ext cx="0" cy="36004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C005723C-CA0D-45BC-B014-9599798F839D}"/>
                    </a:ext>
                  </a:extLst>
                </p:cNvPr>
                <p:cNvSpPr/>
                <p:nvPr/>
              </p:nvSpPr>
              <p:spPr>
                <a:xfrm>
                  <a:off x="6300463" y="2694468"/>
                  <a:ext cx="43954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i="1" smtClean="0">
                            <a:solidFill>
                              <a:srgbClr val="402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C005723C-CA0D-45BC-B014-9599798F83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0463" y="2694468"/>
                  <a:ext cx="439544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5000" r="-52500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6160978F-B2AF-487D-8BED-5188811D3DF8}"/>
                    </a:ext>
                  </a:extLst>
                </p:cNvPr>
                <p:cNvSpPr/>
                <p:nvPr/>
              </p:nvSpPr>
              <p:spPr>
                <a:xfrm>
                  <a:off x="3326119" y="2642379"/>
                  <a:ext cx="2307356" cy="49532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s-AR" sz="2400" b="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</m:e>
                          <m:sub>
                            <m:r>
                              <a:rPr lang="es-AR" sz="2400" b="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s-AR" altLang="en-US" sz="24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altLang="en-US" sz="24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s-AR" altLang="en-US" sz="24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6160978F-B2AF-487D-8BED-5188811D3D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6119" y="2642379"/>
                  <a:ext cx="2307356" cy="49532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A517D8C-4B58-4648-B498-E3140263BAD8}"/>
                  </a:ext>
                </a:extLst>
              </p:cNvPr>
              <p:cNvSpPr/>
              <p:nvPr/>
            </p:nvSpPr>
            <p:spPr>
              <a:xfrm>
                <a:off x="1268864" y="5781943"/>
                <a:ext cx="163095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A517D8C-4B58-4648-B498-E3140263BA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864" y="5781943"/>
                <a:ext cx="1630959" cy="461665"/>
              </a:xfrm>
              <a:prstGeom prst="rect">
                <a:avLst/>
              </a:prstGeom>
              <a:blipFill>
                <a:blip r:embed="rId1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D972E8D-0C89-4EF8-A3E8-74ED518E5813}"/>
                  </a:ext>
                </a:extLst>
              </p:cNvPr>
              <p:cNvSpPr/>
              <p:nvPr/>
            </p:nvSpPr>
            <p:spPr>
              <a:xfrm>
                <a:off x="1254831" y="5135614"/>
                <a:ext cx="16380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D972E8D-0C89-4EF8-A3E8-74ED518E58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831" y="5135614"/>
                <a:ext cx="1638076" cy="461665"/>
              </a:xfrm>
              <a:prstGeom prst="rect">
                <a:avLst/>
              </a:prstGeom>
              <a:blipFill>
                <a:blip r:embed="rId13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82565-2C4B-4BA2-BEA7-11EFCC9A5E4D}"/>
              </a:ext>
            </a:extLst>
          </p:cNvPr>
          <p:cNvGrpSpPr/>
          <p:nvPr/>
        </p:nvGrpSpPr>
        <p:grpSpPr>
          <a:xfrm>
            <a:off x="5208352" y="5597279"/>
            <a:ext cx="3104846" cy="827832"/>
            <a:chOff x="3007741" y="2391994"/>
            <a:chExt cx="5580517" cy="827832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D9B0DE2-A8CA-473F-837E-47F5F1F1A152}"/>
                </a:ext>
              </a:extLst>
            </p:cNvPr>
            <p:cNvCxnSpPr>
              <a:cxnSpLocks/>
            </p:cNvCxnSpPr>
            <p:nvPr/>
          </p:nvCxnSpPr>
          <p:spPr>
            <a:xfrm>
              <a:off x="3007741" y="2569401"/>
              <a:ext cx="5524706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FBFD155-CAC1-40BC-995C-11FBF3FFC63C}"/>
                </a:ext>
              </a:extLst>
            </p:cNvPr>
            <p:cNvCxnSpPr/>
            <p:nvPr/>
          </p:nvCxnSpPr>
          <p:spPr>
            <a:xfrm>
              <a:off x="5740144" y="2391994"/>
              <a:ext cx="0" cy="36004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394C73DA-A341-4047-B595-7BFEAE0D28C9}"/>
                    </a:ext>
                  </a:extLst>
                </p:cNvPr>
                <p:cNvSpPr/>
                <p:nvPr/>
              </p:nvSpPr>
              <p:spPr>
                <a:xfrm>
                  <a:off x="8128389" y="2717552"/>
                  <a:ext cx="459869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b="0" i="1" smtClean="0">
                            <a:solidFill>
                              <a:srgbClr val="402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𝑍</m:t>
                        </m:r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394C73DA-A341-4047-B595-7BFEAE0D28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8389" y="2717552"/>
                  <a:ext cx="459869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7143" r="-47619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1625744-CA49-4850-B252-0614520B9976}"/>
                </a:ext>
              </a:extLst>
            </p:cNvPr>
            <p:cNvCxnSpPr/>
            <p:nvPr/>
          </p:nvCxnSpPr>
          <p:spPr>
            <a:xfrm>
              <a:off x="7170377" y="2396638"/>
              <a:ext cx="0" cy="36004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01E7076F-A6D2-45C7-8ABF-236028CB071A}"/>
                    </a:ext>
                  </a:extLst>
                </p:cNvPr>
                <p:cNvSpPr/>
                <p:nvPr/>
              </p:nvSpPr>
              <p:spPr>
                <a:xfrm>
                  <a:off x="5486243" y="2758161"/>
                  <a:ext cx="43954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i="1" smtClean="0">
                            <a:solidFill>
                              <a:srgbClr val="402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01E7076F-A6D2-45C7-8ABF-236028CB07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6243" y="2758161"/>
                  <a:ext cx="439544" cy="461665"/>
                </a:xfrm>
                <a:prstGeom prst="rect">
                  <a:avLst/>
                </a:prstGeom>
                <a:blipFill>
                  <a:blip r:embed="rId15"/>
                  <a:stretch>
                    <a:fillRect l="-7500" r="-50000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CD663F04-A0D7-40CE-8498-0EDFC6526AB4}"/>
                    </a:ext>
                  </a:extLst>
                </p:cNvPr>
                <p:cNvSpPr/>
                <p:nvPr/>
              </p:nvSpPr>
              <p:spPr>
                <a:xfrm>
                  <a:off x="6124092" y="2717552"/>
                  <a:ext cx="2327524" cy="49532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s-AR" sz="240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</m:e>
                          <m:sub>
                            <m:r>
                              <a:rPr lang="es-AR" sz="2400" b="0" i="1" smtClean="0">
                                <a:solidFill>
                                  <a:srgbClr val="402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s-AR" altLang="en-US" sz="24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altLang="en-US" sz="24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s-AR" altLang="en-US" sz="24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s-AR" altLang="en-US" sz="2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/2</m:t>
                            </m:r>
                          </m:sub>
                        </m:sSub>
                      </m:oMath>
                    </m:oMathPara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CD663F04-A0D7-40CE-8498-0EDFC6526A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4092" y="2717552"/>
                  <a:ext cx="2327524" cy="495328"/>
                </a:xfrm>
                <a:prstGeom prst="rect">
                  <a:avLst/>
                </a:prstGeom>
                <a:blipFill>
                  <a:blip r:embed="rId16"/>
                  <a:stretch>
                    <a:fillRect b="-12346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89F5BC4-E8B5-4247-A8DF-D2EF52C687FC}"/>
                </a:ext>
              </a:extLst>
            </p:cNvPr>
            <p:cNvCxnSpPr/>
            <p:nvPr/>
          </p:nvCxnSpPr>
          <p:spPr>
            <a:xfrm>
              <a:off x="4202531" y="2396638"/>
              <a:ext cx="0" cy="36004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02C63EE1-09C6-4F5A-B22E-EE9C2EBBAD91}"/>
                    </a:ext>
                  </a:extLst>
                </p:cNvPr>
                <p:cNvSpPr/>
                <p:nvPr/>
              </p:nvSpPr>
              <p:spPr>
                <a:xfrm>
                  <a:off x="3188954" y="2697773"/>
                  <a:ext cx="2359216" cy="49532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AR" sz="2400" dirty="0">
                      <a:solidFill>
                        <a:srgbClr val="402000"/>
                      </a:solidFill>
                      <a:cs typeface="+mn-cs"/>
                    </a:rPr>
                    <a:t>-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solidFill>
                                <a:srgbClr val="402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s-AR" sz="2400" i="1" smtClean="0">
                              <a:solidFill>
                                <a:srgbClr val="402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𝑧</m:t>
                          </m:r>
                        </m:e>
                        <m:sub>
                          <m:r>
                            <a:rPr lang="es-AR" sz="2400" b="0" i="1" smtClean="0">
                              <a:solidFill>
                                <a:srgbClr val="402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1−</m:t>
                          </m:r>
                          <m:sSub>
                            <m:sSubPr>
                              <m:ctrlPr>
                                <a:rPr lang="es-AR" alt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alt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AR" altLang="en-US" sz="24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s-AR" altLang="en-US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</m:oMath>
                  </a14:m>
                  <a:endParaRPr lang="es-AR" dirty="0"/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02C63EE1-09C6-4F5A-B22E-EE9C2EBBAD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8954" y="2697773"/>
                  <a:ext cx="2359216" cy="495328"/>
                </a:xfrm>
                <a:prstGeom prst="rect">
                  <a:avLst/>
                </a:prstGeom>
                <a:blipFill>
                  <a:blip r:embed="rId17"/>
                  <a:stretch>
                    <a:fillRect l="-7442" t="-9756" b="-19512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2593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8" grpId="0"/>
      <p:bldP spid="20" grpId="0"/>
      <p:bldP spid="32" grpId="0"/>
      <p:bldP spid="3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B7FD-02DC-403C-B03A-EAFC82044A42}"/>
              </a:ext>
            </a:extLst>
          </p:cNvPr>
          <p:cNvSpPr txBox="1"/>
          <p:nvPr/>
        </p:nvSpPr>
        <p:spPr>
          <a:xfrm>
            <a:off x="816402" y="548680"/>
            <a:ext cx="751118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/>
              <a:t>Valor 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7581D03-58C4-40D2-A207-67DED49D6C4C}"/>
                  </a:ext>
                </a:extLst>
              </p:cNvPr>
              <p:cNvSpPr/>
              <p:nvPr/>
            </p:nvSpPr>
            <p:spPr>
              <a:xfrm>
                <a:off x="6145591" y="2473100"/>
                <a:ext cx="183877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l-G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𝑜𝑏𝑠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7581D03-58C4-40D2-A207-67DED49D6C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591" y="2473100"/>
                <a:ext cx="1838773" cy="461665"/>
              </a:xfrm>
              <a:prstGeom prst="rect">
                <a:avLst/>
              </a:prstGeom>
              <a:blipFill>
                <a:blip r:embed="rId2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7E637CD-59DF-48D7-9F5F-2AC7DED4926C}"/>
                  </a:ext>
                </a:extLst>
              </p:cNvPr>
              <p:cNvSpPr/>
              <p:nvPr/>
            </p:nvSpPr>
            <p:spPr>
              <a:xfrm>
                <a:off x="6413580" y="3937285"/>
                <a:ext cx="130279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l-G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A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𝑜𝑏𝑠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7E637CD-59DF-48D7-9F5F-2AC7DED492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80" y="3937285"/>
                <a:ext cx="1302793" cy="461665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883AC4A0-D53E-4F57-83F8-E9A28A1402D1}"/>
                  </a:ext>
                </a:extLst>
              </p:cNvPr>
              <p:cNvSpPr/>
              <p:nvPr/>
            </p:nvSpPr>
            <p:spPr>
              <a:xfrm>
                <a:off x="5855510" y="5517232"/>
                <a:ext cx="24189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["/>
                          <m:endChr m:val="]"/>
                          <m:ctrlP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l-G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l-G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l-GR" altLang="en-US" sz="24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𝑜𝑏𝑠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883AC4A0-D53E-4F57-83F8-E9A28A1402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510" y="5517232"/>
                <a:ext cx="2418932" cy="461665"/>
              </a:xfrm>
              <a:prstGeom prst="rect">
                <a:avLst/>
              </a:prstGeom>
              <a:blipFill>
                <a:blip r:embed="rId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CD4D92A-CDFC-43EE-9468-D915B6EFBF21}"/>
                  </a:ext>
                </a:extLst>
              </p:cNvPr>
              <p:cNvSpPr/>
              <p:nvPr/>
            </p:nvSpPr>
            <p:spPr>
              <a:xfrm>
                <a:off x="1736765" y="2757581"/>
                <a:ext cx="163256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CD4D92A-CDFC-43EE-9468-D915B6EFBF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6765" y="2757581"/>
                <a:ext cx="1632563" cy="461665"/>
              </a:xfrm>
              <a:prstGeom prst="rect">
                <a:avLst/>
              </a:prstGeom>
              <a:blipFill>
                <a:blip r:embed="rId5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99D244F-042C-4580-ADE2-3ABDCFEBD28D}"/>
                  </a:ext>
                </a:extLst>
              </p:cNvPr>
              <p:cNvSpPr/>
              <p:nvPr/>
            </p:nvSpPr>
            <p:spPr>
              <a:xfrm>
                <a:off x="1722732" y="2111252"/>
                <a:ext cx="163968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99D244F-042C-4580-ADE2-3ABDCFEBD2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732" y="2111252"/>
                <a:ext cx="1639680" cy="461665"/>
              </a:xfrm>
              <a:prstGeom prst="rect">
                <a:avLst/>
              </a:prstGeom>
              <a:blipFill>
                <a:blip r:embed="rId6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955408B-AECB-4F85-B7DD-573CDBE8016B}"/>
                  </a:ext>
                </a:extLst>
              </p:cNvPr>
              <p:cNvSpPr/>
              <p:nvPr/>
            </p:nvSpPr>
            <p:spPr>
              <a:xfrm>
                <a:off x="1705713" y="4294964"/>
                <a:ext cx="163256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955408B-AECB-4F85-B7DD-573CDBE801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713" y="4294964"/>
                <a:ext cx="1632563" cy="461665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1FF8C00-6FED-4EAF-A111-C98D811D30FC}"/>
                  </a:ext>
                </a:extLst>
              </p:cNvPr>
              <p:cNvSpPr/>
              <p:nvPr/>
            </p:nvSpPr>
            <p:spPr>
              <a:xfrm>
                <a:off x="1691680" y="3648635"/>
                <a:ext cx="163968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1FF8C00-6FED-4EAF-A111-C98D811D30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3648635"/>
                <a:ext cx="1639680" cy="461665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C0DDD64-A112-46AE-8C68-261FBEAA43A1}"/>
                  </a:ext>
                </a:extLst>
              </p:cNvPr>
              <p:cNvSpPr/>
              <p:nvPr/>
            </p:nvSpPr>
            <p:spPr>
              <a:xfrm>
                <a:off x="1722376" y="5781943"/>
                <a:ext cx="163095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C0DDD64-A112-46AE-8C68-261FBEAA43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376" y="5781943"/>
                <a:ext cx="1630959" cy="461665"/>
              </a:xfrm>
              <a:prstGeom prst="rect">
                <a:avLst/>
              </a:prstGeom>
              <a:blipFill>
                <a:blip r:embed="rId9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B9CC5A2-E4E8-466F-B807-1D433801C340}"/>
                  </a:ext>
                </a:extLst>
              </p:cNvPr>
              <p:cNvSpPr/>
              <p:nvPr/>
            </p:nvSpPr>
            <p:spPr>
              <a:xfrm>
                <a:off x="1708343" y="5135614"/>
                <a:ext cx="16380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A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B9CC5A2-E4E8-466F-B807-1D433801C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343" y="5135614"/>
                <a:ext cx="1638076" cy="461665"/>
              </a:xfrm>
              <a:prstGeom prst="rect">
                <a:avLst/>
              </a:prstGeom>
              <a:blipFill>
                <a:blip r:embed="rId10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7200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3" grpId="0"/>
      <p:bldP spid="46" grpId="0"/>
      <p:bldP spid="14" grpId="0"/>
      <p:bldP spid="15" grpId="0"/>
      <p:bldP spid="16" grpId="0"/>
      <p:bldP spid="17" grpId="0"/>
      <p:bldP spid="19" grpId="0"/>
      <p:bldP spid="21" grpId="0"/>
    </p:bldLst>
  </p:timing>
</p:sld>
</file>

<file path=ppt/theme/theme1.xml><?xml version="1.0" encoding="utf-8"?>
<a:theme xmlns:a="http://schemas.openxmlformats.org/drawingml/2006/main" name="Cuaderno">
  <a:themeElements>
    <a:clrScheme name="Cuaderno 1">
      <a:dk1>
        <a:srgbClr val="402000"/>
      </a:dk1>
      <a:lt1>
        <a:srgbClr val="FBFAE2"/>
      </a:lt1>
      <a:dk2>
        <a:srgbClr val="996633"/>
      </a:dk2>
      <a:lt2>
        <a:srgbClr val="A08366"/>
      </a:lt2>
      <a:accent1>
        <a:srgbClr val="CE9964"/>
      </a:accent1>
      <a:accent2>
        <a:srgbClr val="CD3333"/>
      </a:accent2>
      <a:accent3>
        <a:srgbClr val="FDFCEE"/>
      </a:accent3>
      <a:accent4>
        <a:srgbClr val="351A00"/>
      </a:accent4>
      <a:accent5>
        <a:srgbClr val="E3CAB8"/>
      </a:accent5>
      <a:accent6>
        <a:srgbClr val="BA2D2D"/>
      </a:accent6>
      <a:hlink>
        <a:srgbClr val="9A7F32"/>
      </a:hlink>
      <a:folHlink>
        <a:srgbClr val="ECA07A"/>
      </a:folHlink>
    </a:clrScheme>
    <a:fontScheme name="Cuadern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Cuaderno 1">
        <a:dk1>
          <a:srgbClr val="402000"/>
        </a:dk1>
        <a:lt1>
          <a:srgbClr val="FBFAE2"/>
        </a:lt1>
        <a:dk2>
          <a:srgbClr val="996633"/>
        </a:dk2>
        <a:lt2>
          <a:srgbClr val="A08366"/>
        </a:lt2>
        <a:accent1>
          <a:srgbClr val="CE9964"/>
        </a:accent1>
        <a:accent2>
          <a:srgbClr val="CD3333"/>
        </a:accent2>
        <a:accent3>
          <a:srgbClr val="FDFCEE"/>
        </a:accent3>
        <a:accent4>
          <a:srgbClr val="351A00"/>
        </a:accent4>
        <a:accent5>
          <a:srgbClr val="E3CAB8"/>
        </a:accent5>
        <a:accent6>
          <a:srgbClr val="BA2D2D"/>
        </a:accent6>
        <a:hlink>
          <a:srgbClr val="9A7F32"/>
        </a:hlink>
        <a:folHlink>
          <a:srgbClr val="ECA0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aderno 2">
        <a:dk1>
          <a:srgbClr val="402000"/>
        </a:dk1>
        <a:lt1>
          <a:srgbClr val="FFFFFF"/>
        </a:lt1>
        <a:dk2>
          <a:srgbClr val="996633"/>
        </a:dk2>
        <a:lt2>
          <a:srgbClr val="A08366"/>
        </a:lt2>
        <a:accent1>
          <a:srgbClr val="CE9964"/>
        </a:accent1>
        <a:accent2>
          <a:srgbClr val="CD3333"/>
        </a:accent2>
        <a:accent3>
          <a:srgbClr val="FFFFFF"/>
        </a:accent3>
        <a:accent4>
          <a:srgbClr val="351A00"/>
        </a:accent4>
        <a:accent5>
          <a:srgbClr val="E3CAB8"/>
        </a:accent5>
        <a:accent6>
          <a:srgbClr val="BA2D2D"/>
        </a:accent6>
        <a:hlink>
          <a:srgbClr val="9A7F32"/>
        </a:hlink>
        <a:folHlink>
          <a:srgbClr val="ECA0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aderno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aderno 4">
        <a:dk1>
          <a:srgbClr val="1C1C1C"/>
        </a:dk1>
        <a:lt1>
          <a:srgbClr val="FFFFFF"/>
        </a:lt1>
        <a:dk2>
          <a:srgbClr val="000066"/>
        </a:dk2>
        <a:lt2>
          <a:srgbClr val="666699"/>
        </a:lt2>
        <a:accent1>
          <a:srgbClr val="FF5050"/>
        </a:accent1>
        <a:accent2>
          <a:srgbClr val="009999"/>
        </a:accent2>
        <a:accent3>
          <a:srgbClr val="FFFFFF"/>
        </a:accent3>
        <a:accent4>
          <a:srgbClr val="161616"/>
        </a:accent4>
        <a:accent5>
          <a:srgbClr val="FFB3B3"/>
        </a:accent5>
        <a:accent6>
          <a:srgbClr val="008A8A"/>
        </a:accent6>
        <a:hlink>
          <a:srgbClr val="3366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datosraw</Template>
  <TotalTime>3689</TotalTime>
  <Words>2491</Words>
  <Application>Microsoft Office PowerPoint</Application>
  <PresentationFormat>On-screen Show (4:3)</PresentationFormat>
  <Paragraphs>357</Paragraphs>
  <Slides>53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Arial</vt:lpstr>
      <vt:lpstr>Calibri</vt:lpstr>
      <vt:lpstr>Cambria Math</vt:lpstr>
      <vt:lpstr>Monotype Sorts</vt:lpstr>
      <vt:lpstr>Times New Roman</vt:lpstr>
      <vt:lpstr>Cuaderno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RevolucionUnattended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Win seven</dc:creator>
  <cp:lastModifiedBy>Pablo Fierens</cp:lastModifiedBy>
  <cp:revision>242</cp:revision>
  <dcterms:created xsi:type="dcterms:W3CDTF">2015-03-04T12:36:29Z</dcterms:created>
  <dcterms:modified xsi:type="dcterms:W3CDTF">2023-10-22T22:24:30Z</dcterms:modified>
</cp:coreProperties>
</file>