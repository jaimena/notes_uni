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4"/>
  </p:sldMasterIdLst>
  <p:sldIdLst>
    <p:sldId id="256" r:id="rId5"/>
    <p:sldId id="271" r:id="rId6"/>
    <p:sldId id="270" r:id="rId7"/>
    <p:sldId id="257" r:id="rId8"/>
    <p:sldId id="260" r:id="rId9"/>
    <p:sldId id="263" r:id="rId10"/>
    <p:sldId id="272" r:id="rId11"/>
    <p:sldId id="273" r:id="rId12"/>
    <p:sldId id="259" r:id="rId13"/>
    <p:sldId id="279" r:id="rId14"/>
    <p:sldId id="280" r:id="rId15"/>
    <p:sldId id="281" r:id="rId16"/>
    <p:sldId id="282" r:id="rId17"/>
    <p:sldId id="278" r:id="rId18"/>
    <p:sldId id="264" r:id="rId19"/>
    <p:sldId id="265" r:id="rId20"/>
    <p:sldId id="283" r:id="rId21"/>
    <p:sldId id="267" r:id="rId22"/>
    <p:sldId id="268" r:id="rId23"/>
    <p:sldId id="269" r:id="rId24"/>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7164" autoAdjust="0"/>
    <p:restoredTop sz="90929"/>
  </p:normalViewPr>
  <p:slideViewPr>
    <p:cSldViewPr>
      <p:cViewPr varScale="1">
        <p:scale>
          <a:sx n="75" d="100"/>
          <a:sy n="75" d="100"/>
        </p:scale>
        <p:origin x="1138" y="53"/>
      </p:cViewPr>
      <p:guideLst>
        <p:guide orient="horz" pos="2160"/>
        <p:guide pos="2880"/>
      </p:guideLst>
    </p:cSldViewPr>
  </p:slideViewPr>
  <p:outlineViewPr>
    <p:cViewPr>
      <p:scale>
        <a:sx n="33" d="100"/>
        <a:sy n="33" d="100"/>
      </p:scale>
      <p:origin x="0" y="0"/>
    </p:cViewPr>
  </p:outlineViewPr>
  <p:notesTextViewPr>
    <p:cViewPr>
      <p:scale>
        <a:sx n="400" d="100"/>
        <a:sy n="4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2" descr="Canvas"/>
          <p:cNvSpPr>
            <a:spLocks noChangeArrowheads="1"/>
          </p:cNvSpPr>
          <p:nvPr/>
        </p:nvSpPr>
        <p:spPr bwMode="white">
          <a:xfrm>
            <a:off x="528638" y="201613"/>
            <a:ext cx="8397875" cy="6467475"/>
          </a:xfrm>
          <a:prstGeom prst="rect">
            <a:avLst/>
          </a:prstGeom>
          <a:blipFill dpi="0" rotWithShape="0">
            <a:blip r:embed="rId2"/>
            <a:srcRect/>
            <a:tile tx="0" ty="0" sx="100000" sy="100000" flip="none" algn="tl"/>
          </a:blip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defRPr/>
            </a:pPr>
            <a:endParaRPr kumimoji="1" lang="es-ES" altLang="en-US"/>
          </a:p>
        </p:txBody>
      </p:sp>
      <p:pic>
        <p:nvPicPr>
          <p:cNvPr id="5" name="Picture 3" descr="minispi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ltGray">
          <a:xfrm>
            <a:off x="0" y="50800"/>
            <a:ext cx="1181100" cy="428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4" descr="Canvas"/>
          <p:cNvSpPr>
            <a:spLocks noChangeArrowheads="1"/>
          </p:cNvSpPr>
          <p:nvPr/>
        </p:nvSpPr>
        <p:spPr bwMode="white">
          <a:xfrm>
            <a:off x="596900" y="4130675"/>
            <a:ext cx="1041400" cy="457200"/>
          </a:xfrm>
          <a:prstGeom prst="rect">
            <a:avLst/>
          </a:prstGeom>
          <a:blipFill dpi="0" rotWithShape="0">
            <a:blip r:embed="rId2"/>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defRPr/>
            </a:pPr>
            <a:endParaRPr kumimoji="1" lang="es-ES" altLang="en-US"/>
          </a:p>
        </p:txBody>
      </p:sp>
      <p:pic>
        <p:nvPicPr>
          <p:cNvPr id="7" name="Picture 5" descr="minispir"/>
          <p:cNvPicPr>
            <a:picLocks noChangeAspect="1" noChangeArrowheads="1"/>
          </p:cNvPicPr>
          <p:nvPr/>
        </p:nvPicPr>
        <p:blipFill>
          <a:blip r:embed="rId3">
            <a:extLst>
              <a:ext uri="{28A0092B-C50C-407E-A947-70E740481C1C}">
                <a14:useLocalDpi xmlns:a14="http://schemas.microsoft.com/office/drawing/2010/main" val="0"/>
              </a:ext>
            </a:extLst>
          </a:blip>
          <a:srcRect t="39999"/>
          <a:stretch>
            <a:fillRect/>
          </a:stretch>
        </p:blipFill>
        <p:spPr bwMode="ltGray">
          <a:xfrm>
            <a:off x="0" y="4222750"/>
            <a:ext cx="1181100" cy="257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02" name="Rectangle 6"/>
          <p:cNvSpPr>
            <a:spLocks noGrp="1" noChangeArrowheads="1"/>
          </p:cNvSpPr>
          <p:nvPr>
            <p:ph type="ctrTitle"/>
          </p:nvPr>
        </p:nvSpPr>
        <p:spPr>
          <a:xfrm>
            <a:off x="914400" y="2057400"/>
            <a:ext cx="7721600" cy="1143000"/>
          </a:xfrm>
        </p:spPr>
        <p:txBody>
          <a:bodyPr/>
          <a:lstStyle>
            <a:lvl1pPr>
              <a:defRPr/>
            </a:lvl1pPr>
          </a:lstStyle>
          <a:p>
            <a:pPr lvl="0"/>
            <a:r>
              <a:rPr lang="en-US" altLang="en-US" noProof="0"/>
              <a:t>Click to edit Master title style</a:t>
            </a:r>
          </a:p>
        </p:txBody>
      </p:sp>
      <p:sp>
        <p:nvSpPr>
          <p:cNvPr id="4103" name="Rectangle 7"/>
          <p:cNvSpPr>
            <a:spLocks noGrp="1" noChangeArrowheads="1"/>
          </p:cNvSpPr>
          <p:nvPr>
            <p:ph type="subTitle" idx="1"/>
          </p:nvPr>
        </p:nvSpPr>
        <p:spPr>
          <a:xfrm>
            <a:off x="1625600" y="3886200"/>
            <a:ext cx="6400800" cy="1771650"/>
          </a:xfrm>
        </p:spPr>
        <p:txBody>
          <a:bodyPr/>
          <a:lstStyle>
            <a:lvl1pPr marL="0" indent="0" algn="ctr">
              <a:buFontTx/>
              <a:buNone/>
              <a:defRPr/>
            </a:lvl1pPr>
          </a:lstStyle>
          <a:p>
            <a:pPr lvl="0"/>
            <a:r>
              <a:rPr lang="en-US" altLang="en-US" noProof="0"/>
              <a:t>Click to edit Master subtitle style</a:t>
            </a:r>
          </a:p>
        </p:txBody>
      </p:sp>
      <p:sp>
        <p:nvSpPr>
          <p:cNvPr id="8" name="Rectangle 8"/>
          <p:cNvSpPr>
            <a:spLocks noGrp="1" noChangeArrowheads="1"/>
          </p:cNvSpPr>
          <p:nvPr>
            <p:ph type="dt" sz="quarter" idx="10"/>
          </p:nvPr>
        </p:nvSpPr>
        <p:spPr>
          <a:xfrm>
            <a:off x="1084263" y="6096000"/>
            <a:ext cx="1905000" cy="457200"/>
          </a:xfrm>
        </p:spPr>
        <p:txBody>
          <a:bodyPr/>
          <a:lstStyle>
            <a:lvl1pPr>
              <a:defRPr/>
            </a:lvl1pPr>
          </a:lstStyle>
          <a:p>
            <a:pPr>
              <a:defRPr/>
            </a:pPr>
            <a:endParaRPr lang="en-US" altLang="en-US"/>
          </a:p>
        </p:txBody>
      </p:sp>
      <p:sp>
        <p:nvSpPr>
          <p:cNvPr id="9" name="Rectangle 9"/>
          <p:cNvSpPr>
            <a:spLocks noGrp="1" noChangeArrowheads="1"/>
          </p:cNvSpPr>
          <p:nvPr>
            <p:ph type="ftr" sz="quarter" idx="11"/>
          </p:nvPr>
        </p:nvSpPr>
        <p:spPr>
          <a:xfrm>
            <a:off x="3522663" y="6096000"/>
            <a:ext cx="2895600" cy="457200"/>
          </a:xfrm>
        </p:spPr>
        <p:txBody>
          <a:bodyPr/>
          <a:lstStyle>
            <a:lvl1pPr>
              <a:defRPr/>
            </a:lvl1pPr>
          </a:lstStyle>
          <a:p>
            <a:pPr>
              <a:defRPr/>
            </a:pPr>
            <a:endParaRPr lang="en-US" altLang="en-US"/>
          </a:p>
        </p:txBody>
      </p:sp>
      <p:sp>
        <p:nvSpPr>
          <p:cNvPr id="10" name="Rectangle 10"/>
          <p:cNvSpPr>
            <a:spLocks noGrp="1" noChangeArrowheads="1"/>
          </p:cNvSpPr>
          <p:nvPr>
            <p:ph type="sldNum" sz="quarter" idx="12"/>
          </p:nvPr>
        </p:nvSpPr>
        <p:spPr>
          <a:xfrm>
            <a:off x="6951663" y="6096000"/>
            <a:ext cx="1905000" cy="457200"/>
          </a:xfrm>
        </p:spPr>
        <p:txBody>
          <a:bodyPr/>
          <a:lstStyle>
            <a:lvl1pPr>
              <a:defRPr/>
            </a:lvl1pPr>
          </a:lstStyle>
          <a:p>
            <a:pPr>
              <a:defRPr/>
            </a:pPr>
            <a:fld id="{D0E840BC-2FD3-4569-908B-6C8FA5EFB04E}" type="slidenum">
              <a:rPr lang="en-US" altLang="en-US"/>
              <a:pPr>
                <a:defRPr/>
              </a:pPr>
              <a:t>‹#›</a:t>
            </a:fld>
            <a:endParaRPr lang="en-US" altLang="en-US"/>
          </a:p>
        </p:txBody>
      </p:sp>
    </p:spTree>
    <p:extLst>
      <p:ext uri="{BB962C8B-B14F-4D97-AF65-F5344CB8AC3E}">
        <p14:creationId xmlns:p14="http://schemas.microsoft.com/office/powerpoint/2010/main" val="41103115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8"/>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9"/>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10"/>
          <p:cNvSpPr>
            <a:spLocks noGrp="1" noChangeArrowheads="1"/>
          </p:cNvSpPr>
          <p:nvPr>
            <p:ph type="sldNum" sz="quarter" idx="12"/>
          </p:nvPr>
        </p:nvSpPr>
        <p:spPr>
          <a:ln/>
        </p:spPr>
        <p:txBody>
          <a:bodyPr/>
          <a:lstStyle>
            <a:lvl1pPr>
              <a:defRPr/>
            </a:lvl1pPr>
          </a:lstStyle>
          <a:p>
            <a:pPr>
              <a:defRPr/>
            </a:pPr>
            <a:fld id="{974715DE-C76B-4E06-BAFF-DECADC1960FF}" type="slidenum">
              <a:rPr lang="en-US" altLang="en-US"/>
              <a:pPr>
                <a:defRPr/>
              </a:pPr>
              <a:t>‹#›</a:t>
            </a:fld>
            <a:endParaRPr lang="en-US" altLang="en-US"/>
          </a:p>
        </p:txBody>
      </p:sp>
    </p:spTree>
    <p:extLst>
      <p:ext uri="{BB962C8B-B14F-4D97-AF65-F5344CB8AC3E}">
        <p14:creationId xmlns:p14="http://schemas.microsoft.com/office/powerpoint/2010/main" val="15299211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8"/>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9"/>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10"/>
          <p:cNvSpPr>
            <a:spLocks noGrp="1" noChangeArrowheads="1"/>
          </p:cNvSpPr>
          <p:nvPr>
            <p:ph type="sldNum" sz="quarter" idx="12"/>
          </p:nvPr>
        </p:nvSpPr>
        <p:spPr>
          <a:ln/>
        </p:spPr>
        <p:txBody>
          <a:bodyPr/>
          <a:lstStyle>
            <a:lvl1pPr>
              <a:defRPr/>
            </a:lvl1pPr>
          </a:lstStyle>
          <a:p>
            <a:pPr>
              <a:defRPr/>
            </a:pPr>
            <a:fld id="{6A476E1C-213D-4AA0-B15E-B9E64083D111}" type="slidenum">
              <a:rPr lang="en-US" altLang="en-US"/>
              <a:pPr>
                <a:defRPr/>
              </a:pPr>
              <a:t>‹#›</a:t>
            </a:fld>
            <a:endParaRPr lang="en-US" altLang="en-US"/>
          </a:p>
        </p:txBody>
      </p:sp>
    </p:spTree>
    <p:extLst>
      <p:ext uri="{BB962C8B-B14F-4D97-AF65-F5344CB8AC3E}">
        <p14:creationId xmlns:p14="http://schemas.microsoft.com/office/powerpoint/2010/main" val="37739243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066800" y="1752600"/>
            <a:ext cx="37338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53000" y="1752600"/>
            <a:ext cx="37338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8"/>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9"/>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10"/>
          <p:cNvSpPr>
            <a:spLocks noGrp="1" noChangeArrowheads="1"/>
          </p:cNvSpPr>
          <p:nvPr>
            <p:ph type="sldNum" sz="quarter" idx="12"/>
          </p:nvPr>
        </p:nvSpPr>
        <p:spPr>
          <a:ln/>
        </p:spPr>
        <p:txBody>
          <a:bodyPr/>
          <a:lstStyle>
            <a:lvl1pPr>
              <a:defRPr/>
            </a:lvl1pPr>
          </a:lstStyle>
          <a:p>
            <a:pPr>
              <a:defRPr/>
            </a:pPr>
            <a:fld id="{74D4162D-B54D-4BCF-92C9-F5D8457980C8}" type="slidenum">
              <a:rPr lang="en-US" altLang="en-US"/>
              <a:pPr>
                <a:defRPr/>
              </a:pPr>
              <a:t>‹#›</a:t>
            </a:fld>
            <a:endParaRPr lang="en-US" altLang="en-US"/>
          </a:p>
        </p:txBody>
      </p:sp>
    </p:spTree>
    <p:extLst>
      <p:ext uri="{BB962C8B-B14F-4D97-AF65-F5344CB8AC3E}">
        <p14:creationId xmlns:p14="http://schemas.microsoft.com/office/powerpoint/2010/main" val="23031641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8"/>
          <p:cNvSpPr>
            <a:spLocks noGrp="1" noChangeArrowheads="1"/>
          </p:cNvSpPr>
          <p:nvPr>
            <p:ph type="dt" sz="half" idx="10"/>
          </p:nvPr>
        </p:nvSpPr>
        <p:spPr>
          <a:ln/>
        </p:spPr>
        <p:txBody>
          <a:bodyPr/>
          <a:lstStyle>
            <a:lvl1pPr>
              <a:defRPr/>
            </a:lvl1pPr>
          </a:lstStyle>
          <a:p>
            <a:pPr>
              <a:defRPr/>
            </a:pPr>
            <a:endParaRPr lang="en-US" altLang="en-US"/>
          </a:p>
        </p:txBody>
      </p:sp>
      <p:sp>
        <p:nvSpPr>
          <p:cNvPr id="8" name="Rectangle 9"/>
          <p:cNvSpPr>
            <a:spLocks noGrp="1" noChangeArrowheads="1"/>
          </p:cNvSpPr>
          <p:nvPr>
            <p:ph type="ftr" sz="quarter" idx="11"/>
          </p:nvPr>
        </p:nvSpPr>
        <p:spPr>
          <a:ln/>
        </p:spPr>
        <p:txBody>
          <a:bodyPr/>
          <a:lstStyle>
            <a:lvl1pPr>
              <a:defRPr/>
            </a:lvl1pPr>
          </a:lstStyle>
          <a:p>
            <a:pPr>
              <a:defRPr/>
            </a:pPr>
            <a:endParaRPr lang="en-US" altLang="en-US"/>
          </a:p>
        </p:txBody>
      </p:sp>
      <p:sp>
        <p:nvSpPr>
          <p:cNvPr id="9" name="Rectangle 10"/>
          <p:cNvSpPr>
            <a:spLocks noGrp="1" noChangeArrowheads="1"/>
          </p:cNvSpPr>
          <p:nvPr>
            <p:ph type="sldNum" sz="quarter" idx="12"/>
          </p:nvPr>
        </p:nvSpPr>
        <p:spPr>
          <a:ln/>
        </p:spPr>
        <p:txBody>
          <a:bodyPr/>
          <a:lstStyle>
            <a:lvl1pPr>
              <a:defRPr/>
            </a:lvl1pPr>
          </a:lstStyle>
          <a:p>
            <a:pPr>
              <a:defRPr/>
            </a:pPr>
            <a:fld id="{DCCA0F84-DAD4-4451-9860-1386C25145DA}" type="slidenum">
              <a:rPr lang="en-US" altLang="en-US"/>
              <a:pPr>
                <a:defRPr/>
              </a:pPr>
              <a:t>‹#›</a:t>
            </a:fld>
            <a:endParaRPr lang="en-US" altLang="en-US"/>
          </a:p>
        </p:txBody>
      </p:sp>
    </p:spTree>
    <p:extLst>
      <p:ext uri="{BB962C8B-B14F-4D97-AF65-F5344CB8AC3E}">
        <p14:creationId xmlns:p14="http://schemas.microsoft.com/office/powerpoint/2010/main" val="25550082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8"/>
          <p:cNvSpPr>
            <a:spLocks noGrp="1" noChangeArrowheads="1"/>
          </p:cNvSpPr>
          <p:nvPr>
            <p:ph type="dt" sz="half" idx="10"/>
          </p:nvPr>
        </p:nvSpPr>
        <p:spPr>
          <a:ln/>
        </p:spPr>
        <p:txBody>
          <a:bodyPr/>
          <a:lstStyle>
            <a:lvl1pPr>
              <a:defRPr/>
            </a:lvl1pPr>
          </a:lstStyle>
          <a:p>
            <a:pPr>
              <a:defRPr/>
            </a:pPr>
            <a:endParaRPr lang="en-US" altLang="en-US"/>
          </a:p>
        </p:txBody>
      </p:sp>
      <p:sp>
        <p:nvSpPr>
          <p:cNvPr id="4" name="Rectangle 9"/>
          <p:cNvSpPr>
            <a:spLocks noGrp="1" noChangeArrowheads="1"/>
          </p:cNvSpPr>
          <p:nvPr>
            <p:ph type="ftr" sz="quarter" idx="11"/>
          </p:nvPr>
        </p:nvSpPr>
        <p:spPr>
          <a:ln/>
        </p:spPr>
        <p:txBody>
          <a:bodyPr/>
          <a:lstStyle>
            <a:lvl1pPr>
              <a:defRPr/>
            </a:lvl1pPr>
          </a:lstStyle>
          <a:p>
            <a:pPr>
              <a:defRPr/>
            </a:pPr>
            <a:endParaRPr lang="en-US" altLang="en-US"/>
          </a:p>
        </p:txBody>
      </p:sp>
      <p:sp>
        <p:nvSpPr>
          <p:cNvPr id="5" name="Rectangle 10"/>
          <p:cNvSpPr>
            <a:spLocks noGrp="1" noChangeArrowheads="1"/>
          </p:cNvSpPr>
          <p:nvPr>
            <p:ph type="sldNum" sz="quarter" idx="12"/>
          </p:nvPr>
        </p:nvSpPr>
        <p:spPr>
          <a:ln/>
        </p:spPr>
        <p:txBody>
          <a:bodyPr/>
          <a:lstStyle>
            <a:lvl1pPr>
              <a:defRPr/>
            </a:lvl1pPr>
          </a:lstStyle>
          <a:p>
            <a:pPr>
              <a:defRPr/>
            </a:pPr>
            <a:fld id="{7C00C487-3655-4552-8FB7-109FCDDDAFBE}" type="slidenum">
              <a:rPr lang="en-US" altLang="en-US"/>
              <a:pPr>
                <a:defRPr/>
              </a:pPr>
              <a:t>‹#›</a:t>
            </a:fld>
            <a:endParaRPr lang="en-US" altLang="en-US"/>
          </a:p>
        </p:txBody>
      </p:sp>
    </p:spTree>
    <p:extLst>
      <p:ext uri="{BB962C8B-B14F-4D97-AF65-F5344CB8AC3E}">
        <p14:creationId xmlns:p14="http://schemas.microsoft.com/office/powerpoint/2010/main" val="31914369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8"/>
          <p:cNvSpPr>
            <a:spLocks noGrp="1" noChangeArrowheads="1"/>
          </p:cNvSpPr>
          <p:nvPr>
            <p:ph type="dt" sz="half" idx="10"/>
          </p:nvPr>
        </p:nvSpPr>
        <p:spPr>
          <a:ln/>
        </p:spPr>
        <p:txBody>
          <a:bodyPr/>
          <a:lstStyle>
            <a:lvl1pPr>
              <a:defRPr/>
            </a:lvl1pPr>
          </a:lstStyle>
          <a:p>
            <a:pPr>
              <a:defRPr/>
            </a:pPr>
            <a:endParaRPr lang="en-US" altLang="en-US"/>
          </a:p>
        </p:txBody>
      </p:sp>
      <p:sp>
        <p:nvSpPr>
          <p:cNvPr id="3" name="Rectangle 9"/>
          <p:cNvSpPr>
            <a:spLocks noGrp="1" noChangeArrowheads="1"/>
          </p:cNvSpPr>
          <p:nvPr>
            <p:ph type="ftr" sz="quarter" idx="11"/>
          </p:nvPr>
        </p:nvSpPr>
        <p:spPr>
          <a:ln/>
        </p:spPr>
        <p:txBody>
          <a:bodyPr/>
          <a:lstStyle>
            <a:lvl1pPr>
              <a:defRPr/>
            </a:lvl1pPr>
          </a:lstStyle>
          <a:p>
            <a:pPr>
              <a:defRPr/>
            </a:pPr>
            <a:endParaRPr lang="en-US" altLang="en-US"/>
          </a:p>
        </p:txBody>
      </p:sp>
      <p:sp>
        <p:nvSpPr>
          <p:cNvPr id="4" name="Rectangle 10"/>
          <p:cNvSpPr>
            <a:spLocks noGrp="1" noChangeArrowheads="1"/>
          </p:cNvSpPr>
          <p:nvPr>
            <p:ph type="sldNum" sz="quarter" idx="12"/>
          </p:nvPr>
        </p:nvSpPr>
        <p:spPr>
          <a:ln/>
        </p:spPr>
        <p:txBody>
          <a:bodyPr/>
          <a:lstStyle>
            <a:lvl1pPr>
              <a:defRPr/>
            </a:lvl1pPr>
          </a:lstStyle>
          <a:p>
            <a:pPr>
              <a:defRPr/>
            </a:pPr>
            <a:fld id="{056F2337-5BB1-49E4-B3B7-3A3D0F96FD6C}" type="slidenum">
              <a:rPr lang="en-US" altLang="en-US"/>
              <a:pPr>
                <a:defRPr/>
              </a:pPr>
              <a:t>‹#›</a:t>
            </a:fld>
            <a:endParaRPr lang="en-US" altLang="en-US"/>
          </a:p>
        </p:txBody>
      </p:sp>
    </p:spTree>
    <p:extLst>
      <p:ext uri="{BB962C8B-B14F-4D97-AF65-F5344CB8AC3E}">
        <p14:creationId xmlns:p14="http://schemas.microsoft.com/office/powerpoint/2010/main" val="3169041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8"/>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9"/>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10"/>
          <p:cNvSpPr>
            <a:spLocks noGrp="1" noChangeArrowheads="1"/>
          </p:cNvSpPr>
          <p:nvPr>
            <p:ph type="sldNum" sz="quarter" idx="12"/>
          </p:nvPr>
        </p:nvSpPr>
        <p:spPr>
          <a:ln/>
        </p:spPr>
        <p:txBody>
          <a:bodyPr/>
          <a:lstStyle>
            <a:lvl1pPr>
              <a:defRPr/>
            </a:lvl1pPr>
          </a:lstStyle>
          <a:p>
            <a:pPr>
              <a:defRPr/>
            </a:pPr>
            <a:fld id="{24371ACD-0297-44D8-A715-B99233420214}" type="slidenum">
              <a:rPr lang="en-US" altLang="en-US"/>
              <a:pPr>
                <a:defRPr/>
              </a:pPr>
              <a:t>‹#›</a:t>
            </a:fld>
            <a:endParaRPr lang="en-US" altLang="en-US"/>
          </a:p>
        </p:txBody>
      </p:sp>
    </p:spTree>
    <p:extLst>
      <p:ext uri="{BB962C8B-B14F-4D97-AF65-F5344CB8AC3E}">
        <p14:creationId xmlns:p14="http://schemas.microsoft.com/office/powerpoint/2010/main" val="30175499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8"/>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9"/>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10"/>
          <p:cNvSpPr>
            <a:spLocks noGrp="1" noChangeArrowheads="1"/>
          </p:cNvSpPr>
          <p:nvPr>
            <p:ph type="sldNum" sz="quarter" idx="12"/>
          </p:nvPr>
        </p:nvSpPr>
        <p:spPr>
          <a:ln/>
        </p:spPr>
        <p:txBody>
          <a:bodyPr/>
          <a:lstStyle>
            <a:lvl1pPr>
              <a:defRPr/>
            </a:lvl1pPr>
          </a:lstStyle>
          <a:p>
            <a:pPr>
              <a:defRPr/>
            </a:pPr>
            <a:fld id="{A51AAC1C-C121-4FE1-84AD-609779730D4E}" type="slidenum">
              <a:rPr lang="en-US" altLang="en-US"/>
              <a:pPr>
                <a:defRPr/>
              </a:pPr>
              <a:t>‹#›</a:t>
            </a:fld>
            <a:endParaRPr lang="en-US" altLang="en-US"/>
          </a:p>
        </p:txBody>
      </p:sp>
    </p:spTree>
    <p:extLst>
      <p:ext uri="{BB962C8B-B14F-4D97-AF65-F5344CB8AC3E}">
        <p14:creationId xmlns:p14="http://schemas.microsoft.com/office/powerpoint/2010/main" val="6485482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8"/>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9"/>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10"/>
          <p:cNvSpPr>
            <a:spLocks noGrp="1" noChangeArrowheads="1"/>
          </p:cNvSpPr>
          <p:nvPr>
            <p:ph type="sldNum" sz="quarter" idx="12"/>
          </p:nvPr>
        </p:nvSpPr>
        <p:spPr>
          <a:ln/>
        </p:spPr>
        <p:txBody>
          <a:bodyPr/>
          <a:lstStyle>
            <a:lvl1pPr>
              <a:defRPr/>
            </a:lvl1pPr>
          </a:lstStyle>
          <a:p>
            <a:pPr>
              <a:defRPr/>
            </a:pPr>
            <a:fld id="{F59EEDB0-CB0B-4F27-9800-DD4418E1E681}" type="slidenum">
              <a:rPr lang="en-US" altLang="en-US"/>
              <a:pPr>
                <a:defRPr/>
              </a:pPr>
              <a:t>‹#›</a:t>
            </a:fld>
            <a:endParaRPr lang="en-US" altLang="en-US"/>
          </a:p>
        </p:txBody>
      </p:sp>
    </p:spTree>
    <p:extLst>
      <p:ext uri="{BB962C8B-B14F-4D97-AF65-F5344CB8AC3E}">
        <p14:creationId xmlns:p14="http://schemas.microsoft.com/office/powerpoint/2010/main" val="18827008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381000"/>
            <a:ext cx="19050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066800" y="381000"/>
            <a:ext cx="55626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8"/>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9"/>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10"/>
          <p:cNvSpPr>
            <a:spLocks noGrp="1" noChangeArrowheads="1"/>
          </p:cNvSpPr>
          <p:nvPr>
            <p:ph type="sldNum" sz="quarter" idx="12"/>
          </p:nvPr>
        </p:nvSpPr>
        <p:spPr>
          <a:ln/>
        </p:spPr>
        <p:txBody>
          <a:bodyPr/>
          <a:lstStyle>
            <a:lvl1pPr>
              <a:defRPr/>
            </a:lvl1pPr>
          </a:lstStyle>
          <a:p>
            <a:pPr>
              <a:defRPr/>
            </a:pPr>
            <a:fld id="{7F394EA4-15B6-4D52-BBE4-4BA285BA0F81}" type="slidenum">
              <a:rPr lang="en-US" altLang="en-US"/>
              <a:pPr>
                <a:defRPr/>
              </a:pPr>
              <a:t>‹#›</a:t>
            </a:fld>
            <a:endParaRPr lang="en-US" altLang="en-US"/>
          </a:p>
        </p:txBody>
      </p:sp>
    </p:spTree>
    <p:extLst>
      <p:ext uri="{BB962C8B-B14F-4D97-AF65-F5344CB8AC3E}">
        <p14:creationId xmlns:p14="http://schemas.microsoft.com/office/powerpoint/2010/main" val="23092487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ltGray">
      <p:bgPr>
        <a:solidFill>
          <a:srgbClr val="906D58"/>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ltGray">
          <a:xfrm>
            <a:off x="609600" y="228600"/>
            <a:ext cx="8239125" cy="6391275"/>
          </a:xfrm>
          <a:prstGeom prst="rect">
            <a:avLst/>
          </a:prstGeom>
          <a:solidFill>
            <a:srgbClr val="EDE7E3"/>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defRPr/>
            </a:pPr>
            <a:endParaRPr kumimoji="1" lang="es-ES" altLang="en-US"/>
          </a:p>
        </p:txBody>
      </p:sp>
      <p:sp>
        <p:nvSpPr>
          <p:cNvPr id="1027" name="Line 3"/>
          <p:cNvSpPr>
            <a:spLocks noChangeShapeType="1"/>
          </p:cNvSpPr>
          <p:nvPr/>
        </p:nvSpPr>
        <p:spPr bwMode="ltGray">
          <a:xfrm>
            <a:off x="1016000" y="1600200"/>
            <a:ext cx="7670800" cy="0"/>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pic>
        <p:nvPicPr>
          <p:cNvPr id="1028" name="Picture 4" descr="minispir"/>
          <p:cNvPicPr>
            <a:picLocks noChangeAspect="1" noChangeArrowheads="1"/>
          </p:cNvPicPr>
          <p:nvPr/>
        </p:nvPicPr>
        <p:blipFill>
          <a:blip r:embed="rId13">
            <a:extLst>
              <a:ext uri="{28A0092B-C50C-407E-A947-70E740481C1C}">
                <a14:useLocalDpi xmlns:a14="http://schemas.microsoft.com/office/drawing/2010/main" val="0"/>
              </a:ext>
            </a:extLst>
          </a:blip>
          <a:srcRect b="5333"/>
          <a:stretch>
            <a:fillRect/>
          </a:stretch>
        </p:blipFill>
        <p:spPr bwMode="ltGray">
          <a:xfrm>
            <a:off x="0" y="50800"/>
            <a:ext cx="1181100" cy="405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9" name="Picture 5" descr="minispir"/>
          <p:cNvPicPr>
            <a:picLocks noChangeAspect="1" noChangeArrowheads="1"/>
          </p:cNvPicPr>
          <p:nvPr/>
        </p:nvPicPr>
        <p:blipFill>
          <a:blip r:embed="rId13">
            <a:extLst>
              <a:ext uri="{28A0092B-C50C-407E-A947-70E740481C1C}">
                <a14:useLocalDpi xmlns:a14="http://schemas.microsoft.com/office/drawing/2010/main" val="0"/>
              </a:ext>
            </a:extLst>
          </a:blip>
          <a:srcRect t="39999"/>
          <a:stretch>
            <a:fillRect/>
          </a:stretch>
        </p:blipFill>
        <p:spPr bwMode="ltGray">
          <a:xfrm>
            <a:off x="0" y="4222750"/>
            <a:ext cx="1181100" cy="257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0" name="Rectangle 6"/>
          <p:cNvSpPr>
            <a:spLocks noGrp="1" noChangeArrowheads="1"/>
          </p:cNvSpPr>
          <p:nvPr>
            <p:ph type="title"/>
          </p:nvPr>
        </p:nvSpPr>
        <p:spPr bwMode="auto">
          <a:xfrm>
            <a:off x="1066800" y="381000"/>
            <a:ext cx="76200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31" name="Rectangle 7"/>
          <p:cNvSpPr>
            <a:spLocks noGrp="1" noChangeArrowheads="1"/>
          </p:cNvSpPr>
          <p:nvPr>
            <p:ph type="body" idx="1"/>
          </p:nvPr>
        </p:nvSpPr>
        <p:spPr bwMode="auto">
          <a:xfrm>
            <a:off x="1066800" y="1752600"/>
            <a:ext cx="76200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3080" name="Rectangle 8"/>
          <p:cNvSpPr>
            <a:spLocks noGrp="1" noChangeArrowheads="1"/>
          </p:cNvSpPr>
          <p:nvPr>
            <p:ph type="dt" sz="half" idx="2"/>
          </p:nvPr>
        </p:nvSpPr>
        <p:spPr bwMode="auto">
          <a:xfrm>
            <a:off x="1014413" y="6107113"/>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400"/>
            </a:lvl1pPr>
          </a:lstStyle>
          <a:p>
            <a:pPr>
              <a:defRPr/>
            </a:pPr>
            <a:endParaRPr lang="en-US" altLang="en-US"/>
          </a:p>
        </p:txBody>
      </p:sp>
      <p:sp>
        <p:nvSpPr>
          <p:cNvPr id="3081" name="Rectangle 9"/>
          <p:cNvSpPr>
            <a:spLocks noGrp="1" noChangeArrowheads="1"/>
          </p:cNvSpPr>
          <p:nvPr>
            <p:ph type="ftr" sz="quarter" idx="3"/>
          </p:nvPr>
        </p:nvSpPr>
        <p:spPr bwMode="auto">
          <a:xfrm>
            <a:off x="3452813" y="6107113"/>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a:lvl1pPr>
          </a:lstStyle>
          <a:p>
            <a:pPr>
              <a:defRPr/>
            </a:pPr>
            <a:endParaRPr lang="en-US" altLang="en-US"/>
          </a:p>
        </p:txBody>
      </p:sp>
      <p:sp>
        <p:nvSpPr>
          <p:cNvPr id="3082" name="Rectangle 10"/>
          <p:cNvSpPr>
            <a:spLocks noGrp="1" noChangeArrowheads="1"/>
          </p:cNvSpPr>
          <p:nvPr>
            <p:ph type="sldNum" sz="quarter" idx="4"/>
          </p:nvPr>
        </p:nvSpPr>
        <p:spPr bwMode="auto">
          <a:xfrm>
            <a:off x="6881813" y="6107113"/>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400"/>
            </a:lvl1pPr>
          </a:lstStyle>
          <a:p>
            <a:pPr>
              <a:defRPr/>
            </a:pPr>
            <a:fld id="{6676B3A3-7822-4DAC-B7FE-4601D4E04FCC}"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684"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6.xml"/><Relationship Id="rId5" Type="http://schemas.openxmlformats.org/officeDocument/2006/relationships/image" Target="../media/image6.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6.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6.png"/><Relationship Id="rId1" Type="http://schemas.openxmlformats.org/officeDocument/2006/relationships/slideLayout" Target="../slideLayouts/slideLayout6.xml"/><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6.png"/><Relationship Id="rId1" Type="http://schemas.openxmlformats.org/officeDocument/2006/relationships/slideLayout" Target="../slideLayouts/slideLayout6.xml"/><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7.png"/><Relationship Id="rId1" Type="http://schemas.openxmlformats.org/officeDocument/2006/relationships/slideLayout" Target="../slideLayouts/slideLayout6.xml"/><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6.xml"/><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6.xml"/><Relationship Id="rId4" Type="http://schemas.openxmlformats.org/officeDocument/2006/relationships/image" Target="../media/image30.png"/></Relationships>
</file>

<file path=ppt/slides/_rels/slide1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6.xml"/><Relationship Id="rId4" Type="http://schemas.openxmlformats.org/officeDocument/2006/relationships/image" Target="../media/image33.png"/></Relationships>
</file>

<file path=ppt/slides/_rels/slide1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6.xml"/><Relationship Id="rId4" Type="http://schemas.openxmlformats.org/officeDocument/2006/relationships/image" Target="../media/image36.png"/></Relationships>
</file>

<file path=ppt/slides/_rels/slide1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6.xml"/><Relationship Id="rId4" Type="http://schemas.openxmlformats.org/officeDocument/2006/relationships/image" Target="../media/image39.png"/></Relationships>
</file>

<file path=ppt/slides/_rels/slide1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6.xml"/><Relationship Id="rId4" Type="http://schemas.openxmlformats.org/officeDocument/2006/relationships/image" Target="../media/image46.png"/></Relationships>
</file>

<file path=ppt/slides/_rels/slide1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6.xml"/><Relationship Id="rId4" Type="http://schemas.openxmlformats.org/officeDocument/2006/relationships/image" Target="../media/image55.png"/></Relationships>
</file>

<file path=ppt/slides/_rels/slide20.xml.rels><?xml version="1.0" encoding="UTF-8" standalone="yes"?>
<Relationships xmlns="http://schemas.openxmlformats.org/package/2006/relationships"><Relationship Id="rId3" Type="http://schemas.openxmlformats.org/officeDocument/2006/relationships/image" Target="../media/image57.png"/><Relationship Id="rId1" Type="http://schemas.openxmlformats.org/officeDocument/2006/relationships/slideLayout" Target="../slideLayouts/slideLayout6.xml"/><Relationship Id="rId5" Type="http://schemas.openxmlformats.org/officeDocument/2006/relationships/image" Target="../media/image3.wmf"/><Relationship Id="rId4" Type="http://schemas.openxmlformats.org/officeDocument/2006/relationships/oleObject" Target="../embeddings/oleObject1.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1066800" y="355599"/>
            <a:ext cx="7620000" cy="1216025"/>
          </a:xfrm>
        </p:spPr>
        <p:txBody>
          <a:bodyPr/>
          <a:lstStyle/>
          <a:p>
            <a:pPr eaLnBrk="1" hangingPunct="1"/>
            <a:r>
              <a:rPr lang="es-MX" altLang="en-US" sz="3200" b="1" dirty="0">
                <a:latin typeface="Broadway" panose="04040905080B02020502" pitchFamily="82" charset="0"/>
              </a:rPr>
              <a:t>Cálculo de probabilidades con la regla de Laplace</a:t>
            </a:r>
            <a:endParaRPr lang="en-US" altLang="en-US" sz="3200" b="1" dirty="0">
              <a:latin typeface="Broadway" panose="04040905080B02020502" pitchFamily="82" charset="0"/>
            </a:endParaRPr>
          </a:p>
        </p:txBody>
      </p:sp>
      <p:sp>
        <p:nvSpPr>
          <p:cNvPr id="3075" name="Text Box 3"/>
          <p:cNvSpPr txBox="1">
            <a:spLocks noChangeArrowheads="1"/>
          </p:cNvSpPr>
          <p:nvPr/>
        </p:nvSpPr>
        <p:spPr bwMode="auto">
          <a:xfrm>
            <a:off x="1295400" y="1677027"/>
            <a:ext cx="73914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50000"/>
              </a:spcBef>
              <a:buFontTx/>
              <a:buNone/>
            </a:pPr>
            <a:r>
              <a:rPr lang="es-MX" altLang="en-US" sz="2400" dirty="0">
                <a:latin typeface="Arial" panose="020B0604020202020204" pitchFamily="34" charset="0"/>
              </a:rPr>
              <a:t>Se asume que todos los casos son igualmente probables</a:t>
            </a:r>
            <a:endParaRPr lang="en-US" altLang="en-US" sz="2400" dirty="0">
              <a:latin typeface="Arial" panose="020B0604020202020204" pitchFamily="34" charset="0"/>
            </a:endParaRPr>
          </a:p>
        </p:txBody>
      </p:sp>
      <mc:AlternateContent xmlns:mc="http://schemas.openxmlformats.org/markup-compatibility/2006" xmlns:a14="http://schemas.microsoft.com/office/drawing/2010/main">
        <mc:Choice Requires="a14">
          <p:sp>
            <p:nvSpPr>
              <p:cNvPr id="2" name="TextBox 1"/>
              <p:cNvSpPr txBox="1"/>
              <p:nvPr/>
            </p:nvSpPr>
            <p:spPr>
              <a:xfrm>
                <a:off x="1292002" y="4873089"/>
                <a:ext cx="7171002" cy="130561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nor/>
                        </m:rPr>
                        <a:rPr lang="es-AR" sz="2800" b="0" i="0" smtClean="0">
                          <a:latin typeface="Cambria Math" panose="02040503050406030204" pitchFamily="18" charset="0"/>
                        </a:rPr>
                        <m:t>P</m:t>
                      </m:r>
                      <m:d>
                        <m:dPr>
                          <m:ctrlPr>
                            <a:rPr lang="es-AR" sz="2800" b="0" i="1" smtClean="0">
                              <a:latin typeface="Cambria Math" panose="02040503050406030204" pitchFamily="18" charset="0"/>
                            </a:rPr>
                          </m:ctrlPr>
                        </m:dPr>
                        <m:e>
                          <m:r>
                            <a:rPr lang="es-AR" sz="2800" b="0" i="1" smtClean="0">
                              <a:latin typeface="Cambria Math" panose="02040503050406030204" pitchFamily="18" charset="0"/>
                            </a:rPr>
                            <m:t>𝐴</m:t>
                          </m:r>
                        </m:e>
                      </m:d>
                      <m:r>
                        <a:rPr lang="es-AR" sz="2800" b="0" i="1" smtClean="0">
                          <a:latin typeface="Cambria Math" panose="02040503050406030204" pitchFamily="18" charset="0"/>
                        </a:rPr>
                        <m:t>= </m:t>
                      </m:r>
                      <m:nary>
                        <m:naryPr>
                          <m:chr m:val="∑"/>
                          <m:ctrlPr>
                            <a:rPr lang="es-AR" sz="2800" b="0" i="1" smtClean="0">
                              <a:latin typeface="Cambria Math" panose="02040503050406030204" pitchFamily="18" charset="0"/>
                            </a:rPr>
                          </m:ctrlPr>
                        </m:naryPr>
                        <m:sub>
                          <m:sSub>
                            <m:sSubPr>
                              <m:ctrlPr>
                                <a:rPr lang="es-AR" sz="2800" b="0" i="1" smtClean="0">
                                  <a:latin typeface="Cambria Math" panose="02040503050406030204" pitchFamily="18" charset="0"/>
                                </a:rPr>
                              </m:ctrlPr>
                            </m:sSubPr>
                            <m:e>
                              <m:r>
                                <a:rPr lang="es-AR" sz="2800" b="0" i="1" smtClean="0">
                                  <a:latin typeface="Cambria Math" panose="02040503050406030204" pitchFamily="18" charset="0"/>
                                </a:rPr>
                                <m:t>𝑠</m:t>
                              </m:r>
                            </m:e>
                            <m:sub>
                              <m:r>
                                <a:rPr lang="es-AR" sz="2800" b="0" i="1" smtClean="0">
                                  <a:latin typeface="Cambria Math" panose="02040503050406030204" pitchFamily="18" charset="0"/>
                                </a:rPr>
                                <m:t>𝑖</m:t>
                              </m:r>
                            </m:sub>
                          </m:sSub>
                          <m:r>
                            <m:rPr>
                              <m:brk m:alnAt="23"/>
                            </m:rPr>
                            <a:rPr lang="es-AR" sz="2800" b="0" i="1" smtClean="0">
                              <a:latin typeface="Cambria Math" panose="02040503050406030204" pitchFamily="18" charset="0"/>
                              <a:ea typeface="Cambria Math" panose="02040503050406030204" pitchFamily="18" charset="0"/>
                            </a:rPr>
                            <m:t>∈</m:t>
                          </m:r>
                          <m:r>
                            <a:rPr lang="es-AR" sz="2800" b="0" i="1" smtClean="0">
                              <a:latin typeface="Cambria Math" panose="02040503050406030204" pitchFamily="18" charset="0"/>
                              <a:ea typeface="Cambria Math" panose="02040503050406030204" pitchFamily="18" charset="0"/>
                            </a:rPr>
                            <m:t>𝐴</m:t>
                          </m:r>
                        </m:sub>
                        <m:sup/>
                        <m:e>
                          <m:r>
                            <m:rPr>
                              <m:nor/>
                            </m:rPr>
                            <a:rPr lang="es-AR" sz="2800">
                              <a:latin typeface="Cambria Math" panose="02040503050406030204" pitchFamily="18" charset="0"/>
                            </a:rPr>
                            <m:t>P</m:t>
                          </m:r>
                          <m:d>
                            <m:dPr>
                              <m:ctrlPr>
                                <a:rPr lang="es-AR" sz="2800" i="1">
                                  <a:latin typeface="Cambria Math" panose="02040503050406030204" pitchFamily="18" charset="0"/>
                                </a:rPr>
                              </m:ctrlPr>
                            </m:dPr>
                            <m:e>
                              <m:d>
                                <m:dPr>
                                  <m:begChr m:val="{"/>
                                  <m:endChr m:val="}"/>
                                  <m:ctrlPr>
                                    <a:rPr lang="es-AR" sz="2800" i="1">
                                      <a:latin typeface="Cambria Math" panose="02040503050406030204" pitchFamily="18" charset="0"/>
                                    </a:rPr>
                                  </m:ctrlPr>
                                </m:dPr>
                                <m:e>
                                  <m:sSub>
                                    <m:sSubPr>
                                      <m:ctrlPr>
                                        <a:rPr lang="es-AR" sz="2800" i="1">
                                          <a:latin typeface="Cambria Math" panose="02040503050406030204" pitchFamily="18" charset="0"/>
                                        </a:rPr>
                                      </m:ctrlPr>
                                    </m:sSubPr>
                                    <m:e>
                                      <m:r>
                                        <a:rPr lang="es-AR" sz="2800" i="1">
                                          <a:latin typeface="Cambria Math" panose="02040503050406030204" pitchFamily="18" charset="0"/>
                                        </a:rPr>
                                        <m:t>𝑠</m:t>
                                      </m:r>
                                    </m:e>
                                    <m:sub>
                                      <m:r>
                                        <a:rPr lang="es-AR" sz="2800" i="1">
                                          <a:latin typeface="Cambria Math" panose="02040503050406030204" pitchFamily="18" charset="0"/>
                                        </a:rPr>
                                        <m:t>𝑖</m:t>
                                      </m:r>
                                    </m:sub>
                                  </m:sSub>
                                </m:e>
                              </m:d>
                            </m:e>
                          </m:d>
                        </m:e>
                      </m:nary>
                      <m:r>
                        <a:rPr lang="es-AR" sz="2800" b="0" i="1" smtClean="0">
                          <a:latin typeface="Cambria Math" panose="02040503050406030204" pitchFamily="18" charset="0"/>
                        </a:rPr>
                        <m:t>=</m:t>
                      </m:r>
                      <m:nary>
                        <m:naryPr>
                          <m:chr m:val="∑"/>
                          <m:ctrlPr>
                            <a:rPr lang="es-AR" sz="2800" i="1">
                              <a:latin typeface="Cambria Math" panose="02040503050406030204" pitchFamily="18" charset="0"/>
                            </a:rPr>
                          </m:ctrlPr>
                        </m:naryPr>
                        <m:sub>
                          <m:sSub>
                            <m:sSubPr>
                              <m:ctrlPr>
                                <a:rPr lang="es-AR" sz="2800" i="1">
                                  <a:latin typeface="Cambria Math" panose="02040503050406030204" pitchFamily="18" charset="0"/>
                                </a:rPr>
                              </m:ctrlPr>
                            </m:sSubPr>
                            <m:e>
                              <m:r>
                                <a:rPr lang="es-AR" sz="2800" i="1">
                                  <a:latin typeface="Cambria Math" panose="02040503050406030204" pitchFamily="18" charset="0"/>
                                </a:rPr>
                                <m:t>𝑠</m:t>
                              </m:r>
                            </m:e>
                            <m:sub>
                              <m:r>
                                <a:rPr lang="es-AR" sz="2800" i="1">
                                  <a:latin typeface="Cambria Math" panose="02040503050406030204" pitchFamily="18" charset="0"/>
                                </a:rPr>
                                <m:t>𝑖</m:t>
                              </m:r>
                            </m:sub>
                          </m:sSub>
                          <m:r>
                            <m:rPr>
                              <m:brk m:alnAt="23"/>
                            </m:rPr>
                            <a:rPr lang="es-AR" sz="2800" i="1">
                              <a:latin typeface="Cambria Math" panose="02040503050406030204" pitchFamily="18" charset="0"/>
                              <a:ea typeface="Cambria Math" panose="02040503050406030204" pitchFamily="18" charset="0"/>
                            </a:rPr>
                            <m:t>∈</m:t>
                          </m:r>
                          <m:r>
                            <a:rPr lang="es-AR" sz="2800" i="1">
                              <a:latin typeface="Cambria Math" panose="02040503050406030204" pitchFamily="18" charset="0"/>
                              <a:ea typeface="Cambria Math" panose="02040503050406030204" pitchFamily="18" charset="0"/>
                            </a:rPr>
                            <m:t>𝐴</m:t>
                          </m:r>
                        </m:sub>
                        <m:sup/>
                        <m:e>
                          <m:f>
                            <m:fPr>
                              <m:ctrlPr>
                                <a:rPr lang="es-AR" sz="2800" i="1">
                                  <a:latin typeface="Cambria Math" panose="02040503050406030204" pitchFamily="18" charset="0"/>
                                </a:rPr>
                              </m:ctrlPr>
                            </m:fPr>
                            <m:num>
                              <m:r>
                                <a:rPr lang="es-AR" sz="2800" i="1">
                                  <a:latin typeface="Cambria Math" panose="02040503050406030204" pitchFamily="18" charset="0"/>
                                </a:rPr>
                                <m:t>1</m:t>
                              </m:r>
                            </m:num>
                            <m:den>
                              <m:r>
                                <a:rPr lang="es-AR" sz="2800" i="1">
                                  <a:latin typeface="Cambria Math" panose="02040503050406030204" pitchFamily="18" charset="0"/>
                                </a:rPr>
                                <m:t>𝑛</m:t>
                              </m:r>
                            </m:den>
                          </m:f>
                        </m:e>
                      </m:nary>
                      <m:r>
                        <a:rPr lang="es-AR" sz="2800" b="0" i="1" smtClean="0">
                          <a:latin typeface="Cambria Math" panose="02040503050406030204" pitchFamily="18" charset="0"/>
                        </a:rPr>
                        <m:t>=</m:t>
                      </m:r>
                      <m:f>
                        <m:fPr>
                          <m:ctrlPr>
                            <a:rPr lang="es-AR" sz="2800" b="0" i="1" smtClean="0">
                              <a:latin typeface="Cambria Math" panose="02040503050406030204" pitchFamily="18" charset="0"/>
                            </a:rPr>
                          </m:ctrlPr>
                        </m:fPr>
                        <m:num>
                          <m:r>
                            <m:rPr>
                              <m:nor/>
                            </m:rPr>
                            <a:rPr lang="es-AR" sz="2800" b="0" i="0" smtClean="0">
                              <a:latin typeface="Cambria Math" panose="02040503050406030204" pitchFamily="18" charset="0"/>
                            </a:rPr>
                            <m:t># </m:t>
                          </m:r>
                          <m:r>
                            <m:rPr>
                              <m:nor/>
                            </m:rPr>
                            <a:rPr lang="es-AR" sz="2800" b="0" i="0" smtClean="0">
                              <a:latin typeface="Cambria Math" panose="02040503050406030204" pitchFamily="18" charset="0"/>
                            </a:rPr>
                            <m:t>de</m:t>
                          </m:r>
                          <m:r>
                            <m:rPr>
                              <m:nor/>
                            </m:rPr>
                            <a:rPr lang="es-AR" sz="2800" b="0" i="0" smtClean="0">
                              <a:latin typeface="Cambria Math" panose="02040503050406030204" pitchFamily="18" charset="0"/>
                            </a:rPr>
                            <m:t> </m:t>
                          </m:r>
                          <m:r>
                            <m:rPr>
                              <m:nor/>
                            </m:rPr>
                            <a:rPr lang="es-AR" sz="2800" b="0" i="0" smtClean="0">
                              <a:latin typeface="Cambria Math" panose="02040503050406030204" pitchFamily="18" charset="0"/>
                            </a:rPr>
                            <m:t>casos</m:t>
                          </m:r>
                          <m:r>
                            <m:rPr>
                              <m:nor/>
                            </m:rPr>
                            <a:rPr lang="es-AR" sz="2800" b="0" i="0" smtClean="0">
                              <a:latin typeface="Cambria Math" panose="02040503050406030204" pitchFamily="18" charset="0"/>
                            </a:rPr>
                            <m:t> </m:t>
                          </m:r>
                          <m:r>
                            <m:rPr>
                              <m:nor/>
                            </m:rPr>
                            <a:rPr lang="es-AR" sz="2800" b="0" i="0" smtClean="0">
                              <a:latin typeface="Cambria Math" panose="02040503050406030204" pitchFamily="18" charset="0"/>
                            </a:rPr>
                            <m:t>en</m:t>
                          </m:r>
                          <m:r>
                            <m:rPr>
                              <m:nor/>
                            </m:rPr>
                            <a:rPr lang="es-AR" sz="2800" b="0" i="0" smtClean="0">
                              <a:latin typeface="Cambria Math" panose="02040503050406030204" pitchFamily="18" charset="0"/>
                            </a:rPr>
                            <m:t> </m:t>
                          </m:r>
                          <m:r>
                            <a:rPr lang="es-AR" sz="2800" b="0" i="1" smtClean="0">
                              <a:latin typeface="Cambria Math" panose="02040503050406030204" pitchFamily="18" charset="0"/>
                            </a:rPr>
                            <m:t>𝐴</m:t>
                          </m:r>
                        </m:num>
                        <m:den>
                          <m:r>
                            <m:rPr>
                              <m:nor/>
                            </m:rPr>
                            <a:rPr lang="es-AR" sz="2800" b="0" i="0" smtClean="0">
                              <a:latin typeface="Cambria Math" panose="02040503050406030204" pitchFamily="18" charset="0"/>
                            </a:rPr>
                            <m:t># </m:t>
                          </m:r>
                          <m:r>
                            <m:rPr>
                              <m:nor/>
                            </m:rPr>
                            <a:rPr lang="es-AR" sz="2800" b="0" i="0" smtClean="0">
                              <a:latin typeface="Cambria Math" panose="02040503050406030204" pitchFamily="18" charset="0"/>
                            </a:rPr>
                            <m:t>total</m:t>
                          </m:r>
                          <m:r>
                            <m:rPr>
                              <m:nor/>
                            </m:rPr>
                            <a:rPr lang="es-AR" sz="2800" b="0" i="0" smtClean="0">
                              <a:latin typeface="Cambria Math" panose="02040503050406030204" pitchFamily="18" charset="0"/>
                            </a:rPr>
                            <m:t> </m:t>
                          </m:r>
                          <m:r>
                            <m:rPr>
                              <m:nor/>
                            </m:rPr>
                            <a:rPr lang="es-AR" sz="2800" b="0" i="0" smtClean="0">
                              <a:latin typeface="Cambria Math" panose="02040503050406030204" pitchFamily="18" charset="0"/>
                            </a:rPr>
                            <m:t>de</m:t>
                          </m:r>
                          <m:r>
                            <m:rPr>
                              <m:nor/>
                            </m:rPr>
                            <a:rPr lang="es-AR" sz="2800" b="0" i="0" smtClean="0">
                              <a:latin typeface="Cambria Math" panose="02040503050406030204" pitchFamily="18" charset="0"/>
                            </a:rPr>
                            <m:t> </m:t>
                          </m:r>
                          <m:r>
                            <m:rPr>
                              <m:nor/>
                            </m:rPr>
                            <a:rPr lang="es-AR" sz="2800" b="0" i="0" smtClean="0">
                              <a:latin typeface="Cambria Math" panose="02040503050406030204" pitchFamily="18" charset="0"/>
                            </a:rPr>
                            <m:t>casos</m:t>
                          </m:r>
                        </m:den>
                      </m:f>
                    </m:oMath>
                  </m:oMathPara>
                </a14:m>
                <a:endParaRPr lang="en-US" sz="2800" dirty="0"/>
              </a:p>
            </p:txBody>
          </p:sp>
        </mc:Choice>
        <mc:Fallback xmlns="">
          <p:sp>
            <p:nvSpPr>
              <p:cNvPr id="2" name="TextBox 1"/>
              <p:cNvSpPr txBox="1">
                <a:spLocks noRot="1" noChangeAspect="1" noMove="1" noResize="1" noEditPoints="1" noAdjustHandles="1" noChangeArrowheads="1" noChangeShapeType="1" noTextEdit="1"/>
              </p:cNvSpPr>
              <p:nvPr/>
            </p:nvSpPr>
            <p:spPr>
              <a:xfrm>
                <a:off x="1292002" y="4873089"/>
                <a:ext cx="7171002" cy="1305614"/>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1292002" y="2605461"/>
                <a:ext cx="4552131" cy="430887"/>
              </a:xfrm>
              <a:prstGeom prst="rect">
                <a:avLst/>
              </a:prstGeom>
              <a:noFill/>
            </p:spPr>
            <p:txBody>
              <a:bodyPr wrap="square" lIns="0" tIns="0" rIns="0" bIns="0" rtlCol="0">
                <a:spAutoFit/>
              </a:bodyPr>
              <a:lstStyle/>
              <a:p>
                <a14:m>
                  <m:oMath xmlns:m="http://schemas.openxmlformats.org/officeDocument/2006/math">
                    <m:r>
                      <a:rPr lang="es-AR" sz="2800" b="0" i="1" smtClean="0">
                        <a:latin typeface="Cambria Math" panose="02040503050406030204" pitchFamily="18" charset="0"/>
                      </a:rPr>
                      <m:t>𝑆</m:t>
                    </m:r>
                    <m:r>
                      <a:rPr lang="es-AR" sz="2800" b="0" i="1" smtClean="0">
                        <a:latin typeface="Cambria Math" panose="02040503050406030204" pitchFamily="18" charset="0"/>
                      </a:rPr>
                      <m:t>= </m:t>
                    </m:r>
                    <m:d>
                      <m:dPr>
                        <m:begChr m:val="{"/>
                        <m:endChr m:val="}"/>
                        <m:ctrlPr>
                          <a:rPr lang="es-AR" sz="2800" b="0" i="1" smtClean="0">
                            <a:latin typeface="Cambria Math" panose="02040503050406030204" pitchFamily="18" charset="0"/>
                          </a:rPr>
                        </m:ctrlPr>
                      </m:dPr>
                      <m:e>
                        <m:sSub>
                          <m:sSubPr>
                            <m:ctrlPr>
                              <a:rPr lang="es-AR" sz="2800" b="0" i="1" smtClean="0">
                                <a:latin typeface="Cambria Math" panose="02040503050406030204" pitchFamily="18" charset="0"/>
                              </a:rPr>
                            </m:ctrlPr>
                          </m:sSubPr>
                          <m:e>
                            <m:r>
                              <a:rPr lang="es-AR" sz="2800" b="0" i="1" smtClean="0">
                                <a:latin typeface="Cambria Math" panose="02040503050406030204" pitchFamily="18" charset="0"/>
                              </a:rPr>
                              <m:t>𝑠</m:t>
                            </m:r>
                          </m:e>
                          <m:sub>
                            <m:r>
                              <a:rPr lang="es-AR" sz="2800" b="0" i="1" smtClean="0">
                                <a:latin typeface="Cambria Math" panose="02040503050406030204" pitchFamily="18" charset="0"/>
                              </a:rPr>
                              <m:t>1</m:t>
                            </m:r>
                          </m:sub>
                        </m:sSub>
                        <m:r>
                          <a:rPr lang="es-AR" sz="2800" b="0" i="1" smtClean="0">
                            <a:latin typeface="Cambria Math" panose="02040503050406030204" pitchFamily="18" charset="0"/>
                          </a:rPr>
                          <m:t>,</m:t>
                        </m:r>
                        <m:sSub>
                          <m:sSubPr>
                            <m:ctrlPr>
                              <a:rPr lang="es-AR" sz="2800" i="1">
                                <a:latin typeface="Cambria Math" panose="02040503050406030204" pitchFamily="18" charset="0"/>
                              </a:rPr>
                            </m:ctrlPr>
                          </m:sSubPr>
                          <m:e>
                            <m:r>
                              <a:rPr lang="es-AR" sz="2800" i="1">
                                <a:latin typeface="Cambria Math" panose="02040503050406030204" pitchFamily="18" charset="0"/>
                              </a:rPr>
                              <m:t>𝑠</m:t>
                            </m:r>
                          </m:e>
                          <m:sub>
                            <m:r>
                              <a:rPr lang="es-AR" sz="2800" b="0" i="1" smtClean="0">
                                <a:latin typeface="Cambria Math" panose="02040503050406030204" pitchFamily="18" charset="0"/>
                              </a:rPr>
                              <m:t>2</m:t>
                            </m:r>
                          </m:sub>
                        </m:sSub>
                        <m:r>
                          <a:rPr lang="es-AR" sz="2800" b="0" i="1" smtClean="0">
                            <a:latin typeface="Cambria Math" panose="02040503050406030204" pitchFamily="18" charset="0"/>
                          </a:rPr>
                          <m:t>,</m:t>
                        </m:r>
                        <m:r>
                          <a:rPr lang="es-AR" sz="2800" b="0" i="1" smtClean="0">
                            <a:latin typeface="Cambria Math" panose="02040503050406030204" pitchFamily="18" charset="0"/>
                            <a:ea typeface="Cambria Math" panose="02040503050406030204" pitchFamily="18" charset="0"/>
                          </a:rPr>
                          <m:t>⋯,</m:t>
                        </m:r>
                        <m:sSub>
                          <m:sSubPr>
                            <m:ctrlPr>
                              <a:rPr lang="es-AR" sz="2800" i="1">
                                <a:latin typeface="Cambria Math" panose="02040503050406030204" pitchFamily="18" charset="0"/>
                              </a:rPr>
                            </m:ctrlPr>
                          </m:sSubPr>
                          <m:e>
                            <m:r>
                              <a:rPr lang="es-AR" sz="2800" i="1">
                                <a:latin typeface="Cambria Math" panose="02040503050406030204" pitchFamily="18" charset="0"/>
                              </a:rPr>
                              <m:t>𝑠</m:t>
                            </m:r>
                          </m:e>
                          <m:sub>
                            <m:r>
                              <a:rPr lang="es-AR" sz="2800" b="0" i="1" smtClean="0">
                                <a:latin typeface="Cambria Math" panose="02040503050406030204" pitchFamily="18" charset="0"/>
                              </a:rPr>
                              <m:t>𝑛</m:t>
                            </m:r>
                          </m:sub>
                        </m:sSub>
                      </m:e>
                    </m:d>
                  </m:oMath>
                </a14:m>
                <a:r>
                  <a:rPr lang="en-US" sz="2800" dirty="0"/>
                  <a:t> </a:t>
                </a:r>
              </a:p>
            </p:txBody>
          </p:sp>
        </mc:Choice>
        <mc:Fallback xmlns="">
          <p:sp>
            <p:nvSpPr>
              <p:cNvPr id="12" name="TextBox 11"/>
              <p:cNvSpPr txBox="1">
                <a:spLocks noRot="1" noChangeAspect="1" noMove="1" noResize="1" noEditPoints="1" noAdjustHandles="1" noChangeArrowheads="1" noChangeShapeType="1" noTextEdit="1"/>
              </p:cNvSpPr>
              <p:nvPr/>
            </p:nvSpPr>
            <p:spPr>
              <a:xfrm>
                <a:off x="1292002" y="2605461"/>
                <a:ext cx="4552131" cy="430887"/>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p:cNvSpPr txBox="1"/>
              <p:nvPr/>
            </p:nvSpPr>
            <p:spPr>
              <a:xfrm>
                <a:off x="1292002" y="3335512"/>
                <a:ext cx="5735609" cy="432298"/>
              </a:xfrm>
              <a:prstGeom prst="rect">
                <a:avLst/>
              </a:prstGeom>
              <a:noFill/>
            </p:spPr>
            <p:txBody>
              <a:bodyPr wrap="none" lIns="0" tIns="0" rIns="0" bIns="0" rtlCol="0">
                <a:spAutoFit/>
              </a:bodyPr>
              <a:lstStyle/>
              <a:p>
                <a14:m>
                  <m:oMath xmlns:m="http://schemas.openxmlformats.org/officeDocument/2006/math">
                    <m:r>
                      <a:rPr lang="es-AR" sz="2800" b="0" i="1" smtClean="0">
                        <a:latin typeface="Cambria Math" panose="02040503050406030204" pitchFamily="18" charset="0"/>
                      </a:rPr>
                      <m:t>1=</m:t>
                    </m:r>
                    <m:r>
                      <m:rPr>
                        <m:nor/>
                      </m:rPr>
                      <a:rPr lang="es-AR" sz="2800" b="0" i="0" smtClean="0">
                        <a:latin typeface="Cambria Math" panose="02040503050406030204" pitchFamily="18" charset="0"/>
                      </a:rPr>
                      <m:t>P</m:t>
                    </m:r>
                    <m:d>
                      <m:dPr>
                        <m:ctrlPr>
                          <a:rPr lang="es-AR" sz="2800" b="0" i="1" smtClean="0">
                            <a:latin typeface="Cambria Math" panose="02040503050406030204" pitchFamily="18" charset="0"/>
                          </a:rPr>
                        </m:ctrlPr>
                      </m:dPr>
                      <m:e>
                        <m:r>
                          <a:rPr lang="es-AR" sz="2800" i="1">
                            <a:latin typeface="Cambria Math" panose="02040503050406030204" pitchFamily="18" charset="0"/>
                          </a:rPr>
                          <m:t>𝑆</m:t>
                        </m:r>
                      </m:e>
                    </m:d>
                    <m:r>
                      <a:rPr lang="es-AR" sz="2800" b="0" i="1" smtClean="0">
                        <a:latin typeface="Cambria Math" panose="02040503050406030204" pitchFamily="18" charset="0"/>
                      </a:rPr>
                      <m:t>= </m:t>
                    </m:r>
                    <m:nary>
                      <m:naryPr>
                        <m:chr m:val="∑"/>
                        <m:ctrlPr>
                          <a:rPr lang="es-AR" sz="2800" b="0" i="1" smtClean="0">
                            <a:latin typeface="Cambria Math" panose="02040503050406030204" pitchFamily="18" charset="0"/>
                          </a:rPr>
                        </m:ctrlPr>
                      </m:naryPr>
                      <m:sub>
                        <m:r>
                          <m:rPr>
                            <m:brk m:alnAt="23"/>
                          </m:rPr>
                          <a:rPr lang="es-AR" sz="2800" b="0" i="1" smtClean="0">
                            <a:latin typeface="Cambria Math" panose="02040503050406030204" pitchFamily="18" charset="0"/>
                          </a:rPr>
                          <m:t>𝑖</m:t>
                        </m:r>
                        <m:r>
                          <a:rPr lang="es-AR" sz="2800" b="0" i="1" smtClean="0">
                            <a:latin typeface="Cambria Math" panose="02040503050406030204" pitchFamily="18" charset="0"/>
                          </a:rPr>
                          <m:t>=1</m:t>
                        </m:r>
                      </m:sub>
                      <m:sup>
                        <m:r>
                          <a:rPr lang="es-AR" sz="2800" b="0" i="1" smtClean="0">
                            <a:latin typeface="Cambria Math" panose="02040503050406030204" pitchFamily="18" charset="0"/>
                          </a:rPr>
                          <m:t>𝑛</m:t>
                        </m:r>
                      </m:sup>
                      <m:e>
                        <m:r>
                          <m:rPr>
                            <m:nor/>
                          </m:rPr>
                          <a:rPr lang="es-AR" sz="2800" i="0">
                            <a:latin typeface="Cambria Math" panose="02040503050406030204" pitchFamily="18" charset="0"/>
                          </a:rPr>
                          <m:t>P</m:t>
                        </m:r>
                        <m:d>
                          <m:dPr>
                            <m:ctrlPr>
                              <a:rPr lang="es-AR" sz="2800" i="1">
                                <a:latin typeface="Cambria Math" panose="02040503050406030204" pitchFamily="18" charset="0"/>
                              </a:rPr>
                            </m:ctrlPr>
                          </m:dPr>
                          <m:e>
                            <m:d>
                              <m:dPr>
                                <m:begChr m:val="{"/>
                                <m:endChr m:val="}"/>
                                <m:ctrlPr>
                                  <a:rPr lang="es-AR" sz="2800" i="1" smtClean="0">
                                    <a:latin typeface="Cambria Math" panose="02040503050406030204" pitchFamily="18" charset="0"/>
                                  </a:rPr>
                                </m:ctrlPr>
                              </m:dPr>
                              <m:e>
                                <m:sSub>
                                  <m:sSubPr>
                                    <m:ctrlPr>
                                      <a:rPr lang="es-AR" sz="2800" i="1">
                                        <a:latin typeface="Cambria Math" panose="02040503050406030204" pitchFamily="18" charset="0"/>
                                      </a:rPr>
                                    </m:ctrlPr>
                                  </m:sSubPr>
                                  <m:e>
                                    <m:r>
                                      <a:rPr lang="es-AR" sz="2800" i="1">
                                        <a:latin typeface="Cambria Math" panose="02040503050406030204" pitchFamily="18" charset="0"/>
                                      </a:rPr>
                                      <m:t>𝑠</m:t>
                                    </m:r>
                                  </m:e>
                                  <m:sub>
                                    <m:r>
                                      <a:rPr lang="es-AR" sz="2800" b="0" i="1" smtClean="0">
                                        <a:latin typeface="Cambria Math" panose="02040503050406030204" pitchFamily="18" charset="0"/>
                                      </a:rPr>
                                      <m:t>𝑖</m:t>
                                    </m:r>
                                  </m:sub>
                                </m:sSub>
                              </m:e>
                            </m:d>
                          </m:e>
                        </m:d>
                        <m:r>
                          <a:rPr lang="es-AR" sz="2800" b="0" i="1" smtClean="0">
                            <a:latin typeface="Cambria Math" panose="02040503050406030204" pitchFamily="18" charset="0"/>
                          </a:rPr>
                          <m:t> </m:t>
                        </m:r>
                      </m:e>
                    </m:nary>
                    <m:r>
                      <a:rPr lang="es-AR" sz="2800" b="0" i="1" smtClean="0">
                        <a:latin typeface="Cambria Math" panose="02040503050406030204" pitchFamily="18" charset="0"/>
                      </a:rPr>
                      <m:t>= </m:t>
                    </m:r>
                    <m:r>
                      <a:rPr lang="es-AR" sz="2800" i="1">
                        <a:latin typeface="Cambria Math" panose="02040503050406030204" pitchFamily="18" charset="0"/>
                      </a:rPr>
                      <m:t>𝑛</m:t>
                    </m:r>
                    <m:r>
                      <m:rPr>
                        <m:nor/>
                      </m:rPr>
                      <a:rPr lang="es-AR" sz="2800" i="0">
                        <a:latin typeface="Cambria Math" panose="02040503050406030204" pitchFamily="18" charset="0"/>
                      </a:rPr>
                      <m:t>P</m:t>
                    </m:r>
                    <m:d>
                      <m:dPr>
                        <m:ctrlPr>
                          <a:rPr lang="es-AR" sz="2800" i="1">
                            <a:latin typeface="Cambria Math" panose="02040503050406030204" pitchFamily="18" charset="0"/>
                          </a:rPr>
                        </m:ctrlPr>
                      </m:dPr>
                      <m:e>
                        <m:d>
                          <m:dPr>
                            <m:begChr m:val="{"/>
                            <m:endChr m:val="}"/>
                            <m:ctrlPr>
                              <a:rPr lang="es-AR" sz="2800" i="1">
                                <a:latin typeface="Cambria Math" panose="02040503050406030204" pitchFamily="18" charset="0"/>
                              </a:rPr>
                            </m:ctrlPr>
                          </m:dPr>
                          <m:e>
                            <m:sSub>
                              <m:sSubPr>
                                <m:ctrlPr>
                                  <a:rPr lang="es-AR" sz="2800" i="1">
                                    <a:latin typeface="Cambria Math" panose="02040503050406030204" pitchFamily="18" charset="0"/>
                                  </a:rPr>
                                </m:ctrlPr>
                              </m:sSubPr>
                              <m:e>
                                <m:r>
                                  <a:rPr lang="es-AR" sz="2800" i="1">
                                    <a:latin typeface="Cambria Math" panose="02040503050406030204" pitchFamily="18" charset="0"/>
                                  </a:rPr>
                                  <m:t>𝑠</m:t>
                                </m:r>
                              </m:e>
                              <m:sub>
                                <m:r>
                                  <a:rPr lang="es-AR" sz="2800" i="1">
                                    <a:latin typeface="Cambria Math" panose="02040503050406030204" pitchFamily="18" charset="0"/>
                                  </a:rPr>
                                  <m:t>1</m:t>
                                </m:r>
                              </m:sub>
                            </m:sSub>
                          </m:e>
                        </m:d>
                      </m:e>
                    </m:d>
                  </m:oMath>
                </a14:m>
                <a:r>
                  <a:rPr lang="en-US" sz="2800" dirty="0"/>
                  <a:t> </a:t>
                </a:r>
              </a:p>
            </p:txBody>
          </p:sp>
        </mc:Choice>
        <mc:Fallback xmlns="">
          <p:sp>
            <p:nvSpPr>
              <p:cNvPr id="13" name="TextBox 12"/>
              <p:cNvSpPr txBox="1">
                <a:spLocks noRot="1" noChangeAspect="1" noMove="1" noResize="1" noEditPoints="1" noAdjustHandles="1" noChangeArrowheads="1" noChangeShapeType="1" noTextEdit="1"/>
              </p:cNvSpPr>
              <p:nvPr/>
            </p:nvSpPr>
            <p:spPr>
              <a:xfrm>
                <a:off x="1292002" y="3335512"/>
                <a:ext cx="5735609" cy="432298"/>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p:cNvSpPr txBox="1"/>
              <p:nvPr/>
            </p:nvSpPr>
            <p:spPr>
              <a:xfrm>
                <a:off x="1300126" y="3915755"/>
                <a:ext cx="2191754" cy="80938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groupChr>
                        <m:groupChrPr>
                          <m:chr m:val="⇒"/>
                          <m:vertJc m:val="bot"/>
                          <m:ctrlPr>
                            <a:rPr lang="es-AR" sz="2800" b="0" i="1" smtClean="0">
                              <a:latin typeface="Cambria Math" panose="02040503050406030204" pitchFamily="18" charset="0"/>
                              <a:ea typeface="Cambria Math" panose="02040503050406030204" pitchFamily="18" charset="0"/>
                            </a:rPr>
                          </m:ctrlPr>
                        </m:groupChrPr>
                        <m:e/>
                      </m:groupChr>
                      <m:r>
                        <m:rPr>
                          <m:nor/>
                        </m:rPr>
                        <a:rPr lang="es-AR" sz="2800" b="0" i="0" smtClean="0">
                          <a:latin typeface="Cambria Math" panose="02040503050406030204" pitchFamily="18" charset="0"/>
                        </a:rPr>
                        <m:t>P</m:t>
                      </m:r>
                      <m:d>
                        <m:dPr>
                          <m:ctrlPr>
                            <a:rPr lang="es-AR" sz="2800" i="1">
                              <a:latin typeface="Cambria Math" panose="02040503050406030204" pitchFamily="18" charset="0"/>
                            </a:rPr>
                          </m:ctrlPr>
                        </m:dPr>
                        <m:e>
                          <m:d>
                            <m:dPr>
                              <m:begChr m:val="{"/>
                              <m:endChr m:val="}"/>
                              <m:ctrlPr>
                                <a:rPr lang="es-AR" sz="2800" i="1">
                                  <a:latin typeface="Cambria Math" panose="02040503050406030204" pitchFamily="18" charset="0"/>
                                </a:rPr>
                              </m:ctrlPr>
                            </m:dPr>
                            <m:e>
                              <m:sSub>
                                <m:sSubPr>
                                  <m:ctrlPr>
                                    <a:rPr lang="es-AR" sz="2800" i="1">
                                      <a:latin typeface="Cambria Math" panose="02040503050406030204" pitchFamily="18" charset="0"/>
                                    </a:rPr>
                                  </m:ctrlPr>
                                </m:sSubPr>
                                <m:e>
                                  <m:r>
                                    <a:rPr lang="es-AR" sz="2800" i="1">
                                      <a:latin typeface="Cambria Math" panose="02040503050406030204" pitchFamily="18" charset="0"/>
                                    </a:rPr>
                                    <m:t>𝑠</m:t>
                                  </m:r>
                                </m:e>
                                <m:sub>
                                  <m:r>
                                    <a:rPr lang="es-AR" sz="2800" b="0" i="1" smtClean="0">
                                      <a:latin typeface="Cambria Math" panose="02040503050406030204" pitchFamily="18" charset="0"/>
                                    </a:rPr>
                                    <m:t>𝑖</m:t>
                                  </m:r>
                                </m:sub>
                              </m:sSub>
                            </m:e>
                          </m:d>
                        </m:e>
                      </m:d>
                      <m:r>
                        <a:rPr lang="es-AR" sz="2800" b="0" i="1" smtClean="0">
                          <a:latin typeface="Cambria Math" panose="02040503050406030204" pitchFamily="18" charset="0"/>
                        </a:rPr>
                        <m:t>=</m:t>
                      </m:r>
                      <m:f>
                        <m:fPr>
                          <m:ctrlPr>
                            <a:rPr lang="es-AR" sz="2800" b="0" i="1" smtClean="0">
                              <a:latin typeface="Cambria Math" panose="02040503050406030204" pitchFamily="18" charset="0"/>
                            </a:rPr>
                          </m:ctrlPr>
                        </m:fPr>
                        <m:num>
                          <m:r>
                            <a:rPr lang="es-AR" sz="2800" b="0" i="1" smtClean="0">
                              <a:latin typeface="Cambria Math" panose="02040503050406030204" pitchFamily="18" charset="0"/>
                            </a:rPr>
                            <m:t>1</m:t>
                          </m:r>
                        </m:num>
                        <m:den>
                          <m:r>
                            <a:rPr lang="es-AR" sz="2800" b="0" i="1" smtClean="0">
                              <a:latin typeface="Cambria Math" panose="02040503050406030204" pitchFamily="18" charset="0"/>
                            </a:rPr>
                            <m:t>𝑛</m:t>
                          </m:r>
                        </m:den>
                      </m:f>
                    </m:oMath>
                  </m:oMathPara>
                </a14:m>
                <a:endParaRPr lang="en-US" sz="2800" dirty="0"/>
              </a:p>
            </p:txBody>
          </p:sp>
        </mc:Choice>
        <mc:Fallback xmlns="">
          <p:sp>
            <p:nvSpPr>
              <p:cNvPr id="14" name="TextBox 13"/>
              <p:cNvSpPr txBox="1">
                <a:spLocks noRot="1" noChangeAspect="1" noMove="1" noResize="1" noEditPoints="1" noAdjustHandles="1" noChangeArrowheads="1" noChangeShapeType="1" noTextEdit="1"/>
              </p:cNvSpPr>
              <p:nvPr/>
            </p:nvSpPr>
            <p:spPr>
              <a:xfrm>
                <a:off x="1300126" y="3915755"/>
                <a:ext cx="2191754" cy="809389"/>
              </a:xfrm>
              <a:prstGeom prst="rect">
                <a:avLst/>
              </a:prstGeom>
              <a:blipFill>
                <a:blip r:embed="rId5"/>
                <a:stretch>
                  <a:fillRect/>
                </a:stretch>
              </a:blipFill>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075"/>
                                        </p:tgtEl>
                                        <p:attrNameLst>
                                          <p:attrName>style.visibility</p:attrName>
                                        </p:attrNameLst>
                                      </p:cBhvr>
                                      <p:to>
                                        <p:strVal val="visible"/>
                                      </p:to>
                                    </p:set>
                                    <p:anim calcmode="lin" valueType="num">
                                      <p:cBhvr additive="base">
                                        <p:cTn id="7" dur="500" fill="hold"/>
                                        <p:tgtEl>
                                          <p:spTgt spid="3075"/>
                                        </p:tgtEl>
                                        <p:attrNameLst>
                                          <p:attrName>ppt_x</p:attrName>
                                        </p:attrNameLst>
                                      </p:cBhvr>
                                      <p:tavLst>
                                        <p:tav tm="0">
                                          <p:val>
                                            <p:strVal val="#ppt_x"/>
                                          </p:val>
                                        </p:tav>
                                        <p:tav tm="100000">
                                          <p:val>
                                            <p:strVal val="#ppt_x"/>
                                          </p:val>
                                        </p:tav>
                                      </p:tavLst>
                                    </p:anim>
                                    <p:anim calcmode="lin" valueType="num">
                                      <p:cBhvr additive="base">
                                        <p:cTn id="8" dur="500" fill="hold"/>
                                        <p:tgtEl>
                                          <p:spTgt spid="307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ppt_x"/>
                                          </p:val>
                                        </p:tav>
                                        <p:tav tm="100000">
                                          <p:val>
                                            <p:strVal val="#ppt_x"/>
                                          </p:val>
                                        </p:tav>
                                      </p:tavLst>
                                    </p:anim>
                                    <p:anim calcmode="lin" valueType="num">
                                      <p:cBhvr additive="base">
                                        <p:cTn id="20"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anim calcmode="lin" valueType="num">
                                      <p:cBhvr additive="base">
                                        <p:cTn id="25" dur="500" fill="hold"/>
                                        <p:tgtEl>
                                          <p:spTgt spid="14"/>
                                        </p:tgtEl>
                                        <p:attrNameLst>
                                          <p:attrName>ppt_x</p:attrName>
                                        </p:attrNameLst>
                                      </p:cBhvr>
                                      <p:tavLst>
                                        <p:tav tm="0">
                                          <p:val>
                                            <p:strVal val="#ppt_x"/>
                                          </p:val>
                                        </p:tav>
                                        <p:tav tm="100000">
                                          <p:val>
                                            <p:strVal val="#ppt_x"/>
                                          </p:val>
                                        </p:tav>
                                      </p:tavLst>
                                    </p:anim>
                                    <p:anim calcmode="lin" valueType="num">
                                      <p:cBhvr additive="base">
                                        <p:cTn id="26"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
                                        </p:tgtEl>
                                        <p:attrNameLst>
                                          <p:attrName>style.visibility</p:attrName>
                                        </p:attrNameLst>
                                      </p:cBhvr>
                                      <p:to>
                                        <p:strVal val="visible"/>
                                      </p:to>
                                    </p:set>
                                    <p:anim calcmode="lin" valueType="num">
                                      <p:cBhvr additive="base">
                                        <p:cTn id="31" dur="500" fill="hold"/>
                                        <p:tgtEl>
                                          <p:spTgt spid="2"/>
                                        </p:tgtEl>
                                        <p:attrNameLst>
                                          <p:attrName>ppt_x</p:attrName>
                                        </p:attrNameLst>
                                      </p:cBhvr>
                                      <p:tavLst>
                                        <p:tav tm="0">
                                          <p:val>
                                            <p:strVal val="#ppt_x"/>
                                          </p:val>
                                        </p:tav>
                                        <p:tav tm="100000">
                                          <p:val>
                                            <p:strVal val="#ppt_x"/>
                                          </p:val>
                                        </p:tav>
                                      </p:tavLst>
                                    </p:anim>
                                    <p:anim calcmode="lin" valueType="num">
                                      <p:cBhvr additive="base">
                                        <p:cTn id="3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5" grpId="0"/>
      <p:bldP spid="2" grpId="0"/>
      <p:bldP spid="12" grpId="0"/>
      <p:bldP spid="13" grpId="0"/>
      <p:bldP spid="1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1066800" y="355599"/>
            <a:ext cx="7620000" cy="1216025"/>
          </a:xfrm>
        </p:spPr>
        <p:txBody>
          <a:bodyPr/>
          <a:lstStyle/>
          <a:p>
            <a:pPr eaLnBrk="1" hangingPunct="1"/>
            <a:r>
              <a:rPr lang="es-MX" altLang="en-US" sz="3200" b="1" dirty="0">
                <a:latin typeface="Broadway" panose="04040905080B02020502" pitchFamily="82" charset="0"/>
              </a:rPr>
              <a:t>Cálculo de probabilidades con la regla de Laplace</a:t>
            </a:r>
            <a:endParaRPr lang="en-US" altLang="en-US" sz="3200" b="1" dirty="0">
              <a:latin typeface="Broadway" panose="04040905080B02020502" pitchFamily="82" charset="0"/>
            </a:endParaRPr>
          </a:p>
        </p:txBody>
      </p:sp>
      <p:sp>
        <p:nvSpPr>
          <p:cNvPr id="3075" name="Text Box 3"/>
          <p:cNvSpPr txBox="1">
            <a:spLocks noChangeArrowheads="1"/>
          </p:cNvSpPr>
          <p:nvPr/>
        </p:nvSpPr>
        <p:spPr bwMode="auto">
          <a:xfrm>
            <a:off x="1295400" y="1677027"/>
            <a:ext cx="73914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50000"/>
              </a:spcBef>
              <a:buFontTx/>
              <a:buNone/>
            </a:pPr>
            <a:r>
              <a:rPr lang="es-MX" altLang="en-US" sz="2400" dirty="0">
                <a:latin typeface="Arial" panose="020B0604020202020204" pitchFamily="34" charset="0"/>
              </a:rPr>
              <a:t>Se asume que todos los casos son igualmente probables</a:t>
            </a:r>
            <a:endParaRPr lang="en-US" altLang="en-US" sz="2400" dirty="0">
              <a:latin typeface="Arial" panose="020B0604020202020204" pitchFamily="34" charset="0"/>
            </a:endParaRPr>
          </a:p>
        </p:txBody>
      </p:sp>
      <mc:AlternateContent xmlns:mc="http://schemas.openxmlformats.org/markup-compatibility/2006" xmlns:a14="http://schemas.microsoft.com/office/drawing/2010/main">
        <mc:Choice Requires="a14">
          <p:sp>
            <p:nvSpPr>
              <p:cNvPr id="2" name="TextBox 1"/>
              <p:cNvSpPr txBox="1"/>
              <p:nvPr/>
            </p:nvSpPr>
            <p:spPr>
              <a:xfrm>
                <a:off x="1066801" y="3309879"/>
                <a:ext cx="7537648" cy="105522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nor/>
                        </m:rPr>
                        <a:rPr lang="es-AR" sz="3600" b="0" i="0" smtClean="0">
                          <a:latin typeface="Cambria Math" panose="02040503050406030204" pitchFamily="18" charset="0"/>
                        </a:rPr>
                        <m:t>P</m:t>
                      </m:r>
                      <m:d>
                        <m:dPr>
                          <m:ctrlPr>
                            <a:rPr lang="es-AR" sz="3600" b="0" i="1" smtClean="0">
                              <a:latin typeface="Cambria Math" panose="02040503050406030204" pitchFamily="18" charset="0"/>
                            </a:rPr>
                          </m:ctrlPr>
                        </m:dPr>
                        <m:e>
                          <m:r>
                            <a:rPr lang="es-AR" sz="3600" b="0" i="1" smtClean="0">
                              <a:latin typeface="Cambria Math" panose="02040503050406030204" pitchFamily="18" charset="0"/>
                            </a:rPr>
                            <m:t>𝐴</m:t>
                          </m:r>
                        </m:e>
                      </m:d>
                      <m:r>
                        <a:rPr lang="es-AR" sz="3600" b="0" i="1" smtClean="0">
                          <a:latin typeface="Cambria Math" panose="02040503050406030204" pitchFamily="18" charset="0"/>
                        </a:rPr>
                        <m:t>=</m:t>
                      </m:r>
                      <m:f>
                        <m:fPr>
                          <m:ctrlPr>
                            <a:rPr lang="es-AR" sz="3600" b="0" i="1" smtClean="0">
                              <a:latin typeface="Cambria Math" panose="02040503050406030204" pitchFamily="18" charset="0"/>
                            </a:rPr>
                          </m:ctrlPr>
                        </m:fPr>
                        <m:num>
                          <m:r>
                            <m:rPr>
                              <m:nor/>
                            </m:rPr>
                            <a:rPr lang="es-AR" sz="3600" b="0" i="0" smtClean="0">
                              <a:latin typeface="Cambria Math" panose="02040503050406030204" pitchFamily="18" charset="0"/>
                            </a:rPr>
                            <m:t># </m:t>
                          </m:r>
                          <m:r>
                            <m:rPr>
                              <m:nor/>
                            </m:rPr>
                            <a:rPr lang="es-AR" sz="3600" b="0" i="0" smtClean="0">
                              <a:latin typeface="Cambria Math" panose="02040503050406030204" pitchFamily="18" charset="0"/>
                            </a:rPr>
                            <m:t>de</m:t>
                          </m:r>
                          <m:r>
                            <m:rPr>
                              <m:nor/>
                            </m:rPr>
                            <a:rPr lang="es-AR" sz="3600" b="0" i="0" smtClean="0">
                              <a:latin typeface="Cambria Math" panose="02040503050406030204" pitchFamily="18" charset="0"/>
                            </a:rPr>
                            <m:t> </m:t>
                          </m:r>
                          <m:r>
                            <m:rPr>
                              <m:nor/>
                            </m:rPr>
                            <a:rPr lang="es-AR" sz="3600" b="0" i="0" smtClean="0">
                              <a:latin typeface="Cambria Math" panose="02040503050406030204" pitchFamily="18" charset="0"/>
                            </a:rPr>
                            <m:t>casos</m:t>
                          </m:r>
                          <m:r>
                            <m:rPr>
                              <m:nor/>
                            </m:rPr>
                            <a:rPr lang="es-AR" sz="3600" b="0" i="0" smtClean="0">
                              <a:latin typeface="Cambria Math" panose="02040503050406030204" pitchFamily="18" charset="0"/>
                            </a:rPr>
                            <m:t> "</m:t>
                          </m:r>
                          <m:r>
                            <m:rPr>
                              <m:nor/>
                            </m:rPr>
                            <a:rPr lang="es-AR" sz="3600" b="0" i="0" smtClean="0">
                              <a:latin typeface="Cambria Math" panose="02040503050406030204" pitchFamily="18" charset="0"/>
                            </a:rPr>
                            <m:t>favorables</m:t>
                          </m:r>
                          <m:r>
                            <m:rPr>
                              <m:nor/>
                            </m:rPr>
                            <a:rPr lang="es-AR" sz="3600" b="0" i="0" smtClean="0">
                              <a:latin typeface="Cambria Math" panose="02040503050406030204" pitchFamily="18" charset="0"/>
                            </a:rPr>
                            <m:t>" (</m:t>
                          </m:r>
                          <m:r>
                            <m:rPr>
                              <m:nor/>
                            </m:rPr>
                            <a:rPr lang="es-AR" sz="3600" b="0" i="0" smtClean="0">
                              <a:latin typeface="Cambria Math" panose="02040503050406030204" pitchFamily="18" charset="0"/>
                            </a:rPr>
                            <m:t>en</m:t>
                          </m:r>
                          <m:r>
                            <m:rPr>
                              <m:nor/>
                            </m:rPr>
                            <a:rPr lang="es-AR" sz="3600" b="0" i="0" smtClean="0">
                              <a:latin typeface="Cambria Math" panose="02040503050406030204" pitchFamily="18" charset="0"/>
                            </a:rPr>
                            <m:t> </m:t>
                          </m:r>
                          <m:r>
                            <a:rPr lang="es-AR" sz="3600" b="0" i="1" smtClean="0">
                              <a:latin typeface="Cambria Math" panose="02040503050406030204" pitchFamily="18" charset="0"/>
                            </a:rPr>
                            <m:t>𝐴</m:t>
                          </m:r>
                          <m:r>
                            <a:rPr lang="es-AR" sz="3600" b="0" i="1" smtClean="0">
                              <a:latin typeface="Cambria Math" panose="02040503050406030204" pitchFamily="18" charset="0"/>
                            </a:rPr>
                            <m:t>)</m:t>
                          </m:r>
                        </m:num>
                        <m:den>
                          <m:r>
                            <m:rPr>
                              <m:nor/>
                            </m:rPr>
                            <a:rPr lang="es-AR" sz="3600" b="0" i="0" smtClean="0">
                              <a:latin typeface="Cambria Math" panose="02040503050406030204" pitchFamily="18" charset="0"/>
                            </a:rPr>
                            <m:t># </m:t>
                          </m:r>
                          <m:r>
                            <m:rPr>
                              <m:nor/>
                            </m:rPr>
                            <a:rPr lang="es-AR" sz="3600" b="0" i="0" smtClean="0">
                              <a:latin typeface="Cambria Math" panose="02040503050406030204" pitchFamily="18" charset="0"/>
                            </a:rPr>
                            <m:t>total</m:t>
                          </m:r>
                          <m:r>
                            <m:rPr>
                              <m:nor/>
                            </m:rPr>
                            <a:rPr lang="es-AR" sz="3600" b="0" i="0" smtClean="0">
                              <a:latin typeface="Cambria Math" panose="02040503050406030204" pitchFamily="18" charset="0"/>
                            </a:rPr>
                            <m:t> </m:t>
                          </m:r>
                          <m:r>
                            <m:rPr>
                              <m:nor/>
                            </m:rPr>
                            <a:rPr lang="es-AR" sz="3600" b="0" i="0" smtClean="0">
                              <a:latin typeface="Cambria Math" panose="02040503050406030204" pitchFamily="18" charset="0"/>
                            </a:rPr>
                            <m:t>de</m:t>
                          </m:r>
                          <m:r>
                            <m:rPr>
                              <m:nor/>
                            </m:rPr>
                            <a:rPr lang="es-AR" sz="3600" b="0" i="0" smtClean="0">
                              <a:latin typeface="Cambria Math" panose="02040503050406030204" pitchFamily="18" charset="0"/>
                            </a:rPr>
                            <m:t> </m:t>
                          </m:r>
                          <m:r>
                            <m:rPr>
                              <m:nor/>
                            </m:rPr>
                            <a:rPr lang="es-AR" sz="3600" b="0" i="0" smtClean="0">
                              <a:latin typeface="Cambria Math" panose="02040503050406030204" pitchFamily="18" charset="0"/>
                            </a:rPr>
                            <m:t>casos</m:t>
                          </m:r>
                        </m:den>
                      </m:f>
                    </m:oMath>
                  </m:oMathPara>
                </a14:m>
                <a:endParaRPr lang="en-US" sz="3600" dirty="0"/>
              </a:p>
            </p:txBody>
          </p:sp>
        </mc:Choice>
        <mc:Fallback xmlns="">
          <p:sp>
            <p:nvSpPr>
              <p:cNvPr id="2" name="TextBox 1"/>
              <p:cNvSpPr txBox="1">
                <a:spLocks noRot="1" noChangeAspect="1" noMove="1" noResize="1" noEditPoints="1" noAdjustHandles="1" noChangeArrowheads="1" noChangeShapeType="1" noTextEdit="1"/>
              </p:cNvSpPr>
              <p:nvPr/>
            </p:nvSpPr>
            <p:spPr>
              <a:xfrm>
                <a:off x="1066801" y="3309879"/>
                <a:ext cx="7537648" cy="1055225"/>
              </a:xfrm>
              <a:prstGeom prst="rect">
                <a:avLst/>
              </a:prstGeo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2990606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Text Box 3"/>
          <p:cNvSpPr txBox="1">
            <a:spLocks noChangeArrowheads="1"/>
          </p:cNvSpPr>
          <p:nvPr/>
        </p:nvSpPr>
        <p:spPr bwMode="auto">
          <a:xfrm>
            <a:off x="1270273" y="1740733"/>
            <a:ext cx="739140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s-MX" altLang="en-US" sz="2000" dirty="0">
                <a:latin typeface="Arial" panose="020B0604020202020204" pitchFamily="34" charset="0"/>
              </a:rPr>
              <a:t>Hallar la probabilidad de sacar una suma de 8 puntos al lanzar un dado dos veces.</a:t>
            </a:r>
            <a:endParaRPr lang="en-US" altLang="en-US" sz="2000" dirty="0">
              <a:latin typeface="Arial" panose="020B0604020202020204" pitchFamily="34" charset="0"/>
            </a:endParaRPr>
          </a:p>
        </p:txBody>
      </p:sp>
      <p:sp>
        <p:nvSpPr>
          <p:cNvPr id="2052" name="Text Box 4"/>
          <p:cNvSpPr txBox="1">
            <a:spLocks noChangeArrowheads="1"/>
          </p:cNvSpPr>
          <p:nvPr/>
        </p:nvSpPr>
        <p:spPr bwMode="auto">
          <a:xfrm>
            <a:off x="1259632" y="3463379"/>
            <a:ext cx="21336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s-MX" altLang="en-US" sz="1800" dirty="0">
                <a:latin typeface="Broadway" panose="04040905080B02020502" pitchFamily="82" charset="0"/>
              </a:rPr>
              <a:t>Casos posibles </a:t>
            </a:r>
            <a:endParaRPr lang="en-US" altLang="en-US" sz="1800" dirty="0">
              <a:latin typeface="Broadway" panose="04040905080B02020502" pitchFamily="82" charset="0"/>
            </a:endParaRPr>
          </a:p>
        </p:txBody>
      </p:sp>
      <p:sp>
        <p:nvSpPr>
          <p:cNvPr id="2053" name="Text Box 5"/>
          <p:cNvSpPr txBox="1">
            <a:spLocks noChangeArrowheads="1"/>
          </p:cNvSpPr>
          <p:nvPr/>
        </p:nvSpPr>
        <p:spPr bwMode="auto">
          <a:xfrm>
            <a:off x="3429000" y="3387179"/>
            <a:ext cx="1981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s-MX" altLang="en-US" sz="2400" dirty="0">
                <a:latin typeface="Cambria Math" panose="02040503050406030204" pitchFamily="18" charset="0"/>
                <a:ea typeface="Cambria Math" panose="02040503050406030204" pitchFamily="18" charset="0"/>
              </a:rPr>
              <a:t>6 x 6 = 36</a:t>
            </a:r>
            <a:endParaRPr lang="en-US" altLang="en-US" sz="2400" dirty="0">
              <a:latin typeface="Cambria Math" panose="02040503050406030204" pitchFamily="18" charset="0"/>
              <a:ea typeface="Cambria Math" panose="02040503050406030204" pitchFamily="18" charset="0"/>
            </a:endParaRPr>
          </a:p>
        </p:txBody>
      </p:sp>
      <p:sp>
        <p:nvSpPr>
          <p:cNvPr id="2054" name="Text Box 6"/>
          <p:cNvSpPr txBox="1">
            <a:spLocks noChangeArrowheads="1"/>
          </p:cNvSpPr>
          <p:nvPr/>
        </p:nvSpPr>
        <p:spPr bwMode="auto">
          <a:xfrm>
            <a:off x="1269504" y="4643844"/>
            <a:ext cx="24384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s-MX" altLang="en-US" sz="1800" dirty="0">
                <a:latin typeface="Broadway" panose="04040905080B02020502" pitchFamily="82" charset="0"/>
              </a:rPr>
              <a:t>Casos favorables</a:t>
            </a:r>
            <a:endParaRPr lang="en-US" altLang="en-US" sz="1800" dirty="0">
              <a:latin typeface="Broadway" panose="04040905080B02020502" pitchFamily="82" charset="0"/>
            </a:endParaRPr>
          </a:p>
        </p:txBody>
      </p:sp>
      <p:sp>
        <p:nvSpPr>
          <p:cNvPr id="2055" name="Text Box 7"/>
          <p:cNvSpPr txBox="1">
            <a:spLocks noChangeArrowheads="1"/>
          </p:cNvSpPr>
          <p:nvPr/>
        </p:nvSpPr>
        <p:spPr bwMode="auto">
          <a:xfrm>
            <a:off x="3543300" y="4586089"/>
            <a:ext cx="498914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s-MX" altLang="en-US" sz="2400" dirty="0">
                <a:latin typeface="Cambria Math" panose="02040503050406030204" pitchFamily="18" charset="0"/>
                <a:ea typeface="Cambria Math" panose="02040503050406030204" pitchFamily="18" charset="0"/>
              </a:rPr>
              <a:t>5   {(5,3),(3,5),(6,2),(2,6),(4,4)}</a:t>
            </a:r>
            <a:endParaRPr lang="en-US" altLang="en-US" sz="2400" dirty="0">
              <a:latin typeface="Cambria Math" panose="02040503050406030204" pitchFamily="18" charset="0"/>
              <a:ea typeface="Cambria Math" panose="02040503050406030204" pitchFamily="18" charset="0"/>
            </a:endParaRPr>
          </a:p>
        </p:txBody>
      </p:sp>
      <p:sp>
        <p:nvSpPr>
          <p:cNvPr id="2058" name="Text Box 10"/>
          <p:cNvSpPr txBox="1">
            <a:spLocks noChangeArrowheads="1"/>
          </p:cNvSpPr>
          <p:nvPr/>
        </p:nvSpPr>
        <p:spPr bwMode="auto">
          <a:xfrm>
            <a:off x="5127129" y="2314872"/>
            <a:ext cx="3534544" cy="2031325"/>
          </a:xfrm>
          <a:prstGeom prst="rect">
            <a:avLst/>
          </a:prstGeom>
          <a:solidFill>
            <a:schemeClr val="tx2">
              <a:lumMod val="10000"/>
              <a:lumOff val="90000"/>
            </a:schemeClr>
          </a:solidFill>
          <a:ln w="9525">
            <a:solidFill>
              <a:schemeClr val="tx1"/>
            </a:solidFill>
            <a:miter lim="800000"/>
            <a:headEnd/>
            <a:tailEnd/>
          </a:ln>
          <a:effec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50000"/>
              </a:spcBef>
              <a:buFontTx/>
              <a:buNone/>
            </a:pPr>
            <a:r>
              <a:rPr lang="es-MX" altLang="en-US" sz="1800" dirty="0">
                <a:latin typeface="Arial" panose="020B0604020202020204" pitchFamily="34" charset="0"/>
                <a:cs typeface="Arial" panose="020B0604020202020204" pitchFamily="34" charset="0"/>
              </a:rPr>
              <a:t>Si el primer elemento de un par ordenado se puede seleccionar de </a:t>
            </a:r>
            <a:r>
              <a:rPr lang="es-MX" altLang="en-US" sz="1800" i="1" dirty="0">
                <a:latin typeface="Arial" panose="020B0604020202020204" pitchFamily="34" charset="0"/>
                <a:cs typeface="Arial" panose="020B0604020202020204" pitchFamily="34" charset="0"/>
              </a:rPr>
              <a:t>n</a:t>
            </a:r>
            <a:r>
              <a:rPr lang="es-MX" altLang="en-US" sz="1800" dirty="0">
                <a:latin typeface="Arial" panose="020B0604020202020204" pitchFamily="34" charset="0"/>
                <a:cs typeface="Arial" panose="020B0604020202020204" pitchFamily="34" charset="0"/>
              </a:rPr>
              <a:t> formas y por cada una de éstas se puede seleccionar el segundo elemento del par de </a:t>
            </a:r>
            <a:r>
              <a:rPr lang="es-MX" altLang="en-US" sz="1800" i="1" dirty="0">
                <a:latin typeface="Arial" panose="020B0604020202020204" pitchFamily="34" charset="0"/>
                <a:cs typeface="Arial" panose="020B0604020202020204" pitchFamily="34" charset="0"/>
              </a:rPr>
              <a:t>m</a:t>
            </a:r>
            <a:r>
              <a:rPr lang="es-MX" altLang="en-US" sz="1800" dirty="0">
                <a:latin typeface="Arial" panose="020B0604020202020204" pitchFamily="34" charset="0"/>
                <a:cs typeface="Arial" panose="020B0604020202020204" pitchFamily="34" charset="0"/>
              </a:rPr>
              <a:t> maneras entonces el número de pares posibles es  </a:t>
            </a:r>
            <a:r>
              <a:rPr lang="es-MX" altLang="en-US" sz="1800" i="1" dirty="0">
                <a:latin typeface="Arial" panose="020B0604020202020204" pitchFamily="34" charset="0"/>
                <a:cs typeface="Arial" panose="020B0604020202020204" pitchFamily="34" charset="0"/>
              </a:rPr>
              <a:t>n</a:t>
            </a:r>
            <a:r>
              <a:rPr lang="es-MX" altLang="en-US" sz="1800" dirty="0">
                <a:latin typeface="Arial" panose="020B0604020202020204" pitchFamily="34" charset="0"/>
                <a:cs typeface="Arial" panose="020B0604020202020204" pitchFamily="34" charset="0"/>
              </a:rPr>
              <a:t> x </a:t>
            </a:r>
            <a:r>
              <a:rPr lang="es-MX" altLang="en-US" sz="1800" i="1" dirty="0">
                <a:latin typeface="Arial" panose="020B0604020202020204" pitchFamily="34" charset="0"/>
                <a:cs typeface="Arial" panose="020B0604020202020204" pitchFamily="34" charset="0"/>
              </a:rPr>
              <a:t>m.</a:t>
            </a:r>
            <a:endParaRPr lang="en-US" altLang="en-US" sz="1800" i="1" dirty="0">
              <a:latin typeface="Arial" panose="020B0604020202020204" pitchFamily="34" charset="0"/>
              <a:cs typeface="Arial" panose="020B0604020202020204" pitchFamily="34" charset="0"/>
            </a:endParaRPr>
          </a:p>
        </p:txBody>
      </p:sp>
      <p:sp>
        <p:nvSpPr>
          <p:cNvPr id="12" name="Rectangle 2"/>
          <p:cNvSpPr>
            <a:spLocks noGrp="1" noChangeArrowheads="1"/>
          </p:cNvSpPr>
          <p:nvPr>
            <p:ph type="title"/>
          </p:nvPr>
        </p:nvSpPr>
        <p:spPr>
          <a:xfrm>
            <a:off x="1066800" y="355599"/>
            <a:ext cx="7620000" cy="1216025"/>
          </a:xfrm>
        </p:spPr>
        <p:txBody>
          <a:bodyPr/>
          <a:lstStyle/>
          <a:p>
            <a:pPr eaLnBrk="1" hangingPunct="1"/>
            <a:r>
              <a:rPr lang="es-MX" altLang="en-US" sz="3200" b="1" dirty="0">
                <a:latin typeface="Broadway" panose="04040905080B02020502" pitchFamily="82" charset="0"/>
              </a:rPr>
              <a:t>Cálculo de probabilidades con la regla de Laplace</a:t>
            </a:r>
            <a:endParaRPr lang="en-US" altLang="en-US" sz="3200" b="1" dirty="0">
              <a:latin typeface="Broadway" panose="04040905080B02020502" pitchFamily="82" charset="0"/>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C8B9D4A1-EA9C-4489-8DA8-5E1D54DC5A24}"/>
                  </a:ext>
                </a:extLst>
              </p:cNvPr>
              <p:cNvSpPr txBox="1"/>
              <p:nvPr/>
            </p:nvSpPr>
            <p:spPr>
              <a:xfrm>
                <a:off x="3770164" y="5438791"/>
                <a:ext cx="2391617" cy="70134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nor/>
                        </m:rPr>
                        <a:rPr lang="es-AR" b="0" i="0" smtClean="0">
                          <a:latin typeface="Cambria Math" panose="02040503050406030204" pitchFamily="18" charset="0"/>
                        </a:rPr>
                        <m:t>P</m:t>
                      </m:r>
                      <m:r>
                        <a:rPr lang="es-AR" b="0" i="1" smtClean="0">
                          <a:latin typeface="Cambria Math" panose="02040503050406030204" pitchFamily="18" charset="0"/>
                        </a:rPr>
                        <m:t>= </m:t>
                      </m:r>
                      <m:f>
                        <m:fPr>
                          <m:ctrlPr>
                            <a:rPr lang="es-AR" b="0" i="1" smtClean="0">
                              <a:latin typeface="Cambria Math" panose="02040503050406030204" pitchFamily="18" charset="0"/>
                            </a:rPr>
                          </m:ctrlPr>
                        </m:fPr>
                        <m:num>
                          <m:r>
                            <a:rPr lang="es-AR" b="0" i="1" smtClean="0">
                              <a:latin typeface="Cambria Math" panose="02040503050406030204" pitchFamily="18" charset="0"/>
                            </a:rPr>
                            <m:t>5</m:t>
                          </m:r>
                        </m:num>
                        <m:den>
                          <m:r>
                            <a:rPr lang="es-AR" b="0" i="1" smtClean="0">
                              <a:latin typeface="Cambria Math" panose="02040503050406030204" pitchFamily="18" charset="0"/>
                            </a:rPr>
                            <m:t>36</m:t>
                          </m:r>
                        </m:den>
                      </m:f>
                      <m:r>
                        <a:rPr lang="es-AR" b="0" i="1" smtClean="0">
                          <a:latin typeface="Cambria Math" panose="02040503050406030204" pitchFamily="18" charset="0"/>
                          <a:ea typeface="Cambria Math" panose="02040503050406030204" pitchFamily="18" charset="0"/>
                        </a:rPr>
                        <m:t>≈0.1389</m:t>
                      </m:r>
                    </m:oMath>
                  </m:oMathPara>
                </a14:m>
                <a:endParaRPr lang="en-US" dirty="0"/>
              </a:p>
            </p:txBody>
          </p:sp>
        </mc:Choice>
        <mc:Fallback xmlns="">
          <p:sp>
            <p:nvSpPr>
              <p:cNvPr id="2" name="TextBox 1">
                <a:extLst>
                  <a:ext uri="{FF2B5EF4-FFF2-40B4-BE49-F238E27FC236}">
                    <a16:creationId xmlns:a16="http://schemas.microsoft.com/office/drawing/2014/main" id="{C8B9D4A1-EA9C-4489-8DA8-5E1D54DC5A24}"/>
                  </a:ext>
                </a:extLst>
              </p:cNvPr>
              <p:cNvSpPr txBox="1">
                <a:spLocks noRot="1" noChangeAspect="1" noMove="1" noResize="1" noEditPoints="1" noAdjustHandles="1" noChangeArrowheads="1" noChangeShapeType="1" noTextEdit="1"/>
              </p:cNvSpPr>
              <p:nvPr/>
            </p:nvSpPr>
            <p:spPr>
              <a:xfrm>
                <a:off x="3770164" y="5438791"/>
                <a:ext cx="2391617" cy="701346"/>
              </a:xfrm>
              <a:prstGeom prst="rect">
                <a:avLst/>
              </a:prstGeo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06078432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05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5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2053"/>
                                        </p:tgtEl>
                                        <p:attrNameLst>
                                          <p:attrName>style.visibility</p:attrName>
                                        </p:attrNameLst>
                                      </p:cBhvr>
                                      <p:to>
                                        <p:strVal val="visible"/>
                                      </p:to>
                                    </p:set>
                                    <p:animEffect transition="in" filter="blinds(horizontal)">
                                      <p:cBhvr>
                                        <p:cTn id="15" dur="500"/>
                                        <p:tgtEl>
                                          <p:spTgt spid="2053"/>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grpId="0" nodeType="clickEffect">
                                  <p:stCondLst>
                                    <p:cond delay="0"/>
                                  </p:stCondLst>
                                  <p:childTnLst>
                                    <p:set>
                                      <p:cBhvr>
                                        <p:cTn id="19" dur="1" fill="hold">
                                          <p:stCondLst>
                                            <p:cond delay="499"/>
                                          </p:stCondLst>
                                        </p:cTn>
                                        <p:tgtEl>
                                          <p:spTgt spid="2054"/>
                                        </p:tgtEl>
                                        <p:attrNameLst>
                                          <p:attrName>style.visibility</p:attrName>
                                        </p:attrNameLst>
                                      </p:cBhvr>
                                      <p:to>
                                        <p:strVal val="visible"/>
                                      </p:to>
                                    </p:set>
                                  </p:childTnLst>
                                </p:cTn>
                              </p:par>
                            </p:childTnLst>
                          </p:cTn>
                        </p:par>
                      </p:childTnLst>
                    </p:cTn>
                  </p:par>
                  <p:par>
                    <p:cTn id="20" fill="hold" nodeType="clickPar">
                      <p:stCondLst>
                        <p:cond delay="indefinite"/>
                      </p:stCondLst>
                      <p:childTnLst>
                        <p:par>
                          <p:cTn id="21" fill="hold" nodeType="withGroup">
                            <p:stCondLst>
                              <p:cond delay="0"/>
                            </p:stCondLst>
                            <p:childTnLst>
                              <p:par>
                                <p:cTn id="22" presetID="3" presetClass="entr" presetSubtype="10" fill="hold" grpId="0" nodeType="clickEffect">
                                  <p:stCondLst>
                                    <p:cond delay="0"/>
                                  </p:stCondLst>
                                  <p:childTnLst>
                                    <p:set>
                                      <p:cBhvr>
                                        <p:cTn id="23" dur="1" fill="hold">
                                          <p:stCondLst>
                                            <p:cond delay="0"/>
                                          </p:stCondLst>
                                        </p:cTn>
                                        <p:tgtEl>
                                          <p:spTgt spid="2055"/>
                                        </p:tgtEl>
                                        <p:attrNameLst>
                                          <p:attrName>style.visibility</p:attrName>
                                        </p:attrNameLst>
                                      </p:cBhvr>
                                      <p:to>
                                        <p:strVal val="visible"/>
                                      </p:to>
                                    </p:set>
                                    <p:animEffect transition="in" filter="blinds(horizontal)">
                                      <p:cBhvr>
                                        <p:cTn id="24" dur="500"/>
                                        <p:tgtEl>
                                          <p:spTgt spid="2055"/>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2"/>
                                        </p:tgtEl>
                                        <p:attrNameLst>
                                          <p:attrName>style.visibility</p:attrName>
                                        </p:attrNameLst>
                                      </p:cBhvr>
                                      <p:to>
                                        <p:strVal val="visible"/>
                                      </p:to>
                                    </p:set>
                                    <p:anim calcmode="lin" valueType="num">
                                      <p:cBhvr additive="base">
                                        <p:cTn id="29" dur="500" fill="hold"/>
                                        <p:tgtEl>
                                          <p:spTgt spid="2"/>
                                        </p:tgtEl>
                                        <p:attrNameLst>
                                          <p:attrName>ppt_x</p:attrName>
                                        </p:attrNameLst>
                                      </p:cBhvr>
                                      <p:tavLst>
                                        <p:tav tm="0">
                                          <p:val>
                                            <p:strVal val="#ppt_x"/>
                                          </p:val>
                                        </p:tav>
                                        <p:tav tm="100000">
                                          <p:val>
                                            <p:strVal val="#ppt_x"/>
                                          </p:val>
                                        </p:tav>
                                      </p:tavLst>
                                    </p:anim>
                                    <p:anim calcmode="lin" valueType="num">
                                      <p:cBhvr additive="base">
                                        <p:cTn id="3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2" grpId="0" autoUpdateAnimBg="0"/>
      <p:bldP spid="2053" grpId="0" autoUpdateAnimBg="0"/>
      <p:bldP spid="2054" grpId="0" autoUpdateAnimBg="0"/>
      <p:bldP spid="2055" grpId="0" autoUpdateAnimBg="0"/>
      <p:bldP spid="2058" grpId="0" animBg="1"/>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Text Box 3"/>
          <p:cNvSpPr txBox="1">
            <a:spLocks noChangeArrowheads="1"/>
          </p:cNvSpPr>
          <p:nvPr/>
        </p:nvSpPr>
        <p:spPr bwMode="auto">
          <a:xfrm>
            <a:off x="1295400" y="1828800"/>
            <a:ext cx="739140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50000"/>
              </a:spcBef>
              <a:buFontTx/>
              <a:buNone/>
            </a:pPr>
            <a:r>
              <a:rPr lang="es-MX" altLang="en-US" sz="2000" dirty="0">
                <a:latin typeface="Arial" panose="020B0604020202020204" pitchFamily="34" charset="0"/>
              </a:rPr>
              <a:t>Hallar la probabilidad de sacar por suma o bien 4, o bien 11 al lanzar dos dados.</a:t>
            </a:r>
            <a:endParaRPr lang="en-US" altLang="en-US" sz="2000" dirty="0">
              <a:latin typeface="Arial" panose="020B0604020202020204" pitchFamily="34" charset="0"/>
            </a:endParaRPr>
          </a:p>
        </p:txBody>
      </p:sp>
      <p:sp>
        <p:nvSpPr>
          <p:cNvPr id="1028" name="Text Box 4"/>
          <p:cNvSpPr txBox="1">
            <a:spLocks noChangeArrowheads="1"/>
          </p:cNvSpPr>
          <p:nvPr/>
        </p:nvSpPr>
        <p:spPr bwMode="auto">
          <a:xfrm>
            <a:off x="1447800" y="2743200"/>
            <a:ext cx="21336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s-MX" altLang="en-US" sz="1800" dirty="0">
                <a:latin typeface="Broadway" panose="04040905080B02020502" pitchFamily="82" charset="0"/>
              </a:rPr>
              <a:t>Casos posibles </a:t>
            </a:r>
            <a:endParaRPr lang="en-US" altLang="en-US" sz="1800" dirty="0">
              <a:latin typeface="Broadway" panose="04040905080B02020502" pitchFamily="82" charset="0"/>
            </a:endParaRPr>
          </a:p>
        </p:txBody>
      </p:sp>
      <p:sp>
        <p:nvSpPr>
          <p:cNvPr id="1029" name="Text Box 5"/>
          <p:cNvSpPr txBox="1">
            <a:spLocks noChangeArrowheads="1"/>
          </p:cNvSpPr>
          <p:nvPr/>
        </p:nvSpPr>
        <p:spPr bwMode="auto">
          <a:xfrm>
            <a:off x="3656806" y="2669716"/>
            <a:ext cx="2667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s-MX" altLang="en-US" sz="2400" dirty="0">
                <a:latin typeface="Cambria Math" panose="02040503050406030204" pitchFamily="18" charset="0"/>
                <a:ea typeface="Cambria Math" panose="02040503050406030204" pitchFamily="18" charset="0"/>
              </a:rPr>
              <a:t>6 x 6 = 36</a:t>
            </a:r>
            <a:endParaRPr lang="en-US" altLang="en-US" sz="2400" dirty="0">
              <a:latin typeface="Cambria Math" panose="02040503050406030204" pitchFamily="18" charset="0"/>
              <a:ea typeface="Cambria Math" panose="02040503050406030204" pitchFamily="18" charset="0"/>
            </a:endParaRPr>
          </a:p>
        </p:txBody>
      </p:sp>
      <p:sp>
        <p:nvSpPr>
          <p:cNvPr id="1030" name="Text Box 6"/>
          <p:cNvSpPr txBox="1">
            <a:spLocks noChangeArrowheads="1"/>
          </p:cNvSpPr>
          <p:nvPr/>
        </p:nvSpPr>
        <p:spPr bwMode="auto">
          <a:xfrm>
            <a:off x="1447800" y="4771628"/>
            <a:ext cx="24384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s-MX" altLang="en-US" sz="1800" dirty="0">
                <a:latin typeface="Broadway" panose="04040905080B02020502" pitchFamily="82" charset="0"/>
              </a:rPr>
              <a:t>Casos favorables</a:t>
            </a:r>
            <a:endParaRPr lang="en-US" altLang="en-US" sz="1800" dirty="0">
              <a:latin typeface="Broadway" panose="04040905080B02020502" pitchFamily="82" charset="0"/>
            </a:endParaRPr>
          </a:p>
        </p:txBody>
      </p:sp>
      <p:sp>
        <p:nvSpPr>
          <p:cNvPr id="1031" name="Text Box 7"/>
          <p:cNvSpPr txBox="1">
            <a:spLocks noChangeArrowheads="1"/>
          </p:cNvSpPr>
          <p:nvPr/>
        </p:nvSpPr>
        <p:spPr bwMode="auto">
          <a:xfrm>
            <a:off x="3733800" y="4692203"/>
            <a:ext cx="490175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s-MX" altLang="en-US" sz="2400" dirty="0">
                <a:latin typeface="Cambria Math" panose="02040503050406030204" pitchFamily="18" charset="0"/>
                <a:ea typeface="Cambria Math" panose="02040503050406030204" pitchFamily="18" charset="0"/>
              </a:rPr>
              <a:t>5   {(2,2),(3,1),(1,3)} o {(5,6),(6,5)}</a:t>
            </a:r>
            <a:endParaRPr lang="en-US" altLang="en-US" sz="2400" dirty="0">
              <a:latin typeface="Cambria Math" panose="02040503050406030204" pitchFamily="18" charset="0"/>
              <a:ea typeface="Cambria Math" panose="02040503050406030204" pitchFamily="18" charset="0"/>
            </a:endParaRPr>
          </a:p>
        </p:txBody>
      </p:sp>
      <p:sp>
        <p:nvSpPr>
          <p:cNvPr id="1034" name="Text Box 10"/>
          <p:cNvSpPr txBox="1">
            <a:spLocks noChangeArrowheads="1"/>
          </p:cNvSpPr>
          <p:nvPr/>
        </p:nvSpPr>
        <p:spPr bwMode="auto">
          <a:xfrm>
            <a:off x="1309687" y="3209669"/>
            <a:ext cx="7325866" cy="1200329"/>
          </a:xfrm>
          <a:prstGeom prst="rect">
            <a:avLst/>
          </a:prstGeom>
          <a:solidFill>
            <a:schemeClr val="tx2">
              <a:lumMod val="10000"/>
              <a:lumOff val="90000"/>
            </a:schemeClr>
          </a:solidFill>
          <a:ln w="9525">
            <a:solidFill>
              <a:schemeClr val="tx1"/>
            </a:solidFill>
            <a:miter lim="800000"/>
            <a:headEnd/>
            <a:tailEnd/>
          </a:ln>
          <a:effec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50000"/>
              </a:spcBef>
              <a:buFontTx/>
              <a:buNone/>
            </a:pPr>
            <a:r>
              <a:rPr lang="es-MX" altLang="en-US" sz="1800" dirty="0">
                <a:latin typeface="Arial" panose="020B0604020202020204" pitchFamily="34" charset="0"/>
                <a:cs typeface="Arial" panose="020B0604020202020204" pitchFamily="34" charset="0"/>
              </a:rPr>
              <a:t>Supongamos que el procedimiento 1 se puede hacer de </a:t>
            </a:r>
            <a:r>
              <a:rPr lang="es-MX" altLang="en-US" sz="1800" i="1" dirty="0">
                <a:latin typeface="Arial" panose="020B0604020202020204" pitchFamily="34" charset="0"/>
                <a:cs typeface="Arial" panose="020B0604020202020204" pitchFamily="34" charset="0"/>
              </a:rPr>
              <a:t>n</a:t>
            </a:r>
            <a:r>
              <a:rPr lang="es-MX" altLang="en-US" sz="1800" dirty="0">
                <a:latin typeface="Arial" panose="020B0604020202020204" pitchFamily="34" charset="0"/>
                <a:cs typeface="Arial" panose="020B0604020202020204" pitchFamily="34" charset="0"/>
              </a:rPr>
              <a:t> maneras  y el procedimiento 2 se puede hacer de </a:t>
            </a:r>
            <a:r>
              <a:rPr lang="es-MX" altLang="en-US" sz="1800" i="1" dirty="0">
                <a:latin typeface="Arial" panose="020B0604020202020204" pitchFamily="34" charset="0"/>
                <a:cs typeface="Arial" panose="020B0604020202020204" pitchFamily="34" charset="0"/>
              </a:rPr>
              <a:t>m</a:t>
            </a:r>
            <a:r>
              <a:rPr lang="es-MX" altLang="en-US" sz="1800" dirty="0">
                <a:latin typeface="Arial" panose="020B0604020202020204" pitchFamily="34" charset="0"/>
                <a:cs typeface="Arial" panose="020B0604020202020204" pitchFamily="34" charset="0"/>
              </a:rPr>
              <a:t> maneras. Si no es posible que ambos, 1 y 2, se hagan juntos entonces el número de maneras en que se puede hacer 1 o 2 es </a:t>
            </a:r>
            <a:r>
              <a:rPr lang="es-MX" altLang="en-US" sz="1800" i="1" dirty="0">
                <a:latin typeface="Arial" panose="020B0604020202020204" pitchFamily="34" charset="0"/>
                <a:cs typeface="Arial" panose="020B0604020202020204" pitchFamily="34" charset="0"/>
              </a:rPr>
              <a:t>n</a:t>
            </a:r>
            <a:r>
              <a:rPr lang="es-MX" altLang="en-US" sz="1800" dirty="0">
                <a:latin typeface="Arial" panose="020B0604020202020204" pitchFamily="34" charset="0"/>
                <a:cs typeface="Arial" panose="020B0604020202020204" pitchFamily="34" charset="0"/>
              </a:rPr>
              <a:t> + </a:t>
            </a:r>
            <a:r>
              <a:rPr lang="es-MX" altLang="en-US" sz="1800" i="1" dirty="0">
                <a:latin typeface="Arial" panose="020B0604020202020204" pitchFamily="34" charset="0"/>
                <a:cs typeface="Arial" panose="020B0604020202020204" pitchFamily="34" charset="0"/>
              </a:rPr>
              <a:t>m.</a:t>
            </a:r>
            <a:endParaRPr lang="en-US" altLang="en-US" sz="1800" i="1" dirty="0">
              <a:latin typeface="Arial" panose="020B0604020202020204" pitchFamily="34" charset="0"/>
              <a:cs typeface="Arial" panose="020B0604020202020204" pitchFamily="34" charset="0"/>
            </a:endParaRPr>
          </a:p>
        </p:txBody>
      </p:sp>
      <p:sp>
        <p:nvSpPr>
          <p:cNvPr id="12" name="Rectangle 2"/>
          <p:cNvSpPr>
            <a:spLocks noGrp="1" noChangeArrowheads="1"/>
          </p:cNvSpPr>
          <p:nvPr>
            <p:ph type="title"/>
          </p:nvPr>
        </p:nvSpPr>
        <p:spPr/>
        <p:txBody>
          <a:bodyPr/>
          <a:lstStyle/>
          <a:p>
            <a:pPr eaLnBrk="1" hangingPunct="1"/>
            <a:r>
              <a:rPr lang="es-MX" altLang="en-US" sz="3200" b="1" dirty="0">
                <a:latin typeface="Broadway" panose="04040905080B02020502" pitchFamily="82" charset="0"/>
              </a:rPr>
              <a:t>Cálculo de probabilidades con la regla de Laplace</a:t>
            </a:r>
            <a:endParaRPr lang="en-US" altLang="en-US" sz="3200" b="1" dirty="0">
              <a:latin typeface="Broadway" panose="04040905080B02020502" pitchFamily="82" charset="0"/>
            </a:endParaRP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AF652DB1-8D20-4C8D-8FF0-117503FD1DFF}"/>
                  </a:ext>
                </a:extLst>
              </p:cNvPr>
              <p:cNvSpPr txBox="1"/>
              <p:nvPr/>
            </p:nvSpPr>
            <p:spPr>
              <a:xfrm>
                <a:off x="3770164" y="5438791"/>
                <a:ext cx="2391617" cy="70134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nor/>
                        </m:rPr>
                        <a:rPr lang="es-AR" b="0" i="0" smtClean="0">
                          <a:latin typeface="Cambria Math" panose="02040503050406030204" pitchFamily="18" charset="0"/>
                        </a:rPr>
                        <m:t>P</m:t>
                      </m:r>
                      <m:r>
                        <a:rPr lang="es-AR" b="0" i="1" smtClean="0">
                          <a:latin typeface="Cambria Math" panose="02040503050406030204" pitchFamily="18" charset="0"/>
                        </a:rPr>
                        <m:t>= </m:t>
                      </m:r>
                      <m:f>
                        <m:fPr>
                          <m:ctrlPr>
                            <a:rPr lang="es-AR" b="0" i="1" smtClean="0">
                              <a:latin typeface="Cambria Math" panose="02040503050406030204" pitchFamily="18" charset="0"/>
                            </a:rPr>
                          </m:ctrlPr>
                        </m:fPr>
                        <m:num>
                          <m:r>
                            <a:rPr lang="es-AR" b="0" i="1" smtClean="0">
                              <a:latin typeface="Cambria Math" panose="02040503050406030204" pitchFamily="18" charset="0"/>
                            </a:rPr>
                            <m:t>5</m:t>
                          </m:r>
                        </m:num>
                        <m:den>
                          <m:r>
                            <a:rPr lang="es-AR" b="0" i="1" smtClean="0">
                              <a:latin typeface="Cambria Math" panose="02040503050406030204" pitchFamily="18" charset="0"/>
                            </a:rPr>
                            <m:t>36</m:t>
                          </m:r>
                        </m:den>
                      </m:f>
                      <m:r>
                        <a:rPr lang="es-AR" b="0" i="1" smtClean="0">
                          <a:latin typeface="Cambria Math" panose="02040503050406030204" pitchFamily="18" charset="0"/>
                          <a:ea typeface="Cambria Math" panose="02040503050406030204" pitchFamily="18" charset="0"/>
                        </a:rPr>
                        <m:t>≈0.1389</m:t>
                      </m:r>
                    </m:oMath>
                  </m:oMathPara>
                </a14:m>
                <a:endParaRPr lang="en-US" dirty="0"/>
              </a:p>
            </p:txBody>
          </p:sp>
        </mc:Choice>
        <mc:Fallback xmlns="">
          <p:sp>
            <p:nvSpPr>
              <p:cNvPr id="11" name="TextBox 10">
                <a:extLst>
                  <a:ext uri="{FF2B5EF4-FFF2-40B4-BE49-F238E27FC236}">
                    <a16:creationId xmlns:a16="http://schemas.microsoft.com/office/drawing/2014/main" id="{AF652DB1-8D20-4C8D-8FF0-117503FD1DFF}"/>
                  </a:ext>
                </a:extLst>
              </p:cNvPr>
              <p:cNvSpPr txBox="1">
                <a:spLocks noRot="1" noChangeAspect="1" noMove="1" noResize="1" noEditPoints="1" noAdjustHandles="1" noChangeArrowheads="1" noChangeShapeType="1" noTextEdit="1"/>
              </p:cNvSpPr>
              <p:nvPr/>
            </p:nvSpPr>
            <p:spPr>
              <a:xfrm>
                <a:off x="3770164" y="5438791"/>
                <a:ext cx="2391617" cy="701346"/>
              </a:xfrm>
              <a:prstGeom prst="rect">
                <a:avLst/>
              </a:prstGeom>
              <a:blipFill>
                <a:blip r:embed="rId2"/>
                <a:stretch>
                  <a:fillRect/>
                </a:stretch>
              </a:blipFill>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02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1029"/>
                                        </p:tgtEl>
                                        <p:attrNameLst>
                                          <p:attrName>style.visibility</p:attrName>
                                        </p:attrNameLst>
                                      </p:cBhvr>
                                      <p:to>
                                        <p:strVal val="visible"/>
                                      </p:to>
                                    </p:set>
                                    <p:animEffect transition="in" filter="blinds(horizontal)">
                                      <p:cBhvr>
                                        <p:cTn id="11" dur="500"/>
                                        <p:tgtEl>
                                          <p:spTgt spid="1029"/>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034"/>
                                        </p:tgtEl>
                                        <p:attrNameLst>
                                          <p:attrName>style.visibility</p:attrName>
                                        </p:attrNameLst>
                                      </p:cBhvr>
                                      <p:to>
                                        <p:strVal val="visible"/>
                                      </p:to>
                                    </p:set>
                                    <p:animEffect transition="in" filter="fade">
                                      <p:cBhvr>
                                        <p:cTn id="16" dur="500"/>
                                        <p:tgtEl>
                                          <p:spTgt spid="1034"/>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1030"/>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1031"/>
                                        </p:tgtEl>
                                        <p:attrNameLst>
                                          <p:attrName>style.visibility</p:attrName>
                                        </p:attrNameLst>
                                      </p:cBhvr>
                                      <p:to>
                                        <p:strVal val="visible"/>
                                      </p:to>
                                    </p:set>
                                    <p:animEffect transition="in" filter="blinds(horizontal)">
                                      <p:cBhvr>
                                        <p:cTn id="25" dur="500"/>
                                        <p:tgtEl>
                                          <p:spTgt spid="1031"/>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11"/>
                                        </p:tgtEl>
                                        <p:attrNameLst>
                                          <p:attrName>style.visibility</p:attrName>
                                        </p:attrNameLst>
                                      </p:cBhvr>
                                      <p:to>
                                        <p:strVal val="visible"/>
                                      </p:to>
                                    </p:set>
                                    <p:anim calcmode="lin" valueType="num">
                                      <p:cBhvr additive="base">
                                        <p:cTn id="30" dur="500" fill="hold"/>
                                        <p:tgtEl>
                                          <p:spTgt spid="11"/>
                                        </p:tgtEl>
                                        <p:attrNameLst>
                                          <p:attrName>ppt_x</p:attrName>
                                        </p:attrNameLst>
                                      </p:cBhvr>
                                      <p:tavLst>
                                        <p:tav tm="0">
                                          <p:val>
                                            <p:strVal val="#ppt_x"/>
                                          </p:val>
                                        </p:tav>
                                        <p:tav tm="100000">
                                          <p:val>
                                            <p:strVal val="#ppt_x"/>
                                          </p:val>
                                        </p:tav>
                                      </p:tavLst>
                                    </p:anim>
                                    <p:anim calcmode="lin" valueType="num">
                                      <p:cBhvr additive="base">
                                        <p:cTn id="31"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8" grpId="0" autoUpdateAnimBg="0"/>
      <p:bldP spid="1029" grpId="0" autoUpdateAnimBg="0"/>
      <p:bldP spid="1030" grpId="0" autoUpdateAnimBg="0"/>
      <p:bldP spid="1031" grpId="0" autoUpdateAnimBg="0"/>
      <p:bldP spid="1034" grpId="0" animBg="1"/>
      <p:bldP spid="1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1066800" y="381000"/>
            <a:ext cx="7620000" cy="1130300"/>
          </a:xfrm>
        </p:spPr>
        <p:txBody>
          <a:bodyPr/>
          <a:lstStyle/>
          <a:p>
            <a:pPr lvl="0" eaLnBrk="1" hangingPunct="1"/>
            <a:r>
              <a:rPr lang="es-MX" altLang="en-US" sz="3200" b="1" dirty="0">
                <a:solidFill>
                  <a:srgbClr val="000000"/>
                </a:solidFill>
                <a:latin typeface="Broadway" panose="04040905080B02020502" pitchFamily="82" charset="0"/>
                <a:ea typeface="+mn-ea"/>
                <a:cs typeface="+mn-cs"/>
              </a:rPr>
              <a:t>Cálculo de probabilidades con la regla de Laplace</a:t>
            </a:r>
            <a:endParaRPr lang="en-US" altLang="en-US" sz="3200" b="1" dirty="0">
              <a:solidFill>
                <a:srgbClr val="000000"/>
              </a:solidFill>
              <a:latin typeface="Broadway" panose="04040905080B02020502" pitchFamily="82" charset="0"/>
              <a:ea typeface="+mn-ea"/>
              <a:cs typeface="+mn-cs"/>
            </a:endParaRPr>
          </a:p>
        </p:txBody>
      </p:sp>
      <p:sp>
        <p:nvSpPr>
          <p:cNvPr id="6147" name="Text Box 3"/>
          <p:cNvSpPr txBox="1">
            <a:spLocks noChangeArrowheads="1"/>
          </p:cNvSpPr>
          <p:nvPr/>
        </p:nvSpPr>
        <p:spPr bwMode="auto">
          <a:xfrm>
            <a:off x="1295400" y="1828800"/>
            <a:ext cx="7391400"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50000"/>
              </a:spcBef>
              <a:buFontTx/>
              <a:buNone/>
            </a:pPr>
            <a:r>
              <a:rPr lang="es-MX" altLang="en-US" sz="2000" dirty="0">
                <a:latin typeface="Arial" panose="020B0604020202020204" pitchFamily="34" charset="0"/>
              </a:rPr>
              <a:t>Una computadora genera en forma aleatoria la contraseña de cada nuevo usuario. Si este código consta de 8 caracteres elegidos al azar entre las 26 letras y los 10 dígitos, calcular la probabilidad de que empiece por letra y termine en dígito.</a:t>
            </a:r>
            <a:endParaRPr lang="en-US" altLang="en-US" sz="2000" dirty="0">
              <a:latin typeface="Arial" panose="020B0604020202020204" pitchFamily="34" charset="0"/>
            </a:endParaRPr>
          </a:p>
        </p:txBody>
      </p:sp>
      <p:sp>
        <p:nvSpPr>
          <p:cNvPr id="7172" name="Text Box 4"/>
          <p:cNvSpPr txBox="1">
            <a:spLocks noChangeArrowheads="1"/>
          </p:cNvSpPr>
          <p:nvPr/>
        </p:nvSpPr>
        <p:spPr bwMode="auto">
          <a:xfrm>
            <a:off x="1295400" y="3276039"/>
            <a:ext cx="21336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s-MX" altLang="en-US" sz="1800" dirty="0">
                <a:latin typeface="Broadway" panose="04040905080B02020502" pitchFamily="82" charset="0"/>
              </a:rPr>
              <a:t>Casos posibles </a:t>
            </a:r>
            <a:endParaRPr lang="en-US" altLang="en-US" sz="1800" dirty="0">
              <a:latin typeface="Broadway" panose="04040905080B02020502" pitchFamily="82" charset="0"/>
            </a:endParaRPr>
          </a:p>
        </p:txBody>
      </p:sp>
      <p:sp>
        <p:nvSpPr>
          <p:cNvPr id="7173" name="Text Box 5"/>
          <p:cNvSpPr txBox="1">
            <a:spLocks noChangeArrowheads="1"/>
          </p:cNvSpPr>
          <p:nvPr/>
        </p:nvSpPr>
        <p:spPr bwMode="auto">
          <a:xfrm>
            <a:off x="4343400" y="2819400"/>
            <a:ext cx="2057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endParaRPr lang="es-ES" altLang="en-US" sz="2400"/>
          </a:p>
        </p:txBody>
      </p:sp>
      <p:sp>
        <p:nvSpPr>
          <p:cNvPr id="7174" name="Text Box 6"/>
          <p:cNvSpPr txBox="1">
            <a:spLocks noChangeArrowheads="1"/>
          </p:cNvSpPr>
          <p:nvPr/>
        </p:nvSpPr>
        <p:spPr bwMode="auto">
          <a:xfrm>
            <a:off x="1365813" y="4335261"/>
            <a:ext cx="24384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s-MX" altLang="en-US" sz="1800" dirty="0">
                <a:latin typeface="Broadway" panose="04040905080B02020502" pitchFamily="82" charset="0"/>
              </a:rPr>
              <a:t>Casos favorables</a:t>
            </a:r>
            <a:endParaRPr lang="en-US" altLang="en-US" sz="1800" dirty="0">
              <a:latin typeface="Broadway" panose="04040905080B02020502" pitchFamily="82" charset="0"/>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4F3AB73E-DD88-42BA-BF63-8F8CF55269BE}"/>
                  </a:ext>
                </a:extLst>
              </p:cNvPr>
              <p:cNvSpPr txBox="1"/>
              <p:nvPr/>
            </p:nvSpPr>
            <p:spPr>
              <a:xfrm>
                <a:off x="2653825" y="3733781"/>
                <a:ext cx="4674549"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i="1" smtClean="0">
                              <a:latin typeface="Cambria Math" panose="02040503050406030204" pitchFamily="18" charset="0"/>
                            </a:rPr>
                          </m:ctrlPr>
                        </m:sSupPr>
                        <m:e>
                          <m:d>
                            <m:dPr>
                              <m:ctrlPr>
                                <a:rPr lang="en-US" i="1" smtClean="0">
                                  <a:latin typeface="Cambria Math" panose="02040503050406030204" pitchFamily="18" charset="0"/>
                                </a:rPr>
                              </m:ctrlPr>
                            </m:dPr>
                            <m:e>
                              <m:r>
                                <a:rPr lang="es-AR" b="0" i="1" smtClean="0">
                                  <a:latin typeface="Cambria Math" panose="02040503050406030204" pitchFamily="18" charset="0"/>
                                </a:rPr>
                                <m:t>26+10</m:t>
                              </m:r>
                            </m:e>
                          </m:d>
                        </m:e>
                        <m:sup>
                          <m:r>
                            <a:rPr lang="es-AR" b="0" i="1" smtClean="0">
                              <a:latin typeface="Cambria Math" panose="02040503050406030204" pitchFamily="18" charset="0"/>
                            </a:rPr>
                            <m:t>8</m:t>
                          </m:r>
                        </m:sup>
                      </m:sSup>
                      <m:r>
                        <a:rPr lang="es-AR" b="0" i="1" smtClean="0">
                          <a:latin typeface="Cambria Math" panose="02040503050406030204" pitchFamily="18" charset="0"/>
                        </a:rPr>
                        <m:t>=</m:t>
                      </m:r>
                      <m:sSup>
                        <m:sSupPr>
                          <m:ctrlPr>
                            <a:rPr lang="en-US" i="1">
                              <a:latin typeface="Cambria Math" panose="02040503050406030204" pitchFamily="18" charset="0"/>
                            </a:rPr>
                          </m:ctrlPr>
                        </m:sSupPr>
                        <m:e>
                          <m:r>
                            <a:rPr lang="es-AR" i="1">
                              <a:latin typeface="Cambria Math" panose="02040503050406030204" pitchFamily="18" charset="0"/>
                            </a:rPr>
                            <m:t>36</m:t>
                          </m:r>
                        </m:e>
                        <m:sup>
                          <m:r>
                            <a:rPr lang="es-AR" i="1">
                              <a:latin typeface="Cambria Math" panose="02040503050406030204" pitchFamily="18" charset="0"/>
                            </a:rPr>
                            <m:t>8</m:t>
                          </m:r>
                        </m:sup>
                      </m:sSup>
                      <m:r>
                        <a:rPr lang="es-AR" i="1" smtClean="0">
                          <a:latin typeface="Cambria Math" panose="02040503050406030204" pitchFamily="18" charset="0"/>
                          <a:ea typeface="Cambria Math" panose="02040503050406030204" pitchFamily="18" charset="0"/>
                        </a:rPr>
                        <m:t>≈</m:t>
                      </m:r>
                      <m:r>
                        <a:rPr lang="es-AR" b="0" i="1" smtClean="0">
                          <a:latin typeface="Cambria Math" panose="02040503050406030204" pitchFamily="18" charset="0"/>
                          <a:ea typeface="Cambria Math" panose="02040503050406030204" pitchFamily="18" charset="0"/>
                        </a:rPr>
                        <m:t>2.8211×</m:t>
                      </m:r>
                      <m:sSup>
                        <m:sSupPr>
                          <m:ctrlPr>
                            <a:rPr lang="es-AR" b="0" i="1" smtClean="0">
                              <a:latin typeface="Cambria Math" panose="02040503050406030204" pitchFamily="18" charset="0"/>
                              <a:ea typeface="Cambria Math" panose="02040503050406030204" pitchFamily="18" charset="0"/>
                            </a:rPr>
                          </m:ctrlPr>
                        </m:sSupPr>
                        <m:e>
                          <m:r>
                            <a:rPr lang="es-AR" b="0" i="1" smtClean="0">
                              <a:latin typeface="Cambria Math" panose="02040503050406030204" pitchFamily="18" charset="0"/>
                              <a:ea typeface="Cambria Math" panose="02040503050406030204" pitchFamily="18" charset="0"/>
                            </a:rPr>
                            <m:t>10</m:t>
                          </m:r>
                        </m:e>
                        <m:sup>
                          <m:r>
                            <a:rPr lang="es-AR" b="0" i="1" smtClean="0">
                              <a:latin typeface="Cambria Math" panose="02040503050406030204" pitchFamily="18" charset="0"/>
                              <a:ea typeface="Cambria Math" panose="02040503050406030204" pitchFamily="18" charset="0"/>
                            </a:rPr>
                            <m:t>12</m:t>
                          </m:r>
                        </m:sup>
                      </m:sSup>
                    </m:oMath>
                  </m:oMathPara>
                </a14:m>
                <a:endParaRPr lang="en-US" dirty="0"/>
              </a:p>
            </p:txBody>
          </p:sp>
        </mc:Choice>
        <mc:Fallback xmlns="">
          <p:sp>
            <p:nvSpPr>
              <p:cNvPr id="2" name="TextBox 1">
                <a:extLst>
                  <a:ext uri="{FF2B5EF4-FFF2-40B4-BE49-F238E27FC236}">
                    <a16:creationId xmlns:a16="http://schemas.microsoft.com/office/drawing/2014/main" id="{4F3AB73E-DD88-42BA-BF63-8F8CF55269BE}"/>
                  </a:ext>
                </a:extLst>
              </p:cNvPr>
              <p:cNvSpPr txBox="1">
                <a:spLocks noRot="1" noChangeAspect="1" noMove="1" noResize="1" noEditPoints="1" noAdjustHandles="1" noChangeArrowheads="1" noChangeShapeType="1" noTextEdit="1"/>
              </p:cNvSpPr>
              <p:nvPr/>
            </p:nvSpPr>
            <p:spPr>
              <a:xfrm>
                <a:off x="2653825" y="3733781"/>
                <a:ext cx="4674549" cy="369332"/>
              </a:xfrm>
              <a:prstGeom prst="rect">
                <a:avLst/>
              </a:prstGeom>
              <a:blipFill>
                <a:blip r:embed="rId2"/>
                <a:stretch>
                  <a:fillRect b="-819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A1B9D176-EAE2-4193-9302-4D98588C3FD0}"/>
                  </a:ext>
                </a:extLst>
              </p:cNvPr>
              <p:cNvSpPr txBox="1"/>
              <p:nvPr/>
            </p:nvSpPr>
            <p:spPr>
              <a:xfrm>
                <a:off x="1724018" y="4929568"/>
                <a:ext cx="653416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AR" b="0" i="0" smtClean="0">
                          <a:latin typeface="Cambria Math" panose="02040503050406030204" pitchFamily="18" charset="0"/>
                        </a:rPr>
                        <m:t>26</m:t>
                      </m:r>
                      <m:r>
                        <a:rPr lang="es-AR" b="0" i="1" smtClean="0">
                          <a:latin typeface="Cambria Math" panose="02040503050406030204" pitchFamily="18" charset="0"/>
                          <a:ea typeface="Cambria Math" panose="02040503050406030204" pitchFamily="18" charset="0"/>
                        </a:rPr>
                        <m:t>∙</m:t>
                      </m:r>
                      <m:sSup>
                        <m:sSupPr>
                          <m:ctrlPr>
                            <a:rPr lang="en-US" i="1" smtClean="0">
                              <a:latin typeface="Cambria Math" panose="02040503050406030204" pitchFamily="18" charset="0"/>
                            </a:rPr>
                          </m:ctrlPr>
                        </m:sSupPr>
                        <m:e>
                          <m:d>
                            <m:dPr>
                              <m:ctrlPr>
                                <a:rPr lang="en-US" i="1" smtClean="0">
                                  <a:latin typeface="Cambria Math" panose="02040503050406030204" pitchFamily="18" charset="0"/>
                                </a:rPr>
                              </m:ctrlPr>
                            </m:dPr>
                            <m:e>
                              <m:r>
                                <a:rPr lang="es-AR" b="0" i="1" smtClean="0">
                                  <a:latin typeface="Cambria Math" panose="02040503050406030204" pitchFamily="18" charset="0"/>
                                </a:rPr>
                                <m:t>26+10</m:t>
                              </m:r>
                            </m:e>
                          </m:d>
                        </m:e>
                        <m:sup>
                          <m:r>
                            <a:rPr lang="es-AR" b="0" i="1" smtClean="0">
                              <a:latin typeface="Cambria Math" panose="02040503050406030204" pitchFamily="18" charset="0"/>
                            </a:rPr>
                            <m:t>6</m:t>
                          </m:r>
                        </m:sup>
                      </m:sSup>
                      <m:r>
                        <a:rPr lang="en-US" i="1" smtClean="0">
                          <a:latin typeface="Cambria Math" panose="02040503050406030204" pitchFamily="18" charset="0"/>
                          <a:ea typeface="Cambria Math" panose="02040503050406030204" pitchFamily="18" charset="0"/>
                        </a:rPr>
                        <m:t>∙</m:t>
                      </m:r>
                      <m:r>
                        <a:rPr lang="es-AR" b="0" i="1" smtClean="0">
                          <a:latin typeface="Cambria Math" panose="02040503050406030204" pitchFamily="18" charset="0"/>
                          <a:ea typeface="Cambria Math" panose="02040503050406030204" pitchFamily="18" charset="0"/>
                        </a:rPr>
                        <m:t>10</m:t>
                      </m:r>
                      <m:r>
                        <a:rPr lang="es-AR" b="0" i="1" smtClean="0">
                          <a:latin typeface="Cambria Math" panose="02040503050406030204" pitchFamily="18" charset="0"/>
                        </a:rPr>
                        <m:t>=</m:t>
                      </m:r>
                      <m:sSup>
                        <m:sSupPr>
                          <m:ctrlPr>
                            <a:rPr lang="en-US" i="1">
                              <a:latin typeface="Cambria Math" panose="02040503050406030204" pitchFamily="18" charset="0"/>
                            </a:rPr>
                          </m:ctrlPr>
                        </m:sSupPr>
                        <m:e>
                          <m:r>
                            <a:rPr lang="es-AR" b="0" i="1" smtClean="0">
                              <a:latin typeface="Cambria Math" panose="02040503050406030204" pitchFamily="18" charset="0"/>
                            </a:rPr>
                            <m:t>260</m:t>
                          </m:r>
                          <m:r>
                            <a:rPr lang="es-AR" b="0" i="1" smtClean="0">
                              <a:latin typeface="Cambria Math" panose="02040503050406030204" pitchFamily="18" charset="0"/>
                              <a:ea typeface="Cambria Math" panose="02040503050406030204" pitchFamily="18" charset="0"/>
                            </a:rPr>
                            <m:t>∙</m:t>
                          </m:r>
                          <m:r>
                            <a:rPr lang="es-AR" i="1">
                              <a:latin typeface="Cambria Math" panose="02040503050406030204" pitchFamily="18" charset="0"/>
                            </a:rPr>
                            <m:t>36</m:t>
                          </m:r>
                        </m:e>
                        <m:sup>
                          <m:r>
                            <a:rPr lang="es-AR" b="0" i="1" smtClean="0">
                              <a:latin typeface="Cambria Math" panose="02040503050406030204" pitchFamily="18" charset="0"/>
                            </a:rPr>
                            <m:t>6</m:t>
                          </m:r>
                        </m:sup>
                      </m:sSup>
                      <m:r>
                        <a:rPr lang="es-AR" i="1" smtClean="0">
                          <a:latin typeface="Cambria Math" panose="02040503050406030204" pitchFamily="18" charset="0"/>
                          <a:ea typeface="Cambria Math" panose="02040503050406030204" pitchFamily="18" charset="0"/>
                        </a:rPr>
                        <m:t>≈</m:t>
                      </m:r>
                      <m:r>
                        <a:rPr lang="es-AR" b="0" i="1" smtClean="0">
                          <a:latin typeface="Cambria Math" panose="02040503050406030204" pitchFamily="18" charset="0"/>
                          <a:ea typeface="Cambria Math" panose="02040503050406030204" pitchFamily="18" charset="0"/>
                        </a:rPr>
                        <m:t>5.6596×</m:t>
                      </m:r>
                      <m:sSup>
                        <m:sSupPr>
                          <m:ctrlPr>
                            <a:rPr lang="es-AR" b="0" i="1" smtClean="0">
                              <a:latin typeface="Cambria Math" panose="02040503050406030204" pitchFamily="18" charset="0"/>
                              <a:ea typeface="Cambria Math" panose="02040503050406030204" pitchFamily="18" charset="0"/>
                            </a:rPr>
                          </m:ctrlPr>
                        </m:sSupPr>
                        <m:e>
                          <m:r>
                            <a:rPr lang="es-AR" b="0" i="1" smtClean="0">
                              <a:latin typeface="Cambria Math" panose="02040503050406030204" pitchFamily="18" charset="0"/>
                              <a:ea typeface="Cambria Math" panose="02040503050406030204" pitchFamily="18" charset="0"/>
                            </a:rPr>
                            <m:t>10</m:t>
                          </m:r>
                        </m:e>
                        <m:sup>
                          <m:r>
                            <a:rPr lang="es-AR" b="0" i="1" smtClean="0">
                              <a:latin typeface="Cambria Math" panose="02040503050406030204" pitchFamily="18" charset="0"/>
                              <a:ea typeface="Cambria Math" panose="02040503050406030204" pitchFamily="18" charset="0"/>
                            </a:rPr>
                            <m:t>11</m:t>
                          </m:r>
                        </m:sup>
                      </m:sSup>
                    </m:oMath>
                  </m:oMathPara>
                </a14:m>
                <a:endParaRPr lang="en-US" dirty="0"/>
              </a:p>
            </p:txBody>
          </p:sp>
        </mc:Choice>
        <mc:Fallback xmlns="">
          <p:sp>
            <p:nvSpPr>
              <p:cNvPr id="13" name="TextBox 12">
                <a:extLst>
                  <a:ext uri="{FF2B5EF4-FFF2-40B4-BE49-F238E27FC236}">
                    <a16:creationId xmlns:a16="http://schemas.microsoft.com/office/drawing/2014/main" id="{A1B9D176-EAE2-4193-9302-4D98588C3FD0}"/>
                  </a:ext>
                </a:extLst>
              </p:cNvPr>
              <p:cNvSpPr txBox="1">
                <a:spLocks noRot="1" noChangeAspect="1" noMove="1" noResize="1" noEditPoints="1" noAdjustHandles="1" noChangeArrowheads="1" noChangeShapeType="1" noTextEdit="1"/>
              </p:cNvSpPr>
              <p:nvPr/>
            </p:nvSpPr>
            <p:spPr>
              <a:xfrm>
                <a:off x="1724018" y="4929568"/>
                <a:ext cx="6534161" cy="369332"/>
              </a:xfrm>
              <a:prstGeom prst="rect">
                <a:avLst/>
              </a:prstGeom>
              <a:blipFill>
                <a:blip r:embed="rId3"/>
                <a:stretch>
                  <a:fillRect l="-653" b="-1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988BFD94-ABAB-47BE-A3FA-A2C9045A507B}"/>
                  </a:ext>
                </a:extLst>
              </p:cNvPr>
              <p:cNvSpPr txBox="1"/>
              <p:nvPr/>
            </p:nvSpPr>
            <p:spPr>
              <a:xfrm>
                <a:off x="3254881" y="5716022"/>
                <a:ext cx="3243837" cy="74110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nor/>
                        </m:rPr>
                        <a:rPr lang="es-AR" b="0" i="0" smtClean="0">
                          <a:latin typeface="Cambria Math" panose="02040503050406030204" pitchFamily="18" charset="0"/>
                        </a:rPr>
                        <m:t>P</m:t>
                      </m:r>
                      <m:r>
                        <a:rPr lang="es-AR" b="0" i="1" smtClean="0">
                          <a:latin typeface="Cambria Math" panose="02040503050406030204" pitchFamily="18" charset="0"/>
                        </a:rPr>
                        <m:t>= </m:t>
                      </m:r>
                      <m:f>
                        <m:fPr>
                          <m:ctrlPr>
                            <a:rPr lang="es-AR" b="0" i="1" smtClean="0">
                              <a:latin typeface="Cambria Math" panose="02040503050406030204" pitchFamily="18" charset="0"/>
                            </a:rPr>
                          </m:ctrlPr>
                        </m:fPr>
                        <m:num>
                          <m:sSup>
                            <m:sSupPr>
                              <m:ctrlPr>
                                <a:rPr lang="en-US" i="1">
                                  <a:latin typeface="Cambria Math" panose="02040503050406030204" pitchFamily="18" charset="0"/>
                                </a:rPr>
                              </m:ctrlPr>
                            </m:sSupPr>
                            <m:e>
                              <m:r>
                                <a:rPr lang="es-AR" i="1">
                                  <a:latin typeface="Cambria Math" panose="02040503050406030204" pitchFamily="18" charset="0"/>
                                </a:rPr>
                                <m:t>260</m:t>
                              </m:r>
                              <m:r>
                                <a:rPr lang="es-AR" i="1">
                                  <a:latin typeface="Cambria Math" panose="02040503050406030204" pitchFamily="18" charset="0"/>
                                  <a:ea typeface="Cambria Math" panose="02040503050406030204" pitchFamily="18" charset="0"/>
                                </a:rPr>
                                <m:t>∙</m:t>
                              </m:r>
                              <m:r>
                                <a:rPr lang="es-AR" i="1">
                                  <a:latin typeface="Cambria Math" panose="02040503050406030204" pitchFamily="18" charset="0"/>
                                </a:rPr>
                                <m:t>36</m:t>
                              </m:r>
                            </m:e>
                            <m:sup>
                              <m:r>
                                <a:rPr lang="es-AR" i="1">
                                  <a:latin typeface="Cambria Math" panose="02040503050406030204" pitchFamily="18" charset="0"/>
                                </a:rPr>
                                <m:t>6</m:t>
                              </m:r>
                            </m:sup>
                          </m:sSup>
                        </m:num>
                        <m:den>
                          <m:sSup>
                            <m:sSupPr>
                              <m:ctrlPr>
                                <a:rPr lang="en-US" i="1">
                                  <a:latin typeface="Cambria Math" panose="02040503050406030204" pitchFamily="18" charset="0"/>
                                </a:rPr>
                              </m:ctrlPr>
                            </m:sSupPr>
                            <m:e>
                              <m:r>
                                <a:rPr lang="es-AR" i="1">
                                  <a:latin typeface="Cambria Math" panose="02040503050406030204" pitchFamily="18" charset="0"/>
                                </a:rPr>
                                <m:t>36</m:t>
                              </m:r>
                            </m:e>
                            <m:sup>
                              <m:r>
                                <a:rPr lang="es-AR" b="0" i="1" smtClean="0">
                                  <a:latin typeface="Cambria Math" panose="02040503050406030204" pitchFamily="18" charset="0"/>
                                </a:rPr>
                                <m:t>8</m:t>
                              </m:r>
                            </m:sup>
                          </m:sSup>
                        </m:den>
                      </m:f>
                      <m:r>
                        <a:rPr lang="es-AR" b="0" i="1" smtClean="0">
                          <a:latin typeface="Cambria Math" panose="02040503050406030204" pitchFamily="18" charset="0"/>
                          <a:ea typeface="Cambria Math" panose="02040503050406030204" pitchFamily="18" charset="0"/>
                        </a:rPr>
                        <m:t>≈0.2006</m:t>
                      </m:r>
                    </m:oMath>
                  </m:oMathPara>
                </a14:m>
                <a:endParaRPr lang="en-US" dirty="0"/>
              </a:p>
            </p:txBody>
          </p:sp>
        </mc:Choice>
        <mc:Fallback xmlns="">
          <p:sp>
            <p:nvSpPr>
              <p:cNvPr id="14" name="TextBox 13">
                <a:extLst>
                  <a:ext uri="{FF2B5EF4-FFF2-40B4-BE49-F238E27FC236}">
                    <a16:creationId xmlns:a16="http://schemas.microsoft.com/office/drawing/2014/main" id="{988BFD94-ABAB-47BE-A3FA-A2C9045A507B}"/>
                  </a:ext>
                </a:extLst>
              </p:cNvPr>
              <p:cNvSpPr txBox="1">
                <a:spLocks noRot="1" noChangeAspect="1" noMove="1" noResize="1" noEditPoints="1" noAdjustHandles="1" noChangeArrowheads="1" noChangeShapeType="1" noTextEdit="1"/>
              </p:cNvSpPr>
              <p:nvPr/>
            </p:nvSpPr>
            <p:spPr>
              <a:xfrm>
                <a:off x="3254881" y="5716022"/>
                <a:ext cx="3243837" cy="741100"/>
              </a:xfrm>
              <a:prstGeom prst="rect">
                <a:avLst/>
              </a:prstGeom>
              <a:blipFill>
                <a:blip r:embed="rId4"/>
                <a:stretch>
                  <a:fillRect/>
                </a:stretch>
              </a:blipFill>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nodePh="1">
                                  <p:stCondLst>
                                    <p:cond delay="0"/>
                                  </p:stCondLst>
                                  <p:endCondLst>
                                    <p:cond evt="begin" delay="0">
                                      <p:tn val="5"/>
                                    </p:cond>
                                  </p:endCondLst>
                                  <p:childTnLst>
                                    <p:set>
                                      <p:cBhvr>
                                        <p:cTn id="6" dur="1" fill="hold">
                                          <p:stCondLst>
                                            <p:cond delay="0"/>
                                          </p:stCondLst>
                                        </p:cTn>
                                        <p:tgtEl>
                                          <p:spTgt spid="7173"/>
                                        </p:tgtEl>
                                        <p:attrNameLst>
                                          <p:attrName>style.visibility</p:attrName>
                                        </p:attrNameLst>
                                      </p:cBhvr>
                                      <p:to>
                                        <p:strVal val="visible"/>
                                      </p:to>
                                    </p:set>
                                    <p:animEffect transition="in" filter="blinds(horizontal)">
                                      <p:cBhvr>
                                        <p:cTn id="7" dur="500"/>
                                        <p:tgtEl>
                                          <p:spTgt spid="717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7172"/>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fade">
                                      <p:cBhvr>
                                        <p:cTn id="16" dur="5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717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50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 calcmode="lin" valueType="num">
                                      <p:cBhvr additive="base">
                                        <p:cTn id="30" dur="500" fill="hold"/>
                                        <p:tgtEl>
                                          <p:spTgt spid="14"/>
                                        </p:tgtEl>
                                        <p:attrNameLst>
                                          <p:attrName>ppt_x</p:attrName>
                                        </p:attrNameLst>
                                      </p:cBhvr>
                                      <p:tavLst>
                                        <p:tav tm="0">
                                          <p:val>
                                            <p:strVal val="#ppt_x"/>
                                          </p:val>
                                        </p:tav>
                                        <p:tav tm="100000">
                                          <p:val>
                                            <p:strVal val="#ppt_x"/>
                                          </p:val>
                                        </p:tav>
                                      </p:tavLst>
                                    </p:anim>
                                    <p:anim calcmode="lin" valueType="num">
                                      <p:cBhvr additive="base">
                                        <p:cTn id="31"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2" grpId="0" autoUpdateAnimBg="0"/>
      <p:bldP spid="7173" grpId="0" autoUpdateAnimBg="0"/>
      <p:bldP spid="7174" grpId="0" autoUpdateAnimBg="0"/>
      <p:bldP spid="2" grpId="0"/>
      <p:bldP spid="13" grpId="0"/>
      <p:bldP spid="1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1066800" y="384048"/>
            <a:ext cx="7620000" cy="1166942"/>
          </a:xfrm>
        </p:spPr>
        <p:txBody>
          <a:bodyPr/>
          <a:lstStyle/>
          <a:p>
            <a:pPr eaLnBrk="1" hangingPunct="1"/>
            <a:r>
              <a:rPr lang="es-MX" altLang="en-US" sz="3200" b="1" dirty="0">
                <a:solidFill>
                  <a:srgbClr val="000000"/>
                </a:solidFill>
                <a:latin typeface="Broadway" panose="04040905080B02020502" pitchFamily="82" charset="0"/>
              </a:rPr>
              <a:t>Regla de Laplace</a:t>
            </a:r>
            <a:br>
              <a:rPr lang="es-MX" altLang="en-US" sz="3200" b="1" dirty="0">
                <a:solidFill>
                  <a:srgbClr val="221304"/>
                </a:solidFill>
                <a:latin typeface="Copperplate Gothic Bold" panose="020E0705020206020404" pitchFamily="34" charset="0"/>
              </a:rPr>
            </a:br>
            <a:r>
              <a:rPr lang="es-MX" altLang="en-US" sz="3200" b="1" dirty="0">
                <a:solidFill>
                  <a:srgbClr val="221304"/>
                </a:solidFill>
                <a:latin typeface="Broadway" panose="04040905080B02020502" pitchFamily="82" charset="0"/>
              </a:rPr>
              <a:t>¿Qué conviene hacer?</a:t>
            </a:r>
            <a:endParaRPr lang="en-US" altLang="en-US" sz="1800" b="1" dirty="0">
              <a:latin typeface="Copperplate Gothic Bold" panose="020E0705020206020404" pitchFamily="34" charset="0"/>
            </a:endParaRPr>
          </a:p>
        </p:txBody>
      </p:sp>
      <mc:AlternateContent xmlns:mc="http://schemas.openxmlformats.org/markup-compatibility/2006" xmlns:a14="http://schemas.microsoft.com/office/drawing/2010/main">
        <mc:Choice Requires="a14">
          <p:sp>
            <p:nvSpPr>
              <p:cNvPr id="9219" name="Text Box 3"/>
              <p:cNvSpPr txBox="1">
                <a:spLocks noChangeArrowheads="1"/>
              </p:cNvSpPr>
              <p:nvPr/>
            </p:nvSpPr>
            <p:spPr bwMode="auto">
              <a:xfrm>
                <a:off x="1295400" y="1676400"/>
                <a:ext cx="7391400" cy="2053767"/>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a:spAutoFit/>
              </a:bodyPr>
              <a:lstStyle>
                <a:lvl1pPr marL="457200" indent="-457200">
                  <a:defRPr sz="2400">
                    <a:solidFill>
                      <a:schemeClr val="tx1"/>
                    </a:solidFill>
                    <a:latin typeface="Times New Roman" panose="02020603050405020304" pitchFamily="18" charset="0"/>
                  </a:defRPr>
                </a:lvl1pPr>
                <a:lvl2pPr marL="914400" indent="-457200">
                  <a:defRPr sz="2400">
                    <a:solidFill>
                      <a:schemeClr val="tx1"/>
                    </a:solidFill>
                    <a:latin typeface="Times New Roman" panose="02020603050405020304" pitchFamily="18" charset="0"/>
                  </a:defRPr>
                </a:lvl2pPr>
                <a:lvl3pPr marL="1371600" indent="-457200">
                  <a:defRPr sz="2400">
                    <a:solidFill>
                      <a:schemeClr val="tx1"/>
                    </a:solidFill>
                    <a:latin typeface="Times New Roman" panose="02020603050405020304" pitchFamily="18" charset="0"/>
                  </a:defRPr>
                </a:lvl3pPr>
                <a:lvl4pPr marL="1828800" indent="-457200">
                  <a:defRPr sz="2400">
                    <a:solidFill>
                      <a:schemeClr val="tx1"/>
                    </a:solidFill>
                    <a:latin typeface="Times New Roman" panose="02020603050405020304" pitchFamily="18" charset="0"/>
                  </a:defRPr>
                </a:lvl4pPr>
                <a:lvl5pPr marL="2286000" indent="-457200">
                  <a:defRPr sz="2400">
                    <a:solidFill>
                      <a:schemeClr val="tx1"/>
                    </a:solidFill>
                    <a:latin typeface="Times New Roman" panose="02020603050405020304" pitchFamily="18" charset="0"/>
                  </a:defRPr>
                </a:lvl5pPr>
                <a:lvl6pPr marL="2743200" indent="-457200" eaLnBrk="0" fontAlgn="base" hangingPunct="0">
                  <a:spcBef>
                    <a:spcPct val="0"/>
                  </a:spcBef>
                  <a:spcAft>
                    <a:spcPct val="0"/>
                  </a:spcAft>
                  <a:defRPr sz="2400">
                    <a:solidFill>
                      <a:schemeClr val="tx1"/>
                    </a:solidFill>
                    <a:latin typeface="Times New Roman" panose="02020603050405020304" pitchFamily="18" charset="0"/>
                  </a:defRPr>
                </a:lvl6pPr>
                <a:lvl7pPr marL="3200400" indent="-457200" eaLnBrk="0" fontAlgn="base" hangingPunct="0">
                  <a:spcBef>
                    <a:spcPct val="0"/>
                  </a:spcBef>
                  <a:spcAft>
                    <a:spcPct val="0"/>
                  </a:spcAft>
                  <a:defRPr sz="2400">
                    <a:solidFill>
                      <a:schemeClr val="tx1"/>
                    </a:solidFill>
                    <a:latin typeface="Times New Roman" panose="02020603050405020304" pitchFamily="18" charset="0"/>
                  </a:defRPr>
                </a:lvl7pPr>
                <a:lvl8pPr marL="3657600" indent="-457200" eaLnBrk="0" fontAlgn="base" hangingPunct="0">
                  <a:spcBef>
                    <a:spcPct val="0"/>
                  </a:spcBef>
                  <a:spcAft>
                    <a:spcPct val="0"/>
                  </a:spcAft>
                  <a:defRPr sz="2400">
                    <a:solidFill>
                      <a:schemeClr val="tx1"/>
                    </a:solidFill>
                    <a:latin typeface="Times New Roman" panose="02020603050405020304" pitchFamily="18" charset="0"/>
                  </a:defRPr>
                </a:lvl8pPr>
                <a:lvl9pPr marL="4114800" indent="-457200" eaLnBrk="0" fontAlgn="base" hangingPunct="0">
                  <a:spcBef>
                    <a:spcPct val="0"/>
                  </a:spcBef>
                  <a:spcAft>
                    <a:spcPct val="0"/>
                  </a:spcAft>
                  <a:defRPr sz="2400">
                    <a:solidFill>
                      <a:schemeClr val="tx1"/>
                    </a:solidFill>
                    <a:latin typeface="Times New Roman" panose="02020603050405020304" pitchFamily="18" charset="0"/>
                  </a:defRPr>
                </a:lvl9pPr>
              </a:lstStyle>
              <a:p>
                <a:pPr marL="0" indent="0" algn="just" eaLnBrk="1" hangingPunct="1">
                  <a:spcBef>
                    <a:spcPct val="50000"/>
                  </a:spcBef>
                </a:pPr>
                <a:r>
                  <a:rPr lang="es-MX" altLang="en-US" sz="2000" dirty="0">
                    <a:latin typeface="Arial" panose="020B0604020202020204" pitchFamily="34" charset="0"/>
                  </a:rPr>
                  <a:t>Una lotería tiene </a:t>
                </a:r>
                <a:r>
                  <a:rPr lang="es-MX" altLang="en-US" sz="1800" dirty="0">
                    <a:solidFill>
                      <a:srgbClr val="000000"/>
                    </a:solidFill>
                    <a:latin typeface="Arial" panose="020B0604020202020204" pitchFamily="34" charset="0"/>
                  </a:rPr>
                  <a:t> </a:t>
                </a:r>
                <a14:m>
                  <m:oMath xmlns:m="http://schemas.openxmlformats.org/officeDocument/2006/math">
                    <m:r>
                      <a:rPr lang="es-AR" altLang="en-US" sz="2200" i="1">
                        <a:solidFill>
                          <a:srgbClr val="000000"/>
                        </a:solidFill>
                        <a:latin typeface="Cambria Math" panose="02040503050406030204" pitchFamily="18" charset="0"/>
                      </a:rPr>
                      <m:t>𝑁</m:t>
                    </m:r>
                  </m:oMath>
                </a14:m>
                <a:r>
                  <a:rPr lang="es-MX" altLang="en-US" sz="2000" dirty="0">
                    <a:latin typeface="Arial" panose="020B0604020202020204" pitchFamily="34" charset="0"/>
                  </a:rPr>
                  <a:t> números y sólo un premio. Ud. tiene dinero para comprar</a:t>
                </a:r>
                <a:r>
                  <a:rPr lang="es-MX" altLang="en-US" sz="1800" dirty="0">
                    <a:solidFill>
                      <a:srgbClr val="000000"/>
                    </a:solidFill>
                    <a:latin typeface="Arial" panose="020B0604020202020204" pitchFamily="34" charset="0"/>
                  </a:rPr>
                  <a:t> </a:t>
                </a:r>
                <a14:m>
                  <m:oMath xmlns:m="http://schemas.openxmlformats.org/officeDocument/2006/math">
                    <m:r>
                      <a:rPr lang="es-AR" altLang="en-US" sz="2200" i="1">
                        <a:solidFill>
                          <a:srgbClr val="000000"/>
                        </a:solidFill>
                        <a:latin typeface="Cambria Math" panose="02040503050406030204" pitchFamily="18" charset="0"/>
                      </a:rPr>
                      <m:t>𝑛</m:t>
                    </m:r>
                    <m:r>
                      <a:rPr lang="es-AR" altLang="en-US" sz="2200" i="1">
                        <a:solidFill>
                          <a:srgbClr val="000000"/>
                        </a:solidFill>
                        <a:latin typeface="Cambria Math" panose="02040503050406030204" pitchFamily="18" charset="0"/>
                      </a:rPr>
                      <m:t> </m:t>
                    </m:r>
                  </m:oMath>
                </a14:m>
                <a:r>
                  <a:rPr lang="es-MX" altLang="en-US" sz="2000" dirty="0">
                    <a:latin typeface="Arial" panose="020B0604020202020204" pitchFamily="34" charset="0"/>
                  </a:rPr>
                  <a:t>números. ¿Cómo le conviene comprar esos números? </a:t>
                </a:r>
              </a:p>
              <a:p>
                <a:pPr algn="just" eaLnBrk="1" hangingPunct="1">
                  <a:spcBef>
                    <a:spcPct val="50000"/>
                  </a:spcBef>
                  <a:buFontTx/>
                  <a:buAutoNum type="alphaLcParenR"/>
                </a:pPr>
                <a:r>
                  <a:rPr lang="es-MX" altLang="en-US" sz="2000" dirty="0">
                    <a:latin typeface="Arial" panose="020B0604020202020204" pitchFamily="34" charset="0"/>
                  </a:rPr>
                  <a:t>Comprar los </a:t>
                </a:r>
                <a:r>
                  <a:rPr lang="es-MX" altLang="en-US" sz="1800" dirty="0">
                    <a:solidFill>
                      <a:srgbClr val="000000"/>
                    </a:solidFill>
                    <a:latin typeface="Arial" panose="020B0604020202020204" pitchFamily="34" charset="0"/>
                  </a:rPr>
                  <a:t> </a:t>
                </a:r>
                <a14:m>
                  <m:oMath xmlns:m="http://schemas.openxmlformats.org/officeDocument/2006/math">
                    <m:r>
                      <a:rPr lang="es-AR" altLang="en-US" sz="2200" i="1">
                        <a:solidFill>
                          <a:srgbClr val="000000"/>
                        </a:solidFill>
                        <a:latin typeface="Cambria Math" panose="02040503050406030204" pitchFamily="18" charset="0"/>
                      </a:rPr>
                      <m:t>𝑛</m:t>
                    </m:r>
                    <m:r>
                      <a:rPr lang="es-AR" altLang="en-US" sz="2200" i="1">
                        <a:solidFill>
                          <a:srgbClr val="000000"/>
                        </a:solidFill>
                        <a:latin typeface="Cambria Math" panose="02040503050406030204" pitchFamily="18" charset="0"/>
                      </a:rPr>
                      <m:t> </m:t>
                    </m:r>
                  </m:oMath>
                </a14:m>
                <a:r>
                  <a:rPr lang="es-MX" altLang="en-US" sz="2000" dirty="0">
                    <a:latin typeface="Arial" panose="020B0604020202020204" pitchFamily="34" charset="0"/>
                  </a:rPr>
                  <a:t> números en un solo sorteo.</a:t>
                </a:r>
              </a:p>
              <a:p>
                <a:pPr algn="just" eaLnBrk="1" hangingPunct="1">
                  <a:spcBef>
                    <a:spcPct val="50000"/>
                  </a:spcBef>
                  <a:buFontTx/>
                  <a:buAutoNum type="alphaLcParenR"/>
                </a:pPr>
                <a:r>
                  <a:rPr lang="es-MX" altLang="en-US" sz="2000" dirty="0">
                    <a:latin typeface="Arial" panose="020B0604020202020204" pitchFamily="34" charset="0"/>
                  </a:rPr>
                  <a:t>Comprar un número a lo largo de</a:t>
                </a:r>
                <a:r>
                  <a:rPr lang="es-MX" altLang="en-US" sz="2000" i="1" dirty="0">
                    <a:latin typeface="Arial" panose="020B0604020202020204" pitchFamily="34" charset="0"/>
                  </a:rPr>
                  <a:t> </a:t>
                </a:r>
                <a:r>
                  <a:rPr lang="es-MX" altLang="en-US" sz="1800" dirty="0">
                    <a:solidFill>
                      <a:srgbClr val="000000"/>
                    </a:solidFill>
                    <a:latin typeface="Arial" panose="020B0604020202020204" pitchFamily="34" charset="0"/>
                  </a:rPr>
                  <a:t> </a:t>
                </a:r>
                <a14:m>
                  <m:oMath xmlns:m="http://schemas.openxmlformats.org/officeDocument/2006/math">
                    <m:r>
                      <a:rPr lang="es-AR" altLang="en-US" sz="2200" i="1">
                        <a:solidFill>
                          <a:srgbClr val="000000"/>
                        </a:solidFill>
                        <a:latin typeface="Cambria Math" panose="02040503050406030204" pitchFamily="18" charset="0"/>
                      </a:rPr>
                      <m:t>𝑛</m:t>
                    </m:r>
                    <m:r>
                      <a:rPr lang="es-AR" altLang="en-US" sz="2200" i="1">
                        <a:solidFill>
                          <a:srgbClr val="000000"/>
                        </a:solidFill>
                        <a:latin typeface="Cambria Math" panose="02040503050406030204" pitchFamily="18" charset="0"/>
                      </a:rPr>
                      <m:t> </m:t>
                    </m:r>
                  </m:oMath>
                </a14:m>
                <a:r>
                  <a:rPr lang="es-MX" altLang="en-US" sz="2000" dirty="0">
                    <a:latin typeface="Arial" panose="020B0604020202020204" pitchFamily="34" charset="0"/>
                  </a:rPr>
                  <a:t> sorteos.</a:t>
                </a:r>
                <a:endParaRPr lang="en-US" altLang="en-US" sz="2000" dirty="0">
                  <a:latin typeface="Arial" panose="020B0604020202020204" pitchFamily="34" charset="0"/>
                </a:endParaRPr>
              </a:p>
            </p:txBody>
          </p:sp>
        </mc:Choice>
        <mc:Fallback xmlns="">
          <p:sp>
            <p:nvSpPr>
              <p:cNvPr id="9219" name="Text Box 3"/>
              <p:cNvSpPr txBox="1">
                <a:spLocks noRot="1" noChangeAspect="1" noMove="1" noResize="1" noEditPoints="1" noAdjustHandles="1" noChangeArrowheads="1" noChangeShapeType="1" noTextEdit="1"/>
              </p:cNvSpPr>
              <p:nvPr/>
            </p:nvSpPr>
            <p:spPr bwMode="auto">
              <a:xfrm>
                <a:off x="1295400" y="1676400"/>
                <a:ext cx="7391400" cy="2053767"/>
              </a:xfrm>
              <a:prstGeom prst="rect">
                <a:avLst/>
              </a:prstGeom>
              <a:blipFill>
                <a:blip r:embed="rId2"/>
                <a:stretch>
                  <a:fillRect l="-908" t="-297" r="-825" b="-4154"/>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3" name="TextBox 2"/>
              <p:cNvSpPr txBox="1"/>
              <p:nvPr/>
            </p:nvSpPr>
            <p:spPr>
              <a:xfrm>
                <a:off x="3779912" y="4293096"/>
                <a:ext cx="2081154" cy="73513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800" i="1" smtClean="0">
                              <a:latin typeface="Cambria Math" panose="02040503050406030204" pitchFamily="18" charset="0"/>
                            </a:rPr>
                          </m:ctrlPr>
                        </m:sSubPr>
                        <m:e>
                          <m:r>
                            <m:rPr>
                              <m:nor/>
                            </m:rPr>
                            <a:rPr lang="es-AR" sz="2800" b="0" i="0" smtClean="0">
                              <a:latin typeface="Cambria Math" panose="02040503050406030204" pitchFamily="18" charset="0"/>
                            </a:rPr>
                            <m:t>P</m:t>
                          </m:r>
                        </m:e>
                        <m:sub>
                          <m:r>
                            <a:rPr lang="es-AR" sz="2800" b="0" i="1" smtClean="0">
                              <a:latin typeface="Cambria Math" panose="02040503050406030204" pitchFamily="18" charset="0"/>
                            </a:rPr>
                            <m:t>𝑎</m:t>
                          </m:r>
                        </m:sub>
                      </m:sSub>
                      <m:r>
                        <a:rPr lang="es-AR" sz="2800" b="0" i="1" smtClean="0">
                          <a:latin typeface="Cambria Math" panose="02040503050406030204" pitchFamily="18" charset="0"/>
                        </a:rPr>
                        <m:t>= </m:t>
                      </m:r>
                      <m:f>
                        <m:fPr>
                          <m:ctrlPr>
                            <a:rPr lang="es-AR" sz="2800" b="0" i="1" smtClean="0">
                              <a:latin typeface="Cambria Math" panose="02040503050406030204" pitchFamily="18" charset="0"/>
                            </a:rPr>
                          </m:ctrlPr>
                        </m:fPr>
                        <m:num>
                          <m:r>
                            <a:rPr lang="es-AR" sz="2800" b="0" i="1" smtClean="0">
                              <a:latin typeface="Cambria Math" panose="02040503050406030204" pitchFamily="18" charset="0"/>
                            </a:rPr>
                            <m:t>𝑛</m:t>
                          </m:r>
                        </m:num>
                        <m:den>
                          <m:r>
                            <a:rPr lang="es-AR" sz="2800" b="0" i="1" smtClean="0">
                              <a:latin typeface="Cambria Math" panose="02040503050406030204" pitchFamily="18" charset="0"/>
                            </a:rPr>
                            <m:t>𝑁</m:t>
                          </m:r>
                        </m:den>
                      </m:f>
                    </m:oMath>
                  </m:oMathPara>
                </a14:m>
                <a:endParaRPr lang="en-US" sz="2800" dirty="0"/>
              </a:p>
            </p:txBody>
          </p:sp>
        </mc:Choice>
        <mc:Fallback xmlns="">
          <p:sp>
            <p:nvSpPr>
              <p:cNvPr id="3" name="TextBox 2"/>
              <p:cNvSpPr txBox="1">
                <a:spLocks noRot="1" noChangeAspect="1" noMove="1" noResize="1" noEditPoints="1" noAdjustHandles="1" noChangeArrowheads="1" noChangeShapeType="1" noTextEdit="1"/>
              </p:cNvSpPr>
              <p:nvPr/>
            </p:nvSpPr>
            <p:spPr>
              <a:xfrm>
                <a:off x="3779912" y="4293096"/>
                <a:ext cx="2081154" cy="735138"/>
              </a:xfrm>
              <a:prstGeom prst="rect">
                <a:avLst/>
              </a:prstGeom>
              <a:blipFill>
                <a:blip r:embed="rId3"/>
                <a:stretch>
                  <a:fillRect/>
                </a:stretch>
              </a:blipFill>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1066800" y="384048"/>
            <a:ext cx="7620000" cy="1166942"/>
          </a:xfrm>
        </p:spPr>
        <p:txBody>
          <a:bodyPr/>
          <a:lstStyle/>
          <a:p>
            <a:pPr eaLnBrk="1" hangingPunct="1"/>
            <a:r>
              <a:rPr lang="es-MX" altLang="en-US" sz="3200" b="1" dirty="0">
                <a:solidFill>
                  <a:srgbClr val="000000"/>
                </a:solidFill>
                <a:latin typeface="Broadway" panose="04040905080B02020502" pitchFamily="82" charset="0"/>
              </a:rPr>
              <a:t>Regla de Laplace</a:t>
            </a:r>
            <a:br>
              <a:rPr lang="es-MX" altLang="en-US" sz="3200" b="1" dirty="0">
                <a:solidFill>
                  <a:srgbClr val="221304"/>
                </a:solidFill>
                <a:latin typeface="Copperplate Gothic Bold" panose="020E0705020206020404" pitchFamily="34" charset="0"/>
              </a:rPr>
            </a:br>
            <a:r>
              <a:rPr lang="es-MX" altLang="en-US" sz="3200" b="1" dirty="0">
                <a:solidFill>
                  <a:srgbClr val="221304"/>
                </a:solidFill>
                <a:latin typeface="Broadway" panose="04040905080B02020502" pitchFamily="82" charset="0"/>
              </a:rPr>
              <a:t>¿Qué conviene hacer?</a:t>
            </a:r>
            <a:endParaRPr lang="en-US" altLang="en-US" sz="1800" b="1" dirty="0">
              <a:latin typeface="Copperplate Gothic Bold" panose="020E0705020206020404" pitchFamily="34" charset="0"/>
            </a:endParaRPr>
          </a:p>
        </p:txBody>
      </p:sp>
      <mc:AlternateContent xmlns:mc="http://schemas.openxmlformats.org/markup-compatibility/2006" xmlns:a14="http://schemas.microsoft.com/office/drawing/2010/main">
        <mc:Choice Requires="a14">
          <p:sp>
            <p:nvSpPr>
              <p:cNvPr id="9219" name="Text Box 3"/>
              <p:cNvSpPr txBox="1">
                <a:spLocks noChangeArrowheads="1"/>
              </p:cNvSpPr>
              <p:nvPr/>
            </p:nvSpPr>
            <p:spPr bwMode="auto">
              <a:xfrm>
                <a:off x="1295400" y="1676400"/>
                <a:ext cx="7391400" cy="2053767"/>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a:spAutoFit/>
              </a:bodyPr>
              <a:lstStyle>
                <a:lvl1pPr marL="457200" indent="-457200">
                  <a:defRPr sz="2400">
                    <a:solidFill>
                      <a:schemeClr val="tx1"/>
                    </a:solidFill>
                    <a:latin typeface="Times New Roman" panose="02020603050405020304" pitchFamily="18" charset="0"/>
                  </a:defRPr>
                </a:lvl1pPr>
                <a:lvl2pPr marL="914400" indent="-457200">
                  <a:defRPr sz="2400">
                    <a:solidFill>
                      <a:schemeClr val="tx1"/>
                    </a:solidFill>
                    <a:latin typeface="Times New Roman" panose="02020603050405020304" pitchFamily="18" charset="0"/>
                  </a:defRPr>
                </a:lvl2pPr>
                <a:lvl3pPr marL="1371600" indent="-457200">
                  <a:defRPr sz="2400">
                    <a:solidFill>
                      <a:schemeClr val="tx1"/>
                    </a:solidFill>
                    <a:latin typeface="Times New Roman" panose="02020603050405020304" pitchFamily="18" charset="0"/>
                  </a:defRPr>
                </a:lvl3pPr>
                <a:lvl4pPr marL="1828800" indent="-457200">
                  <a:defRPr sz="2400">
                    <a:solidFill>
                      <a:schemeClr val="tx1"/>
                    </a:solidFill>
                    <a:latin typeface="Times New Roman" panose="02020603050405020304" pitchFamily="18" charset="0"/>
                  </a:defRPr>
                </a:lvl4pPr>
                <a:lvl5pPr marL="2286000" indent="-457200">
                  <a:defRPr sz="2400">
                    <a:solidFill>
                      <a:schemeClr val="tx1"/>
                    </a:solidFill>
                    <a:latin typeface="Times New Roman" panose="02020603050405020304" pitchFamily="18" charset="0"/>
                  </a:defRPr>
                </a:lvl5pPr>
                <a:lvl6pPr marL="2743200" indent="-457200" eaLnBrk="0" fontAlgn="base" hangingPunct="0">
                  <a:spcBef>
                    <a:spcPct val="0"/>
                  </a:spcBef>
                  <a:spcAft>
                    <a:spcPct val="0"/>
                  </a:spcAft>
                  <a:defRPr sz="2400">
                    <a:solidFill>
                      <a:schemeClr val="tx1"/>
                    </a:solidFill>
                    <a:latin typeface="Times New Roman" panose="02020603050405020304" pitchFamily="18" charset="0"/>
                  </a:defRPr>
                </a:lvl6pPr>
                <a:lvl7pPr marL="3200400" indent="-457200" eaLnBrk="0" fontAlgn="base" hangingPunct="0">
                  <a:spcBef>
                    <a:spcPct val="0"/>
                  </a:spcBef>
                  <a:spcAft>
                    <a:spcPct val="0"/>
                  </a:spcAft>
                  <a:defRPr sz="2400">
                    <a:solidFill>
                      <a:schemeClr val="tx1"/>
                    </a:solidFill>
                    <a:latin typeface="Times New Roman" panose="02020603050405020304" pitchFamily="18" charset="0"/>
                  </a:defRPr>
                </a:lvl7pPr>
                <a:lvl8pPr marL="3657600" indent="-457200" eaLnBrk="0" fontAlgn="base" hangingPunct="0">
                  <a:spcBef>
                    <a:spcPct val="0"/>
                  </a:spcBef>
                  <a:spcAft>
                    <a:spcPct val="0"/>
                  </a:spcAft>
                  <a:defRPr sz="2400">
                    <a:solidFill>
                      <a:schemeClr val="tx1"/>
                    </a:solidFill>
                    <a:latin typeface="Times New Roman" panose="02020603050405020304" pitchFamily="18" charset="0"/>
                  </a:defRPr>
                </a:lvl8pPr>
                <a:lvl9pPr marL="4114800" indent="-457200" eaLnBrk="0" fontAlgn="base" hangingPunct="0">
                  <a:spcBef>
                    <a:spcPct val="0"/>
                  </a:spcBef>
                  <a:spcAft>
                    <a:spcPct val="0"/>
                  </a:spcAft>
                  <a:defRPr sz="2400">
                    <a:solidFill>
                      <a:schemeClr val="tx1"/>
                    </a:solidFill>
                    <a:latin typeface="Times New Roman" panose="02020603050405020304" pitchFamily="18" charset="0"/>
                  </a:defRPr>
                </a:lvl9pPr>
              </a:lstStyle>
              <a:p>
                <a:pPr marL="0" indent="0" algn="just" eaLnBrk="1" hangingPunct="1">
                  <a:spcBef>
                    <a:spcPct val="50000"/>
                  </a:spcBef>
                </a:pPr>
                <a:r>
                  <a:rPr lang="es-MX" altLang="en-US" sz="2000" dirty="0">
                    <a:latin typeface="Arial" panose="020B0604020202020204" pitchFamily="34" charset="0"/>
                  </a:rPr>
                  <a:t>Una lotería tiene </a:t>
                </a:r>
                <a:r>
                  <a:rPr lang="es-MX" altLang="en-US" sz="1800" dirty="0">
                    <a:solidFill>
                      <a:srgbClr val="000000"/>
                    </a:solidFill>
                    <a:latin typeface="Arial" panose="020B0604020202020204" pitchFamily="34" charset="0"/>
                  </a:rPr>
                  <a:t> </a:t>
                </a:r>
                <a14:m>
                  <m:oMath xmlns:m="http://schemas.openxmlformats.org/officeDocument/2006/math">
                    <m:r>
                      <a:rPr lang="es-AR" altLang="en-US" sz="2200" b="0" i="1" smtClean="0">
                        <a:solidFill>
                          <a:srgbClr val="000000"/>
                        </a:solidFill>
                        <a:latin typeface="Cambria Math" panose="02040503050406030204" pitchFamily="18" charset="0"/>
                      </a:rPr>
                      <m:t>𝑁</m:t>
                    </m:r>
                  </m:oMath>
                </a14:m>
                <a:r>
                  <a:rPr lang="es-MX" altLang="en-US" sz="2000" dirty="0">
                    <a:latin typeface="Arial" panose="020B0604020202020204" pitchFamily="34" charset="0"/>
                  </a:rPr>
                  <a:t> números y sólo un premio. Ud. tiene dinero para comprar</a:t>
                </a:r>
                <a:r>
                  <a:rPr lang="es-MX" altLang="en-US" sz="1800" dirty="0">
                    <a:solidFill>
                      <a:srgbClr val="000000"/>
                    </a:solidFill>
                    <a:latin typeface="Arial" panose="020B0604020202020204" pitchFamily="34" charset="0"/>
                  </a:rPr>
                  <a:t> </a:t>
                </a:r>
                <a14:m>
                  <m:oMath xmlns:m="http://schemas.openxmlformats.org/officeDocument/2006/math">
                    <m:r>
                      <a:rPr lang="es-AR" altLang="en-US" sz="2200" i="1">
                        <a:solidFill>
                          <a:srgbClr val="000000"/>
                        </a:solidFill>
                        <a:latin typeface="Cambria Math" panose="02040503050406030204" pitchFamily="18" charset="0"/>
                      </a:rPr>
                      <m:t>𝑛</m:t>
                    </m:r>
                    <m:r>
                      <a:rPr lang="es-AR" altLang="en-US" sz="2200" i="1">
                        <a:solidFill>
                          <a:srgbClr val="000000"/>
                        </a:solidFill>
                        <a:latin typeface="Cambria Math" panose="02040503050406030204" pitchFamily="18" charset="0"/>
                      </a:rPr>
                      <m:t> </m:t>
                    </m:r>
                  </m:oMath>
                </a14:m>
                <a:r>
                  <a:rPr lang="es-MX" altLang="en-US" sz="2000" dirty="0">
                    <a:latin typeface="Arial" panose="020B0604020202020204" pitchFamily="34" charset="0"/>
                  </a:rPr>
                  <a:t>números. ¿Cómo le conviene comprar esos números? </a:t>
                </a:r>
              </a:p>
              <a:p>
                <a:pPr algn="just" eaLnBrk="1" hangingPunct="1">
                  <a:spcBef>
                    <a:spcPct val="50000"/>
                  </a:spcBef>
                  <a:buFontTx/>
                  <a:buAutoNum type="alphaLcParenR"/>
                </a:pPr>
                <a:r>
                  <a:rPr lang="es-MX" altLang="en-US" sz="2000" dirty="0">
                    <a:latin typeface="Arial" panose="020B0604020202020204" pitchFamily="34" charset="0"/>
                  </a:rPr>
                  <a:t>Comprar los </a:t>
                </a:r>
                <a:r>
                  <a:rPr lang="es-MX" altLang="en-US" sz="1800" dirty="0">
                    <a:solidFill>
                      <a:srgbClr val="000000"/>
                    </a:solidFill>
                    <a:latin typeface="Arial" panose="020B0604020202020204" pitchFamily="34" charset="0"/>
                  </a:rPr>
                  <a:t> </a:t>
                </a:r>
                <a14:m>
                  <m:oMath xmlns:m="http://schemas.openxmlformats.org/officeDocument/2006/math">
                    <m:r>
                      <a:rPr lang="es-AR" altLang="en-US" sz="2200" i="1">
                        <a:solidFill>
                          <a:srgbClr val="000000"/>
                        </a:solidFill>
                        <a:latin typeface="Cambria Math" panose="02040503050406030204" pitchFamily="18" charset="0"/>
                      </a:rPr>
                      <m:t>𝑛</m:t>
                    </m:r>
                    <m:r>
                      <a:rPr lang="es-AR" altLang="en-US" sz="2200" i="1">
                        <a:solidFill>
                          <a:srgbClr val="000000"/>
                        </a:solidFill>
                        <a:latin typeface="Cambria Math" panose="02040503050406030204" pitchFamily="18" charset="0"/>
                      </a:rPr>
                      <m:t> </m:t>
                    </m:r>
                  </m:oMath>
                </a14:m>
                <a:r>
                  <a:rPr lang="es-MX" altLang="en-US" sz="2000" dirty="0">
                    <a:latin typeface="Arial" panose="020B0604020202020204" pitchFamily="34" charset="0"/>
                  </a:rPr>
                  <a:t> números en un solo sorteo.</a:t>
                </a:r>
              </a:p>
              <a:p>
                <a:pPr algn="just" eaLnBrk="1" hangingPunct="1">
                  <a:spcBef>
                    <a:spcPct val="50000"/>
                  </a:spcBef>
                  <a:buFontTx/>
                  <a:buAutoNum type="alphaLcParenR"/>
                </a:pPr>
                <a:r>
                  <a:rPr lang="es-MX" altLang="en-US" sz="2000" dirty="0">
                    <a:latin typeface="Arial" panose="020B0604020202020204" pitchFamily="34" charset="0"/>
                  </a:rPr>
                  <a:t>Comprar un número a lo largo de</a:t>
                </a:r>
                <a:r>
                  <a:rPr lang="es-MX" altLang="en-US" sz="2000" i="1" dirty="0">
                    <a:latin typeface="Arial" panose="020B0604020202020204" pitchFamily="34" charset="0"/>
                  </a:rPr>
                  <a:t> </a:t>
                </a:r>
                <a:r>
                  <a:rPr lang="es-MX" altLang="en-US" sz="1800" dirty="0">
                    <a:solidFill>
                      <a:srgbClr val="000000"/>
                    </a:solidFill>
                    <a:latin typeface="Arial" panose="020B0604020202020204" pitchFamily="34" charset="0"/>
                  </a:rPr>
                  <a:t> </a:t>
                </a:r>
                <a14:m>
                  <m:oMath xmlns:m="http://schemas.openxmlformats.org/officeDocument/2006/math">
                    <m:r>
                      <a:rPr lang="es-AR" altLang="en-US" sz="2200" i="1">
                        <a:solidFill>
                          <a:srgbClr val="000000"/>
                        </a:solidFill>
                        <a:latin typeface="Cambria Math" panose="02040503050406030204" pitchFamily="18" charset="0"/>
                      </a:rPr>
                      <m:t>𝑛</m:t>
                    </m:r>
                    <m:r>
                      <a:rPr lang="es-AR" altLang="en-US" sz="2200" i="1">
                        <a:solidFill>
                          <a:srgbClr val="000000"/>
                        </a:solidFill>
                        <a:latin typeface="Cambria Math" panose="02040503050406030204" pitchFamily="18" charset="0"/>
                      </a:rPr>
                      <m:t> </m:t>
                    </m:r>
                  </m:oMath>
                </a14:m>
                <a:r>
                  <a:rPr lang="es-MX" altLang="en-US" sz="2000" dirty="0">
                    <a:latin typeface="Arial" panose="020B0604020202020204" pitchFamily="34" charset="0"/>
                  </a:rPr>
                  <a:t> sorteos.</a:t>
                </a:r>
                <a:endParaRPr lang="en-US" altLang="en-US" sz="2000" dirty="0">
                  <a:latin typeface="Arial" panose="020B0604020202020204" pitchFamily="34" charset="0"/>
                </a:endParaRPr>
              </a:p>
            </p:txBody>
          </p:sp>
        </mc:Choice>
        <mc:Fallback xmlns="">
          <p:sp>
            <p:nvSpPr>
              <p:cNvPr id="9219" name="Text Box 3"/>
              <p:cNvSpPr txBox="1">
                <a:spLocks noRot="1" noChangeAspect="1" noMove="1" noResize="1" noEditPoints="1" noAdjustHandles="1" noChangeArrowheads="1" noChangeShapeType="1" noTextEdit="1"/>
              </p:cNvSpPr>
              <p:nvPr/>
            </p:nvSpPr>
            <p:spPr bwMode="auto">
              <a:xfrm>
                <a:off x="1295400" y="1676400"/>
                <a:ext cx="7391400" cy="2053767"/>
              </a:xfrm>
              <a:prstGeom prst="rect">
                <a:avLst/>
              </a:prstGeom>
              <a:blipFill>
                <a:blip r:embed="rId2"/>
                <a:stretch>
                  <a:fillRect l="-908" t="-297" r="-825" b="-4154"/>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s-AR">
                    <a:noFill/>
                  </a:rPr>
                  <a:t> </a:t>
                </a:r>
              </a:p>
            </p:txBody>
          </p:sp>
        </mc:Fallback>
      </mc:AlternateContent>
      <p:sp>
        <p:nvSpPr>
          <p:cNvPr id="10248" name="Text Box 8"/>
          <p:cNvSpPr txBox="1">
            <a:spLocks noChangeArrowheads="1"/>
          </p:cNvSpPr>
          <p:nvPr/>
        </p:nvSpPr>
        <p:spPr bwMode="auto">
          <a:xfrm>
            <a:off x="1524000" y="3733800"/>
            <a:ext cx="67818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50000"/>
              </a:spcBef>
              <a:buFontTx/>
              <a:buNone/>
            </a:pPr>
            <a:r>
              <a:rPr lang="es-MX" altLang="en-US" sz="1800" dirty="0">
                <a:latin typeface="Arial" panose="020B0604020202020204" pitchFamily="34" charset="0"/>
              </a:rPr>
              <a:t>Se calcula la probabilidad de ganar por lo menos una vez. </a:t>
            </a:r>
            <a:endParaRPr lang="en-US" altLang="en-US" sz="1800" i="1" dirty="0">
              <a:latin typeface="Arial" panose="020B0604020202020204" pitchFamily="34" charset="0"/>
            </a:endParaRPr>
          </a:p>
        </p:txBody>
      </p:sp>
      <mc:AlternateContent xmlns:mc="http://schemas.openxmlformats.org/markup-compatibility/2006" xmlns:a14="http://schemas.microsoft.com/office/drawing/2010/main">
        <mc:Choice Requires="a14">
          <p:sp>
            <p:nvSpPr>
              <p:cNvPr id="10251" name="Text Box 11"/>
              <p:cNvSpPr txBox="1">
                <a:spLocks noChangeArrowheads="1"/>
              </p:cNvSpPr>
              <p:nvPr/>
            </p:nvSpPr>
            <p:spPr bwMode="auto">
              <a:xfrm>
                <a:off x="1524000" y="4244385"/>
                <a:ext cx="6781800" cy="1084528"/>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50000"/>
                  </a:spcBef>
                  <a:buFontTx/>
                  <a:buNone/>
                </a:pPr>
                <a:r>
                  <a:rPr lang="es-MX" altLang="en-US" sz="1800" dirty="0">
                    <a:latin typeface="Arial" panose="020B0604020202020204" pitchFamily="34" charset="0"/>
                  </a:rPr>
                  <a:t>El número de maneras de elegir un número en </a:t>
                </a:r>
                <a14:m>
                  <m:oMath xmlns:m="http://schemas.openxmlformats.org/officeDocument/2006/math">
                    <m:r>
                      <a:rPr lang="es-AR" altLang="en-US" sz="2200" i="1">
                        <a:solidFill>
                          <a:srgbClr val="000000"/>
                        </a:solidFill>
                        <a:latin typeface="Cambria Math" panose="02040503050406030204" pitchFamily="18" charset="0"/>
                      </a:rPr>
                      <m:t>𝑛</m:t>
                    </m:r>
                    <m:r>
                      <a:rPr lang="es-AR" altLang="en-US" sz="2200" i="1">
                        <a:solidFill>
                          <a:srgbClr val="000000"/>
                        </a:solidFill>
                        <a:latin typeface="Cambria Math" panose="02040503050406030204" pitchFamily="18" charset="0"/>
                      </a:rPr>
                      <m:t> </m:t>
                    </m:r>
                  </m:oMath>
                </a14:m>
                <a:r>
                  <a:rPr lang="es-MX" altLang="en-US" sz="1800" dirty="0">
                    <a:latin typeface="Arial" panose="020B0604020202020204" pitchFamily="34" charset="0"/>
                  </a:rPr>
                  <a:t>jugadas de entre los </a:t>
                </a:r>
                <a14:m>
                  <m:oMath xmlns:m="http://schemas.openxmlformats.org/officeDocument/2006/math">
                    <m:r>
                      <a:rPr lang="es-AR" altLang="en-US" sz="2200" b="0" i="1" smtClean="0">
                        <a:solidFill>
                          <a:srgbClr val="000000"/>
                        </a:solidFill>
                        <a:latin typeface="Cambria Math" panose="02040503050406030204" pitchFamily="18" charset="0"/>
                      </a:rPr>
                      <m:t>𝑁</m:t>
                    </m:r>
                  </m:oMath>
                </a14:m>
                <a:r>
                  <a:rPr lang="es-MX" altLang="en-US" sz="1800" i="1" dirty="0">
                    <a:latin typeface="Arial" panose="020B0604020202020204" pitchFamily="34" charset="0"/>
                  </a:rPr>
                  <a:t> </a:t>
                </a:r>
                <a:r>
                  <a:rPr lang="es-MX" altLang="en-US" sz="1800" dirty="0">
                    <a:latin typeface="Arial" panose="020B0604020202020204" pitchFamily="34" charset="0"/>
                  </a:rPr>
                  <a:t>posibles es </a:t>
                </a:r>
                <a14:m>
                  <m:oMath xmlns:m="http://schemas.openxmlformats.org/officeDocument/2006/math">
                    <m:sSup>
                      <m:sSupPr>
                        <m:ctrlPr>
                          <a:rPr lang="es-AR" altLang="en-US" sz="2200" i="1" smtClean="0">
                            <a:solidFill>
                              <a:srgbClr val="000000"/>
                            </a:solidFill>
                            <a:latin typeface="Cambria Math" panose="02040503050406030204" pitchFamily="18" charset="0"/>
                          </a:rPr>
                        </m:ctrlPr>
                      </m:sSupPr>
                      <m:e>
                        <m:r>
                          <a:rPr lang="es-AR" altLang="en-US" sz="2200" b="0" i="1" smtClean="0">
                            <a:solidFill>
                              <a:srgbClr val="000000"/>
                            </a:solidFill>
                            <a:latin typeface="Cambria Math" panose="02040503050406030204" pitchFamily="18" charset="0"/>
                          </a:rPr>
                          <m:t>𝑁</m:t>
                        </m:r>
                      </m:e>
                      <m:sup>
                        <m:r>
                          <a:rPr lang="es-AR" altLang="en-US" sz="2200" b="0" i="1" smtClean="0">
                            <a:solidFill>
                              <a:srgbClr val="000000"/>
                            </a:solidFill>
                            <a:latin typeface="Cambria Math" panose="02040503050406030204" pitchFamily="18" charset="0"/>
                          </a:rPr>
                          <m:t>𝑛</m:t>
                        </m:r>
                      </m:sup>
                    </m:sSup>
                  </m:oMath>
                </a14:m>
                <a:r>
                  <a:rPr lang="es-MX" altLang="en-US" sz="1800" i="1" dirty="0">
                    <a:latin typeface="Arial" panose="020B0604020202020204" pitchFamily="34" charset="0"/>
                  </a:rPr>
                  <a:t>. </a:t>
                </a:r>
                <a:r>
                  <a:rPr lang="es-MX" altLang="en-US" sz="1800" dirty="0">
                    <a:latin typeface="Arial" panose="020B0604020202020204" pitchFamily="34" charset="0"/>
                  </a:rPr>
                  <a:t>El número de maneras de perder a lo largo de </a:t>
                </a:r>
                <a14:m>
                  <m:oMath xmlns:m="http://schemas.openxmlformats.org/officeDocument/2006/math">
                    <m:r>
                      <a:rPr lang="es-AR" altLang="en-US" sz="2200" i="1">
                        <a:solidFill>
                          <a:srgbClr val="000000"/>
                        </a:solidFill>
                        <a:latin typeface="Cambria Math" panose="02040503050406030204" pitchFamily="18" charset="0"/>
                      </a:rPr>
                      <m:t>𝑛</m:t>
                    </m:r>
                  </m:oMath>
                </a14:m>
                <a:r>
                  <a:rPr lang="es-MX" altLang="en-US" sz="1800" dirty="0">
                    <a:latin typeface="Arial" panose="020B0604020202020204" pitchFamily="34" charset="0"/>
                  </a:rPr>
                  <a:t> jugadas es</a:t>
                </a:r>
                <a14:m>
                  <m:oMath xmlns:m="http://schemas.openxmlformats.org/officeDocument/2006/math">
                    <m:r>
                      <a:rPr lang="es-AR" altLang="en-US" sz="2200" b="0" i="0" smtClean="0">
                        <a:latin typeface="Cambria Math" panose="02040503050406030204" pitchFamily="18" charset="0"/>
                      </a:rPr>
                      <m:t> </m:t>
                    </m:r>
                    <m:sSup>
                      <m:sSupPr>
                        <m:ctrlPr>
                          <a:rPr lang="es-MX" altLang="en-US" sz="2200" i="1" smtClean="0">
                            <a:latin typeface="Cambria Math" panose="02040503050406030204" pitchFamily="18" charset="0"/>
                          </a:rPr>
                        </m:ctrlPr>
                      </m:sSupPr>
                      <m:e>
                        <m:d>
                          <m:dPr>
                            <m:ctrlPr>
                              <a:rPr lang="es-MX" altLang="en-US" sz="2200" i="1" smtClean="0">
                                <a:latin typeface="Cambria Math" panose="02040503050406030204" pitchFamily="18" charset="0"/>
                              </a:rPr>
                            </m:ctrlPr>
                          </m:dPr>
                          <m:e>
                            <m:r>
                              <a:rPr lang="es-AR" altLang="en-US" sz="2200" b="0" i="1" smtClean="0">
                                <a:latin typeface="Cambria Math" panose="02040503050406030204" pitchFamily="18" charset="0"/>
                              </a:rPr>
                              <m:t>𝑁</m:t>
                            </m:r>
                            <m:r>
                              <a:rPr lang="es-AR" altLang="en-US" sz="2200" b="0" i="1" smtClean="0">
                                <a:latin typeface="Cambria Math" panose="02040503050406030204" pitchFamily="18" charset="0"/>
                              </a:rPr>
                              <m:t>−1</m:t>
                            </m:r>
                          </m:e>
                        </m:d>
                      </m:e>
                      <m:sup>
                        <m:r>
                          <a:rPr lang="es-AR" altLang="en-US" sz="2200" b="0" i="1" smtClean="0">
                            <a:latin typeface="Cambria Math" panose="02040503050406030204" pitchFamily="18" charset="0"/>
                          </a:rPr>
                          <m:t>𝑛</m:t>
                        </m:r>
                      </m:sup>
                    </m:sSup>
                  </m:oMath>
                </a14:m>
                <a:endParaRPr lang="en-US" altLang="en-US" sz="2200" dirty="0">
                  <a:latin typeface="Arial" panose="020B0604020202020204" pitchFamily="34" charset="0"/>
                </a:endParaRPr>
              </a:p>
            </p:txBody>
          </p:sp>
        </mc:Choice>
        <mc:Fallback xmlns="">
          <p:sp>
            <p:nvSpPr>
              <p:cNvPr id="10251" name="Text Box 11"/>
              <p:cNvSpPr txBox="1">
                <a:spLocks noRot="1" noChangeAspect="1" noMove="1" noResize="1" noEditPoints="1" noAdjustHandles="1" noChangeArrowheads="1" noChangeShapeType="1" noTextEdit="1"/>
              </p:cNvSpPr>
              <p:nvPr/>
            </p:nvSpPr>
            <p:spPr bwMode="auto">
              <a:xfrm>
                <a:off x="1524000" y="4244385"/>
                <a:ext cx="6781800" cy="1084528"/>
              </a:xfrm>
              <a:prstGeom prst="rect">
                <a:avLst/>
              </a:prstGeom>
              <a:blipFill>
                <a:blip r:embed="rId3"/>
                <a:stretch>
                  <a:fillRect l="-719" r="-629" b="-7865"/>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p:cNvSpPr txBox="1"/>
              <p:nvPr/>
            </p:nvSpPr>
            <p:spPr>
              <a:xfrm>
                <a:off x="1066800" y="5517232"/>
                <a:ext cx="7702045" cy="80002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200" i="1" smtClean="0">
                              <a:latin typeface="Cambria Math" panose="02040503050406030204" pitchFamily="18" charset="0"/>
                            </a:rPr>
                          </m:ctrlPr>
                        </m:sSubPr>
                        <m:e>
                          <m:r>
                            <m:rPr>
                              <m:nor/>
                            </m:rPr>
                            <a:rPr lang="es-AR" sz="2200" b="0" i="0" smtClean="0">
                              <a:latin typeface="Cambria Math" panose="02040503050406030204" pitchFamily="18" charset="0"/>
                            </a:rPr>
                            <m:t>P</m:t>
                          </m:r>
                        </m:e>
                        <m:sub>
                          <m:r>
                            <m:rPr>
                              <m:nor/>
                            </m:rPr>
                            <a:rPr lang="es-AR" sz="2200" b="0" i="0" smtClean="0">
                              <a:latin typeface="Cambria Math" panose="02040503050406030204" pitchFamily="18" charset="0"/>
                            </a:rPr>
                            <m:t>b</m:t>
                          </m:r>
                        </m:sub>
                      </m:sSub>
                      <m:r>
                        <a:rPr lang="es-AR" sz="2200" b="0" i="1" smtClean="0">
                          <a:latin typeface="Cambria Math" panose="02040503050406030204" pitchFamily="18" charset="0"/>
                        </a:rPr>
                        <m:t>=1−</m:t>
                      </m:r>
                      <m:sSup>
                        <m:sSupPr>
                          <m:ctrlPr>
                            <a:rPr lang="es-AR" sz="2200" b="0" i="1" smtClean="0">
                              <a:latin typeface="Cambria Math" panose="02040503050406030204" pitchFamily="18" charset="0"/>
                            </a:rPr>
                          </m:ctrlPr>
                        </m:sSupPr>
                        <m:e>
                          <m:d>
                            <m:dPr>
                              <m:ctrlPr>
                                <a:rPr lang="es-AR" sz="2200" b="0" i="1" smtClean="0">
                                  <a:latin typeface="Cambria Math" panose="02040503050406030204" pitchFamily="18" charset="0"/>
                                </a:rPr>
                              </m:ctrlPr>
                            </m:dPr>
                            <m:e>
                              <m:f>
                                <m:fPr>
                                  <m:ctrlPr>
                                    <a:rPr lang="es-AR" sz="2200" b="0" i="1" smtClean="0">
                                      <a:latin typeface="Cambria Math" panose="02040503050406030204" pitchFamily="18" charset="0"/>
                                    </a:rPr>
                                  </m:ctrlPr>
                                </m:fPr>
                                <m:num>
                                  <m:r>
                                    <a:rPr lang="es-AR" sz="2200" b="0" i="1" smtClean="0">
                                      <a:latin typeface="Cambria Math" panose="02040503050406030204" pitchFamily="18" charset="0"/>
                                    </a:rPr>
                                    <m:t>𝑁</m:t>
                                  </m:r>
                                  <m:r>
                                    <a:rPr lang="es-AR" sz="2200" b="0" i="1" smtClean="0">
                                      <a:latin typeface="Cambria Math" panose="02040503050406030204" pitchFamily="18" charset="0"/>
                                    </a:rPr>
                                    <m:t>−1</m:t>
                                  </m:r>
                                </m:num>
                                <m:den>
                                  <m:r>
                                    <a:rPr lang="es-AR" sz="2200" b="0" i="1" smtClean="0">
                                      <a:latin typeface="Cambria Math" panose="02040503050406030204" pitchFamily="18" charset="0"/>
                                    </a:rPr>
                                    <m:t>𝑁</m:t>
                                  </m:r>
                                </m:den>
                              </m:f>
                            </m:e>
                          </m:d>
                        </m:e>
                        <m:sup>
                          <m:r>
                            <a:rPr lang="es-AR" sz="2200" b="0" i="1" smtClean="0">
                              <a:latin typeface="Cambria Math" panose="02040503050406030204" pitchFamily="18" charset="0"/>
                            </a:rPr>
                            <m:t>𝑛</m:t>
                          </m:r>
                        </m:sup>
                      </m:sSup>
                      <m:r>
                        <a:rPr lang="es-AR" sz="2200" b="0" i="1" smtClean="0">
                          <a:latin typeface="Cambria Math" panose="02040503050406030204" pitchFamily="18" charset="0"/>
                        </a:rPr>
                        <m:t>=</m:t>
                      </m:r>
                      <m:r>
                        <a:rPr lang="es-AR" sz="2200" i="1">
                          <a:latin typeface="Cambria Math" panose="02040503050406030204" pitchFamily="18" charset="0"/>
                        </a:rPr>
                        <m:t>1−</m:t>
                      </m:r>
                      <m:sSup>
                        <m:sSupPr>
                          <m:ctrlPr>
                            <a:rPr lang="es-AR" sz="2200" i="1">
                              <a:latin typeface="Cambria Math" panose="02040503050406030204" pitchFamily="18" charset="0"/>
                            </a:rPr>
                          </m:ctrlPr>
                        </m:sSupPr>
                        <m:e>
                          <m:d>
                            <m:dPr>
                              <m:ctrlPr>
                                <a:rPr lang="es-AR" sz="2200" i="1">
                                  <a:latin typeface="Cambria Math" panose="02040503050406030204" pitchFamily="18" charset="0"/>
                                </a:rPr>
                              </m:ctrlPr>
                            </m:dPr>
                            <m:e>
                              <m:r>
                                <a:rPr lang="es-AR" sz="2200" b="0" i="1" smtClean="0">
                                  <a:latin typeface="Cambria Math" panose="02040503050406030204" pitchFamily="18" charset="0"/>
                                </a:rPr>
                                <m:t>1−</m:t>
                              </m:r>
                              <m:f>
                                <m:fPr>
                                  <m:ctrlPr>
                                    <a:rPr lang="es-AR" sz="2200" i="1">
                                      <a:latin typeface="Cambria Math" panose="02040503050406030204" pitchFamily="18" charset="0"/>
                                    </a:rPr>
                                  </m:ctrlPr>
                                </m:fPr>
                                <m:num>
                                  <m:r>
                                    <a:rPr lang="es-AR" sz="2200" i="1">
                                      <a:latin typeface="Cambria Math" panose="02040503050406030204" pitchFamily="18" charset="0"/>
                                    </a:rPr>
                                    <m:t>1</m:t>
                                  </m:r>
                                </m:num>
                                <m:den>
                                  <m:r>
                                    <a:rPr lang="es-AR" sz="2200" i="1">
                                      <a:latin typeface="Cambria Math" panose="02040503050406030204" pitchFamily="18" charset="0"/>
                                    </a:rPr>
                                    <m:t>𝑁</m:t>
                                  </m:r>
                                </m:den>
                              </m:f>
                            </m:e>
                          </m:d>
                        </m:e>
                        <m:sup>
                          <m:r>
                            <a:rPr lang="es-AR" sz="2200" i="1">
                              <a:latin typeface="Cambria Math" panose="02040503050406030204" pitchFamily="18" charset="0"/>
                            </a:rPr>
                            <m:t>𝑛</m:t>
                          </m:r>
                        </m:sup>
                      </m:sSup>
                      <m:r>
                        <a:rPr lang="es-AR" sz="2200" i="1" smtClean="0">
                          <a:latin typeface="Cambria Math" panose="02040503050406030204" pitchFamily="18" charset="0"/>
                          <a:ea typeface="Cambria Math" panose="02040503050406030204" pitchFamily="18" charset="0"/>
                        </a:rPr>
                        <m:t>≈</m:t>
                      </m:r>
                      <m:r>
                        <a:rPr lang="es-AR" sz="2200" b="0" i="1" smtClean="0">
                          <a:latin typeface="Cambria Math" panose="02040503050406030204" pitchFamily="18" charset="0"/>
                          <a:ea typeface="Cambria Math" panose="02040503050406030204" pitchFamily="18" charset="0"/>
                        </a:rPr>
                        <m:t>1−</m:t>
                      </m:r>
                      <m:d>
                        <m:dPr>
                          <m:ctrlPr>
                            <a:rPr lang="es-AR" sz="2200" b="0" i="1" smtClean="0">
                              <a:latin typeface="Cambria Math" panose="02040503050406030204" pitchFamily="18" charset="0"/>
                              <a:ea typeface="Cambria Math" panose="02040503050406030204" pitchFamily="18" charset="0"/>
                            </a:rPr>
                          </m:ctrlPr>
                        </m:dPr>
                        <m:e>
                          <m:r>
                            <a:rPr lang="es-AR" sz="2200" b="0" i="1" smtClean="0">
                              <a:latin typeface="Cambria Math" panose="02040503050406030204" pitchFamily="18" charset="0"/>
                              <a:ea typeface="Cambria Math" panose="02040503050406030204" pitchFamily="18" charset="0"/>
                            </a:rPr>
                            <m:t>1−</m:t>
                          </m:r>
                          <m:f>
                            <m:fPr>
                              <m:ctrlPr>
                                <a:rPr lang="es-AR" sz="2200" b="0" i="1" smtClean="0">
                                  <a:latin typeface="Cambria Math" panose="02040503050406030204" pitchFamily="18" charset="0"/>
                                  <a:ea typeface="Cambria Math" panose="02040503050406030204" pitchFamily="18" charset="0"/>
                                </a:rPr>
                              </m:ctrlPr>
                            </m:fPr>
                            <m:num>
                              <m:r>
                                <a:rPr lang="es-AR" sz="2200" b="0" i="1" smtClean="0">
                                  <a:latin typeface="Cambria Math" panose="02040503050406030204" pitchFamily="18" charset="0"/>
                                  <a:ea typeface="Cambria Math" panose="02040503050406030204" pitchFamily="18" charset="0"/>
                                </a:rPr>
                                <m:t>𝑛</m:t>
                              </m:r>
                            </m:num>
                            <m:den>
                              <m:r>
                                <a:rPr lang="es-AR" sz="2200" b="0" i="1" smtClean="0">
                                  <a:latin typeface="Cambria Math" panose="02040503050406030204" pitchFamily="18" charset="0"/>
                                  <a:ea typeface="Cambria Math" panose="02040503050406030204" pitchFamily="18" charset="0"/>
                                </a:rPr>
                                <m:t>𝑁</m:t>
                              </m:r>
                            </m:den>
                          </m:f>
                          <m:r>
                            <a:rPr lang="es-AR" sz="2200" b="0" i="1" smtClean="0">
                              <a:latin typeface="Cambria Math" panose="02040503050406030204" pitchFamily="18" charset="0"/>
                              <a:ea typeface="Cambria Math" panose="02040503050406030204" pitchFamily="18" charset="0"/>
                            </a:rPr>
                            <m:t>+</m:t>
                          </m:r>
                          <m:f>
                            <m:fPr>
                              <m:ctrlPr>
                                <a:rPr lang="es-AR" sz="2200" b="0" i="1" smtClean="0">
                                  <a:latin typeface="Cambria Math" panose="02040503050406030204" pitchFamily="18" charset="0"/>
                                  <a:ea typeface="Cambria Math" panose="02040503050406030204" pitchFamily="18" charset="0"/>
                                </a:rPr>
                              </m:ctrlPr>
                            </m:fPr>
                            <m:num>
                              <m:r>
                                <a:rPr lang="es-AR" sz="2200" b="0" i="1" smtClean="0">
                                  <a:latin typeface="Cambria Math" panose="02040503050406030204" pitchFamily="18" charset="0"/>
                                  <a:ea typeface="Cambria Math" panose="02040503050406030204" pitchFamily="18" charset="0"/>
                                </a:rPr>
                                <m:t>𝑛</m:t>
                              </m:r>
                              <m:d>
                                <m:dPr>
                                  <m:ctrlPr>
                                    <a:rPr lang="es-AR" sz="2200" b="0" i="1" smtClean="0">
                                      <a:latin typeface="Cambria Math" panose="02040503050406030204" pitchFamily="18" charset="0"/>
                                      <a:ea typeface="Cambria Math" panose="02040503050406030204" pitchFamily="18" charset="0"/>
                                    </a:rPr>
                                  </m:ctrlPr>
                                </m:dPr>
                                <m:e>
                                  <m:r>
                                    <a:rPr lang="es-AR" sz="2200" b="0" i="1" smtClean="0">
                                      <a:latin typeface="Cambria Math" panose="02040503050406030204" pitchFamily="18" charset="0"/>
                                      <a:ea typeface="Cambria Math" panose="02040503050406030204" pitchFamily="18" charset="0"/>
                                    </a:rPr>
                                    <m:t>𝑛</m:t>
                                  </m:r>
                                  <m:r>
                                    <a:rPr lang="es-AR" sz="2200" b="0" i="1" smtClean="0">
                                      <a:latin typeface="Cambria Math" panose="02040503050406030204" pitchFamily="18" charset="0"/>
                                      <a:ea typeface="Cambria Math" panose="02040503050406030204" pitchFamily="18" charset="0"/>
                                    </a:rPr>
                                    <m:t>−1</m:t>
                                  </m:r>
                                </m:e>
                              </m:d>
                            </m:num>
                            <m:den>
                              <m:r>
                                <a:rPr lang="es-AR" sz="2200" b="0" i="1" smtClean="0">
                                  <a:latin typeface="Cambria Math" panose="02040503050406030204" pitchFamily="18" charset="0"/>
                                  <a:ea typeface="Cambria Math" panose="02040503050406030204" pitchFamily="18" charset="0"/>
                                </a:rPr>
                                <m:t>2</m:t>
                              </m:r>
                              <m:sSup>
                                <m:sSupPr>
                                  <m:ctrlPr>
                                    <a:rPr lang="es-AR" sz="2200" b="0" i="1" smtClean="0">
                                      <a:latin typeface="Cambria Math" panose="02040503050406030204" pitchFamily="18" charset="0"/>
                                      <a:ea typeface="Cambria Math" panose="02040503050406030204" pitchFamily="18" charset="0"/>
                                    </a:rPr>
                                  </m:ctrlPr>
                                </m:sSupPr>
                                <m:e>
                                  <m:r>
                                    <a:rPr lang="es-AR" sz="2200" b="0" i="1" smtClean="0">
                                      <a:latin typeface="Cambria Math" panose="02040503050406030204" pitchFamily="18" charset="0"/>
                                      <a:ea typeface="Cambria Math" panose="02040503050406030204" pitchFamily="18" charset="0"/>
                                    </a:rPr>
                                    <m:t>𝑁</m:t>
                                  </m:r>
                                </m:e>
                                <m:sup>
                                  <m:r>
                                    <a:rPr lang="es-AR" sz="2200" b="0" i="1" smtClean="0">
                                      <a:latin typeface="Cambria Math" panose="02040503050406030204" pitchFamily="18" charset="0"/>
                                      <a:ea typeface="Cambria Math" panose="02040503050406030204" pitchFamily="18" charset="0"/>
                                    </a:rPr>
                                    <m:t>2</m:t>
                                  </m:r>
                                </m:sup>
                              </m:sSup>
                            </m:den>
                          </m:f>
                        </m:e>
                      </m:d>
                    </m:oMath>
                  </m:oMathPara>
                </a14:m>
                <a:endParaRPr lang="en-US" sz="2200" dirty="0"/>
              </a:p>
            </p:txBody>
          </p:sp>
        </mc:Choice>
        <mc:Fallback xmlns="">
          <p:sp>
            <p:nvSpPr>
              <p:cNvPr id="3" name="TextBox 2"/>
              <p:cNvSpPr txBox="1">
                <a:spLocks noRot="1" noChangeAspect="1" noMove="1" noResize="1" noEditPoints="1" noAdjustHandles="1" noChangeArrowheads="1" noChangeShapeType="1" noTextEdit="1"/>
              </p:cNvSpPr>
              <p:nvPr/>
            </p:nvSpPr>
            <p:spPr>
              <a:xfrm>
                <a:off x="1066800" y="5517232"/>
                <a:ext cx="7702045" cy="800027"/>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83025826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248"/>
                                        </p:tgtEl>
                                        <p:attrNameLst>
                                          <p:attrName>style.visibility</p:attrName>
                                        </p:attrNameLst>
                                      </p:cBhvr>
                                      <p:to>
                                        <p:strVal val="visible"/>
                                      </p:to>
                                    </p:set>
                                    <p:anim calcmode="lin" valueType="num">
                                      <p:cBhvr additive="base">
                                        <p:cTn id="7" dur="500" fill="hold"/>
                                        <p:tgtEl>
                                          <p:spTgt spid="10248"/>
                                        </p:tgtEl>
                                        <p:attrNameLst>
                                          <p:attrName>ppt_x</p:attrName>
                                        </p:attrNameLst>
                                      </p:cBhvr>
                                      <p:tavLst>
                                        <p:tav tm="0">
                                          <p:val>
                                            <p:strVal val="#ppt_x"/>
                                          </p:val>
                                        </p:tav>
                                        <p:tav tm="100000">
                                          <p:val>
                                            <p:strVal val="#ppt_x"/>
                                          </p:val>
                                        </p:tav>
                                      </p:tavLst>
                                    </p:anim>
                                    <p:anim calcmode="lin" valueType="num">
                                      <p:cBhvr additive="base">
                                        <p:cTn id="8" dur="500" fill="hold"/>
                                        <p:tgtEl>
                                          <p:spTgt spid="10248"/>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251"/>
                                        </p:tgtEl>
                                        <p:attrNameLst>
                                          <p:attrName>style.visibility</p:attrName>
                                        </p:attrNameLst>
                                      </p:cBhvr>
                                      <p:to>
                                        <p:strVal val="visible"/>
                                      </p:to>
                                    </p:set>
                                    <p:anim calcmode="lin" valueType="num">
                                      <p:cBhvr additive="base">
                                        <p:cTn id="13" dur="500" fill="hold"/>
                                        <p:tgtEl>
                                          <p:spTgt spid="10251"/>
                                        </p:tgtEl>
                                        <p:attrNameLst>
                                          <p:attrName>ppt_x</p:attrName>
                                        </p:attrNameLst>
                                      </p:cBhvr>
                                      <p:tavLst>
                                        <p:tav tm="0">
                                          <p:val>
                                            <p:strVal val="#ppt_x"/>
                                          </p:val>
                                        </p:tav>
                                        <p:tav tm="100000">
                                          <p:val>
                                            <p:strVal val="#ppt_x"/>
                                          </p:val>
                                        </p:tav>
                                      </p:tavLst>
                                    </p:anim>
                                    <p:anim calcmode="lin" valueType="num">
                                      <p:cBhvr additive="base">
                                        <p:cTn id="14" dur="500" fill="hold"/>
                                        <p:tgtEl>
                                          <p:spTgt spid="1025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8" grpId="0" autoUpdateAnimBg="0"/>
      <p:bldP spid="10251" grpId="0" autoUpdateAnimBg="0"/>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1066800" y="384048"/>
            <a:ext cx="7620000" cy="1166942"/>
          </a:xfrm>
        </p:spPr>
        <p:txBody>
          <a:bodyPr/>
          <a:lstStyle/>
          <a:p>
            <a:pPr eaLnBrk="1" hangingPunct="1"/>
            <a:r>
              <a:rPr lang="es-MX" altLang="en-US" sz="3200" b="1" dirty="0">
                <a:solidFill>
                  <a:srgbClr val="000000"/>
                </a:solidFill>
                <a:latin typeface="Broadway" panose="04040905080B02020502" pitchFamily="82" charset="0"/>
              </a:rPr>
              <a:t>Regla de Laplace</a:t>
            </a:r>
            <a:br>
              <a:rPr lang="es-MX" altLang="en-US" sz="3200" b="1" dirty="0">
                <a:solidFill>
                  <a:srgbClr val="221304"/>
                </a:solidFill>
                <a:latin typeface="Copperplate Gothic Bold" panose="020E0705020206020404" pitchFamily="34" charset="0"/>
              </a:rPr>
            </a:br>
            <a:r>
              <a:rPr lang="es-MX" altLang="en-US" sz="3200" b="1" dirty="0">
                <a:solidFill>
                  <a:srgbClr val="221304"/>
                </a:solidFill>
                <a:latin typeface="Broadway" panose="04040905080B02020502" pitchFamily="82" charset="0"/>
              </a:rPr>
              <a:t>¿Qué conviene hacer?</a:t>
            </a:r>
            <a:endParaRPr lang="en-US" altLang="en-US" sz="1800" b="1" dirty="0">
              <a:latin typeface="Copperplate Gothic Bold" panose="020E0705020206020404" pitchFamily="34" charset="0"/>
            </a:endParaRPr>
          </a:p>
        </p:txBody>
      </p:sp>
      <mc:AlternateContent xmlns:mc="http://schemas.openxmlformats.org/markup-compatibility/2006" xmlns:a14="http://schemas.microsoft.com/office/drawing/2010/main">
        <mc:Choice Requires="a14">
          <p:sp>
            <p:nvSpPr>
              <p:cNvPr id="9219" name="Text Box 3"/>
              <p:cNvSpPr txBox="1">
                <a:spLocks noChangeArrowheads="1"/>
              </p:cNvSpPr>
              <p:nvPr/>
            </p:nvSpPr>
            <p:spPr bwMode="auto">
              <a:xfrm>
                <a:off x="1295400" y="1676400"/>
                <a:ext cx="7391400" cy="2053767"/>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a:spAutoFit/>
              </a:bodyPr>
              <a:lstStyle>
                <a:lvl1pPr marL="457200" indent="-457200">
                  <a:defRPr sz="2400">
                    <a:solidFill>
                      <a:schemeClr val="tx1"/>
                    </a:solidFill>
                    <a:latin typeface="Times New Roman" panose="02020603050405020304" pitchFamily="18" charset="0"/>
                  </a:defRPr>
                </a:lvl1pPr>
                <a:lvl2pPr marL="914400" indent="-457200">
                  <a:defRPr sz="2400">
                    <a:solidFill>
                      <a:schemeClr val="tx1"/>
                    </a:solidFill>
                    <a:latin typeface="Times New Roman" panose="02020603050405020304" pitchFamily="18" charset="0"/>
                  </a:defRPr>
                </a:lvl2pPr>
                <a:lvl3pPr marL="1371600" indent="-457200">
                  <a:defRPr sz="2400">
                    <a:solidFill>
                      <a:schemeClr val="tx1"/>
                    </a:solidFill>
                    <a:latin typeface="Times New Roman" panose="02020603050405020304" pitchFamily="18" charset="0"/>
                  </a:defRPr>
                </a:lvl3pPr>
                <a:lvl4pPr marL="1828800" indent="-457200">
                  <a:defRPr sz="2400">
                    <a:solidFill>
                      <a:schemeClr val="tx1"/>
                    </a:solidFill>
                    <a:latin typeface="Times New Roman" panose="02020603050405020304" pitchFamily="18" charset="0"/>
                  </a:defRPr>
                </a:lvl4pPr>
                <a:lvl5pPr marL="2286000" indent="-457200">
                  <a:defRPr sz="2400">
                    <a:solidFill>
                      <a:schemeClr val="tx1"/>
                    </a:solidFill>
                    <a:latin typeface="Times New Roman" panose="02020603050405020304" pitchFamily="18" charset="0"/>
                  </a:defRPr>
                </a:lvl5pPr>
                <a:lvl6pPr marL="2743200" indent="-457200" eaLnBrk="0" fontAlgn="base" hangingPunct="0">
                  <a:spcBef>
                    <a:spcPct val="0"/>
                  </a:spcBef>
                  <a:spcAft>
                    <a:spcPct val="0"/>
                  </a:spcAft>
                  <a:defRPr sz="2400">
                    <a:solidFill>
                      <a:schemeClr val="tx1"/>
                    </a:solidFill>
                    <a:latin typeface="Times New Roman" panose="02020603050405020304" pitchFamily="18" charset="0"/>
                  </a:defRPr>
                </a:lvl6pPr>
                <a:lvl7pPr marL="3200400" indent="-457200" eaLnBrk="0" fontAlgn="base" hangingPunct="0">
                  <a:spcBef>
                    <a:spcPct val="0"/>
                  </a:spcBef>
                  <a:spcAft>
                    <a:spcPct val="0"/>
                  </a:spcAft>
                  <a:defRPr sz="2400">
                    <a:solidFill>
                      <a:schemeClr val="tx1"/>
                    </a:solidFill>
                    <a:latin typeface="Times New Roman" panose="02020603050405020304" pitchFamily="18" charset="0"/>
                  </a:defRPr>
                </a:lvl7pPr>
                <a:lvl8pPr marL="3657600" indent="-457200" eaLnBrk="0" fontAlgn="base" hangingPunct="0">
                  <a:spcBef>
                    <a:spcPct val="0"/>
                  </a:spcBef>
                  <a:spcAft>
                    <a:spcPct val="0"/>
                  </a:spcAft>
                  <a:defRPr sz="2400">
                    <a:solidFill>
                      <a:schemeClr val="tx1"/>
                    </a:solidFill>
                    <a:latin typeface="Times New Roman" panose="02020603050405020304" pitchFamily="18" charset="0"/>
                  </a:defRPr>
                </a:lvl8pPr>
                <a:lvl9pPr marL="4114800" indent="-457200" eaLnBrk="0" fontAlgn="base" hangingPunct="0">
                  <a:spcBef>
                    <a:spcPct val="0"/>
                  </a:spcBef>
                  <a:spcAft>
                    <a:spcPct val="0"/>
                  </a:spcAft>
                  <a:defRPr sz="2400">
                    <a:solidFill>
                      <a:schemeClr val="tx1"/>
                    </a:solidFill>
                    <a:latin typeface="Times New Roman" panose="02020603050405020304" pitchFamily="18" charset="0"/>
                  </a:defRPr>
                </a:lvl9pPr>
              </a:lstStyle>
              <a:p>
                <a:pPr marL="0" indent="0" algn="just" eaLnBrk="1" hangingPunct="1">
                  <a:spcBef>
                    <a:spcPct val="50000"/>
                  </a:spcBef>
                </a:pPr>
                <a:r>
                  <a:rPr lang="es-MX" altLang="en-US" sz="2000" dirty="0">
                    <a:latin typeface="Arial" panose="020B0604020202020204" pitchFamily="34" charset="0"/>
                  </a:rPr>
                  <a:t>Una lotería tiene </a:t>
                </a:r>
                <a:r>
                  <a:rPr lang="es-MX" altLang="en-US" sz="1800" dirty="0">
                    <a:solidFill>
                      <a:srgbClr val="000000"/>
                    </a:solidFill>
                    <a:latin typeface="Arial" panose="020B0604020202020204" pitchFamily="34" charset="0"/>
                  </a:rPr>
                  <a:t> </a:t>
                </a:r>
                <a14:m>
                  <m:oMath xmlns:m="http://schemas.openxmlformats.org/officeDocument/2006/math">
                    <m:r>
                      <a:rPr lang="es-AR" altLang="en-US" sz="2200" b="0" i="1" smtClean="0">
                        <a:solidFill>
                          <a:srgbClr val="000000"/>
                        </a:solidFill>
                        <a:latin typeface="Cambria Math" panose="02040503050406030204" pitchFamily="18" charset="0"/>
                      </a:rPr>
                      <m:t>𝑁</m:t>
                    </m:r>
                  </m:oMath>
                </a14:m>
                <a:r>
                  <a:rPr lang="es-MX" altLang="en-US" sz="2000" dirty="0">
                    <a:latin typeface="Arial" panose="020B0604020202020204" pitchFamily="34" charset="0"/>
                  </a:rPr>
                  <a:t> números y sólo un premio. Ud. tiene dinero para comprar</a:t>
                </a:r>
                <a:r>
                  <a:rPr lang="es-MX" altLang="en-US" sz="1800" dirty="0">
                    <a:solidFill>
                      <a:srgbClr val="000000"/>
                    </a:solidFill>
                    <a:latin typeface="Arial" panose="020B0604020202020204" pitchFamily="34" charset="0"/>
                  </a:rPr>
                  <a:t> </a:t>
                </a:r>
                <a14:m>
                  <m:oMath xmlns:m="http://schemas.openxmlformats.org/officeDocument/2006/math">
                    <m:r>
                      <a:rPr lang="es-AR" altLang="en-US" sz="2200" i="1">
                        <a:solidFill>
                          <a:srgbClr val="000000"/>
                        </a:solidFill>
                        <a:latin typeface="Cambria Math" panose="02040503050406030204" pitchFamily="18" charset="0"/>
                      </a:rPr>
                      <m:t>𝑛</m:t>
                    </m:r>
                    <m:r>
                      <a:rPr lang="es-AR" altLang="en-US" sz="2200" i="1">
                        <a:solidFill>
                          <a:srgbClr val="000000"/>
                        </a:solidFill>
                        <a:latin typeface="Cambria Math" panose="02040503050406030204" pitchFamily="18" charset="0"/>
                      </a:rPr>
                      <m:t> </m:t>
                    </m:r>
                  </m:oMath>
                </a14:m>
                <a:r>
                  <a:rPr lang="es-MX" altLang="en-US" sz="2000" dirty="0">
                    <a:latin typeface="Arial" panose="020B0604020202020204" pitchFamily="34" charset="0"/>
                  </a:rPr>
                  <a:t>números. ¿Cómo le conviene comprar esos números? </a:t>
                </a:r>
              </a:p>
              <a:p>
                <a:pPr algn="just" eaLnBrk="1" hangingPunct="1">
                  <a:spcBef>
                    <a:spcPct val="50000"/>
                  </a:spcBef>
                  <a:buFontTx/>
                  <a:buAutoNum type="alphaLcParenR"/>
                </a:pPr>
                <a:r>
                  <a:rPr lang="es-MX" altLang="en-US" sz="2000" dirty="0">
                    <a:latin typeface="Arial" panose="020B0604020202020204" pitchFamily="34" charset="0"/>
                  </a:rPr>
                  <a:t>Comprar los </a:t>
                </a:r>
                <a:r>
                  <a:rPr lang="es-MX" altLang="en-US" sz="1800" dirty="0">
                    <a:solidFill>
                      <a:srgbClr val="000000"/>
                    </a:solidFill>
                    <a:latin typeface="Arial" panose="020B0604020202020204" pitchFamily="34" charset="0"/>
                  </a:rPr>
                  <a:t> </a:t>
                </a:r>
                <a14:m>
                  <m:oMath xmlns:m="http://schemas.openxmlformats.org/officeDocument/2006/math">
                    <m:r>
                      <a:rPr lang="es-AR" altLang="en-US" sz="2200" i="1">
                        <a:solidFill>
                          <a:srgbClr val="000000"/>
                        </a:solidFill>
                        <a:latin typeface="Cambria Math" panose="02040503050406030204" pitchFamily="18" charset="0"/>
                      </a:rPr>
                      <m:t>𝑛</m:t>
                    </m:r>
                    <m:r>
                      <a:rPr lang="es-AR" altLang="en-US" sz="2200" i="1">
                        <a:solidFill>
                          <a:srgbClr val="000000"/>
                        </a:solidFill>
                        <a:latin typeface="Cambria Math" panose="02040503050406030204" pitchFamily="18" charset="0"/>
                      </a:rPr>
                      <m:t> </m:t>
                    </m:r>
                  </m:oMath>
                </a14:m>
                <a:r>
                  <a:rPr lang="es-MX" altLang="en-US" sz="2000" dirty="0">
                    <a:latin typeface="Arial" panose="020B0604020202020204" pitchFamily="34" charset="0"/>
                  </a:rPr>
                  <a:t> números en un solo sorteo.</a:t>
                </a:r>
              </a:p>
              <a:p>
                <a:pPr algn="just" eaLnBrk="1" hangingPunct="1">
                  <a:spcBef>
                    <a:spcPct val="50000"/>
                  </a:spcBef>
                  <a:buFontTx/>
                  <a:buAutoNum type="alphaLcParenR"/>
                </a:pPr>
                <a:r>
                  <a:rPr lang="es-MX" altLang="en-US" sz="2000" dirty="0">
                    <a:latin typeface="Arial" panose="020B0604020202020204" pitchFamily="34" charset="0"/>
                  </a:rPr>
                  <a:t>Comprar un número a lo largo de</a:t>
                </a:r>
                <a:r>
                  <a:rPr lang="es-MX" altLang="en-US" sz="2000" i="1" dirty="0">
                    <a:latin typeface="Arial" panose="020B0604020202020204" pitchFamily="34" charset="0"/>
                  </a:rPr>
                  <a:t> </a:t>
                </a:r>
                <a:r>
                  <a:rPr lang="es-MX" altLang="en-US" sz="1800" dirty="0">
                    <a:solidFill>
                      <a:srgbClr val="000000"/>
                    </a:solidFill>
                    <a:latin typeface="Arial" panose="020B0604020202020204" pitchFamily="34" charset="0"/>
                  </a:rPr>
                  <a:t> </a:t>
                </a:r>
                <a14:m>
                  <m:oMath xmlns:m="http://schemas.openxmlformats.org/officeDocument/2006/math">
                    <m:r>
                      <a:rPr lang="es-AR" altLang="en-US" sz="2200" i="1">
                        <a:solidFill>
                          <a:srgbClr val="000000"/>
                        </a:solidFill>
                        <a:latin typeface="Cambria Math" panose="02040503050406030204" pitchFamily="18" charset="0"/>
                      </a:rPr>
                      <m:t>𝑛</m:t>
                    </m:r>
                    <m:r>
                      <a:rPr lang="es-AR" altLang="en-US" sz="2200" i="1">
                        <a:solidFill>
                          <a:srgbClr val="000000"/>
                        </a:solidFill>
                        <a:latin typeface="Cambria Math" panose="02040503050406030204" pitchFamily="18" charset="0"/>
                      </a:rPr>
                      <m:t> </m:t>
                    </m:r>
                  </m:oMath>
                </a14:m>
                <a:r>
                  <a:rPr lang="es-MX" altLang="en-US" sz="2000" dirty="0">
                    <a:latin typeface="Arial" panose="020B0604020202020204" pitchFamily="34" charset="0"/>
                  </a:rPr>
                  <a:t> sorteos.</a:t>
                </a:r>
                <a:endParaRPr lang="en-US" altLang="en-US" sz="2000" dirty="0">
                  <a:latin typeface="Arial" panose="020B0604020202020204" pitchFamily="34" charset="0"/>
                </a:endParaRPr>
              </a:p>
            </p:txBody>
          </p:sp>
        </mc:Choice>
        <mc:Fallback xmlns="">
          <p:sp>
            <p:nvSpPr>
              <p:cNvPr id="9219" name="Text Box 3"/>
              <p:cNvSpPr txBox="1">
                <a:spLocks noRot="1" noChangeAspect="1" noMove="1" noResize="1" noEditPoints="1" noAdjustHandles="1" noChangeArrowheads="1" noChangeShapeType="1" noTextEdit="1"/>
              </p:cNvSpPr>
              <p:nvPr/>
            </p:nvSpPr>
            <p:spPr bwMode="auto">
              <a:xfrm>
                <a:off x="1295400" y="1676400"/>
                <a:ext cx="7391400" cy="2053767"/>
              </a:xfrm>
              <a:prstGeom prst="rect">
                <a:avLst/>
              </a:prstGeom>
              <a:blipFill>
                <a:blip r:embed="rId2"/>
                <a:stretch>
                  <a:fillRect l="-908" t="-297" r="-825" b="-4154"/>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3" name="TextBox 2"/>
              <p:cNvSpPr txBox="1"/>
              <p:nvPr/>
            </p:nvSpPr>
            <p:spPr>
              <a:xfrm>
                <a:off x="2212037" y="5301208"/>
                <a:ext cx="5558125" cy="101816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800" i="1" smtClean="0">
                              <a:latin typeface="Cambria Math" panose="02040503050406030204" pitchFamily="18" charset="0"/>
                            </a:rPr>
                          </m:ctrlPr>
                        </m:sSubPr>
                        <m:e>
                          <m:r>
                            <m:rPr>
                              <m:nor/>
                            </m:rPr>
                            <a:rPr lang="es-AR" sz="2800" b="0" i="0" smtClean="0">
                              <a:latin typeface="Cambria Math" panose="02040503050406030204" pitchFamily="18" charset="0"/>
                            </a:rPr>
                            <m:t>P</m:t>
                          </m:r>
                        </m:e>
                        <m:sub>
                          <m:r>
                            <a:rPr lang="es-AR" sz="2800" b="0" i="1" smtClean="0">
                              <a:latin typeface="Cambria Math" panose="02040503050406030204" pitchFamily="18" charset="0"/>
                            </a:rPr>
                            <m:t>𝑏</m:t>
                          </m:r>
                        </m:sub>
                      </m:sSub>
                      <m:r>
                        <a:rPr lang="es-AR" sz="2800" b="0" i="1" smtClean="0">
                          <a:latin typeface="Cambria Math" panose="02040503050406030204" pitchFamily="18" charset="0"/>
                        </a:rPr>
                        <m:t>=</m:t>
                      </m:r>
                      <m:r>
                        <a:rPr lang="es-AR" sz="2800" i="1">
                          <a:latin typeface="Cambria Math" panose="02040503050406030204" pitchFamily="18" charset="0"/>
                        </a:rPr>
                        <m:t>1−</m:t>
                      </m:r>
                      <m:sSup>
                        <m:sSupPr>
                          <m:ctrlPr>
                            <a:rPr lang="es-AR" sz="2800" i="1">
                              <a:latin typeface="Cambria Math" panose="02040503050406030204" pitchFamily="18" charset="0"/>
                            </a:rPr>
                          </m:ctrlPr>
                        </m:sSupPr>
                        <m:e>
                          <m:d>
                            <m:dPr>
                              <m:ctrlPr>
                                <a:rPr lang="es-AR" sz="2800" i="1">
                                  <a:latin typeface="Cambria Math" panose="02040503050406030204" pitchFamily="18" charset="0"/>
                                </a:rPr>
                              </m:ctrlPr>
                            </m:dPr>
                            <m:e>
                              <m:r>
                                <a:rPr lang="es-AR" sz="2800" b="0" i="1" smtClean="0">
                                  <a:latin typeface="Cambria Math" panose="02040503050406030204" pitchFamily="18" charset="0"/>
                                </a:rPr>
                                <m:t>1−</m:t>
                              </m:r>
                              <m:f>
                                <m:fPr>
                                  <m:ctrlPr>
                                    <a:rPr lang="es-AR" sz="2800" i="1">
                                      <a:latin typeface="Cambria Math" panose="02040503050406030204" pitchFamily="18" charset="0"/>
                                    </a:rPr>
                                  </m:ctrlPr>
                                </m:fPr>
                                <m:num>
                                  <m:r>
                                    <a:rPr lang="es-AR" sz="2800" i="1">
                                      <a:latin typeface="Cambria Math" panose="02040503050406030204" pitchFamily="18" charset="0"/>
                                    </a:rPr>
                                    <m:t>1</m:t>
                                  </m:r>
                                </m:num>
                                <m:den>
                                  <m:r>
                                    <a:rPr lang="es-AR" sz="2800" i="1">
                                      <a:latin typeface="Cambria Math" panose="02040503050406030204" pitchFamily="18" charset="0"/>
                                    </a:rPr>
                                    <m:t>𝑁</m:t>
                                  </m:r>
                                </m:den>
                              </m:f>
                            </m:e>
                          </m:d>
                        </m:e>
                        <m:sup>
                          <m:r>
                            <a:rPr lang="es-AR" sz="2800" i="1">
                              <a:latin typeface="Cambria Math" panose="02040503050406030204" pitchFamily="18" charset="0"/>
                            </a:rPr>
                            <m:t>𝑛</m:t>
                          </m:r>
                        </m:sup>
                      </m:sSup>
                      <m:r>
                        <a:rPr lang="es-AR" sz="2800" i="1" smtClean="0">
                          <a:latin typeface="Cambria Math" panose="02040503050406030204" pitchFamily="18" charset="0"/>
                          <a:ea typeface="Cambria Math" panose="02040503050406030204" pitchFamily="18" charset="0"/>
                        </a:rPr>
                        <m:t>≈</m:t>
                      </m:r>
                      <m:f>
                        <m:fPr>
                          <m:ctrlPr>
                            <a:rPr lang="es-AR" sz="2800" i="1">
                              <a:latin typeface="Cambria Math" panose="02040503050406030204" pitchFamily="18" charset="0"/>
                              <a:ea typeface="Cambria Math" panose="02040503050406030204" pitchFamily="18" charset="0"/>
                            </a:rPr>
                          </m:ctrlPr>
                        </m:fPr>
                        <m:num>
                          <m:r>
                            <a:rPr lang="es-AR" sz="2800" i="1">
                              <a:latin typeface="Cambria Math" panose="02040503050406030204" pitchFamily="18" charset="0"/>
                              <a:ea typeface="Cambria Math" panose="02040503050406030204" pitchFamily="18" charset="0"/>
                            </a:rPr>
                            <m:t>𝑛</m:t>
                          </m:r>
                        </m:num>
                        <m:den>
                          <m:r>
                            <a:rPr lang="es-AR" sz="2800" i="1">
                              <a:latin typeface="Cambria Math" panose="02040503050406030204" pitchFamily="18" charset="0"/>
                              <a:ea typeface="Cambria Math" panose="02040503050406030204" pitchFamily="18" charset="0"/>
                            </a:rPr>
                            <m:t>𝑁</m:t>
                          </m:r>
                        </m:den>
                      </m:f>
                      <m:r>
                        <a:rPr lang="es-AR" sz="2800" b="0" i="1" smtClean="0">
                          <a:latin typeface="Cambria Math" panose="02040503050406030204" pitchFamily="18" charset="0"/>
                          <a:ea typeface="Cambria Math" panose="02040503050406030204" pitchFamily="18" charset="0"/>
                        </a:rPr>
                        <m:t>−</m:t>
                      </m:r>
                      <m:f>
                        <m:fPr>
                          <m:ctrlPr>
                            <a:rPr lang="es-AR" sz="2800" i="1">
                              <a:latin typeface="Cambria Math" panose="02040503050406030204" pitchFamily="18" charset="0"/>
                              <a:ea typeface="Cambria Math" panose="02040503050406030204" pitchFamily="18" charset="0"/>
                            </a:rPr>
                          </m:ctrlPr>
                        </m:fPr>
                        <m:num>
                          <m:r>
                            <a:rPr lang="es-AR" sz="2800" i="1">
                              <a:latin typeface="Cambria Math" panose="02040503050406030204" pitchFamily="18" charset="0"/>
                              <a:ea typeface="Cambria Math" panose="02040503050406030204" pitchFamily="18" charset="0"/>
                            </a:rPr>
                            <m:t>𝑛</m:t>
                          </m:r>
                          <m:d>
                            <m:dPr>
                              <m:ctrlPr>
                                <a:rPr lang="es-AR" sz="2800" i="1">
                                  <a:latin typeface="Cambria Math" panose="02040503050406030204" pitchFamily="18" charset="0"/>
                                  <a:ea typeface="Cambria Math" panose="02040503050406030204" pitchFamily="18" charset="0"/>
                                </a:rPr>
                              </m:ctrlPr>
                            </m:dPr>
                            <m:e>
                              <m:r>
                                <a:rPr lang="es-AR" sz="2800" i="1">
                                  <a:latin typeface="Cambria Math" panose="02040503050406030204" pitchFamily="18" charset="0"/>
                                  <a:ea typeface="Cambria Math" panose="02040503050406030204" pitchFamily="18" charset="0"/>
                                </a:rPr>
                                <m:t>𝑛</m:t>
                              </m:r>
                              <m:r>
                                <a:rPr lang="es-AR" sz="2800" i="1">
                                  <a:latin typeface="Cambria Math" panose="02040503050406030204" pitchFamily="18" charset="0"/>
                                  <a:ea typeface="Cambria Math" panose="02040503050406030204" pitchFamily="18" charset="0"/>
                                </a:rPr>
                                <m:t>−1</m:t>
                              </m:r>
                            </m:e>
                          </m:d>
                        </m:num>
                        <m:den>
                          <m:r>
                            <a:rPr lang="es-AR" sz="2800" i="1">
                              <a:latin typeface="Cambria Math" panose="02040503050406030204" pitchFamily="18" charset="0"/>
                              <a:ea typeface="Cambria Math" panose="02040503050406030204" pitchFamily="18" charset="0"/>
                            </a:rPr>
                            <m:t>2</m:t>
                          </m:r>
                          <m:sSup>
                            <m:sSupPr>
                              <m:ctrlPr>
                                <a:rPr lang="es-AR" sz="2800" i="1">
                                  <a:latin typeface="Cambria Math" panose="02040503050406030204" pitchFamily="18" charset="0"/>
                                  <a:ea typeface="Cambria Math" panose="02040503050406030204" pitchFamily="18" charset="0"/>
                                </a:rPr>
                              </m:ctrlPr>
                            </m:sSupPr>
                            <m:e>
                              <m:r>
                                <a:rPr lang="es-AR" sz="2800" i="1">
                                  <a:latin typeface="Cambria Math" panose="02040503050406030204" pitchFamily="18" charset="0"/>
                                  <a:ea typeface="Cambria Math" panose="02040503050406030204" pitchFamily="18" charset="0"/>
                                </a:rPr>
                                <m:t>𝑁</m:t>
                              </m:r>
                            </m:e>
                            <m:sup>
                              <m:r>
                                <a:rPr lang="es-AR" sz="2800" i="1">
                                  <a:latin typeface="Cambria Math" panose="02040503050406030204" pitchFamily="18" charset="0"/>
                                  <a:ea typeface="Cambria Math" panose="02040503050406030204" pitchFamily="18" charset="0"/>
                                </a:rPr>
                                <m:t>2</m:t>
                              </m:r>
                            </m:sup>
                          </m:sSup>
                        </m:den>
                      </m:f>
                    </m:oMath>
                  </m:oMathPara>
                </a14:m>
                <a:endParaRPr lang="en-US" sz="2800" dirty="0"/>
              </a:p>
            </p:txBody>
          </p:sp>
        </mc:Choice>
        <mc:Fallback xmlns="">
          <p:sp>
            <p:nvSpPr>
              <p:cNvPr id="3" name="TextBox 2"/>
              <p:cNvSpPr txBox="1">
                <a:spLocks noRot="1" noChangeAspect="1" noMove="1" noResize="1" noEditPoints="1" noAdjustHandles="1" noChangeArrowheads="1" noChangeShapeType="1" noTextEdit="1"/>
              </p:cNvSpPr>
              <p:nvPr/>
            </p:nvSpPr>
            <p:spPr>
              <a:xfrm>
                <a:off x="2212037" y="5301208"/>
                <a:ext cx="5558125" cy="1018164"/>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3779912" y="4077072"/>
                <a:ext cx="2081154" cy="73513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800" i="1" smtClean="0">
                              <a:latin typeface="Cambria Math" panose="02040503050406030204" pitchFamily="18" charset="0"/>
                            </a:rPr>
                          </m:ctrlPr>
                        </m:sSubPr>
                        <m:e>
                          <m:r>
                            <m:rPr>
                              <m:nor/>
                            </m:rPr>
                            <a:rPr lang="es-AR" sz="2800" b="0" i="0" smtClean="0">
                              <a:latin typeface="Cambria Math" panose="02040503050406030204" pitchFamily="18" charset="0"/>
                            </a:rPr>
                            <m:t>P</m:t>
                          </m:r>
                        </m:e>
                        <m:sub>
                          <m:r>
                            <a:rPr lang="es-AR" sz="2800" b="0" i="1" smtClean="0">
                              <a:latin typeface="Cambria Math" panose="02040503050406030204" pitchFamily="18" charset="0"/>
                            </a:rPr>
                            <m:t>𝑎</m:t>
                          </m:r>
                        </m:sub>
                      </m:sSub>
                      <m:r>
                        <a:rPr lang="es-AR" sz="2800" b="0" i="1" smtClean="0">
                          <a:latin typeface="Cambria Math" panose="02040503050406030204" pitchFamily="18" charset="0"/>
                        </a:rPr>
                        <m:t>= </m:t>
                      </m:r>
                      <m:f>
                        <m:fPr>
                          <m:ctrlPr>
                            <a:rPr lang="es-AR" sz="2800" b="0" i="1" smtClean="0">
                              <a:latin typeface="Cambria Math" panose="02040503050406030204" pitchFamily="18" charset="0"/>
                            </a:rPr>
                          </m:ctrlPr>
                        </m:fPr>
                        <m:num>
                          <m:r>
                            <a:rPr lang="es-AR" sz="2800" b="0" i="1" smtClean="0">
                              <a:latin typeface="Cambria Math" panose="02040503050406030204" pitchFamily="18" charset="0"/>
                            </a:rPr>
                            <m:t>𝑛</m:t>
                          </m:r>
                        </m:num>
                        <m:den>
                          <m:r>
                            <a:rPr lang="es-AR" sz="2800" b="0" i="1" smtClean="0">
                              <a:latin typeface="Cambria Math" panose="02040503050406030204" pitchFamily="18" charset="0"/>
                            </a:rPr>
                            <m:t>𝑁</m:t>
                          </m:r>
                        </m:den>
                      </m:f>
                    </m:oMath>
                  </m:oMathPara>
                </a14:m>
                <a:endParaRPr lang="en-US" sz="2800" dirty="0"/>
              </a:p>
            </p:txBody>
          </p:sp>
        </mc:Choice>
        <mc:Fallback xmlns="">
          <p:sp>
            <p:nvSpPr>
              <p:cNvPr id="7" name="TextBox 6"/>
              <p:cNvSpPr txBox="1">
                <a:spLocks noRot="1" noChangeAspect="1" noMove="1" noResize="1" noEditPoints="1" noAdjustHandles="1" noChangeArrowheads="1" noChangeShapeType="1" noTextEdit="1"/>
              </p:cNvSpPr>
              <p:nvPr/>
            </p:nvSpPr>
            <p:spPr>
              <a:xfrm>
                <a:off x="3779912" y="4077072"/>
                <a:ext cx="2081154" cy="735138"/>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828347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Text Box 3"/>
          <p:cNvSpPr txBox="1">
            <a:spLocks noChangeArrowheads="1"/>
          </p:cNvSpPr>
          <p:nvPr/>
        </p:nvSpPr>
        <p:spPr bwMode="auto">
          <a:xfrm>
            <a:off x="1295400" y="1828800"/>
            <a:ext cx="739140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50000"/>
              </a:spcBef>
              <a:buFontTx/>
              <a:buNone/>
            </a:pPr>
            <a:r>
              <a:rPr lang="es-MX" altLang="en-US" sz="2000" dirty="0">
                <a:latin typeface="Arial" panose="020B0604020202020204" pitchFamily="34" charset="0"/>
              </a:rPr>
              <a:t>En el banco de un aula, hay 4 asientos disponibles. ¿Cuál es la probabilidad de que Alicia y Bautista se sienten dejando libre el asiento junto a la pared? </a:t>
            </a:r>
            <a:endParaRPr lang="en-US" altLang="en-US" sz="2000" dirty="0">
              <a:latin typeface="Arial" panose="020B0604020202020204" pitchFamily="34" charset="0"/>
            </a:endParaRPr>
          </a:p>
        </p:txBody>
      </p:sp>
      <p:sp>
        <p:nvSpPr>
          <p:cNvPr id="11" name="Rectangle 2"/>
          <p:cNvSpPr txBox="1">
            <a:spLocks noChangeArrowheads="1"/>
          </p:cNvSpPr>
          <p:nvPr/>
        </p:nvSpPr>
        <p:spPr bwMode="auto">
          <a:xfrm>
            <a:off x="1066800" y="355599"/>
            <a:ext cx="7620000" cy="1216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a:lstStyle>
          <a:p>
            <a:pPr eaLnBrk="1" hangingPunct="1"/>
            <a:r>
              <a:rPr lang="es-MX" altLang="en-US" sz="3200" b="1" dirty="0">
                <a:latin typeface="Broadway" panose="04040905080B02020502" pitchFamily="82" charset="0"/>
              </a:rPr>
              <a:t>Cálculo de probabilidades con la regla de Laplace</a:t>
            </a:r>
            <a:endParaRPr lang="en-US" altLang="en-US" sz="3200" b="1" dirty="0">
              <a:latin typeface="Broadway" panose="04040905080B02020502" pitchFamily="82"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Text Box 4"/>
          <p:cNvSpPr txBox="1">
            <a:spLocks noChangeArrowheads="1"/>
          </p:cNvSpPr>
          <p:nvPr/>
        </p:nvSpPr>
        <p:spPr bwMode="auto">
          <a:xfrm>
            <a:off x="3810000" y="1819350"/>
            <a:ext cx="21336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s-MX" altLang="en-US" sz="1800" dirty="0">
                <a:latin typeface="Broadway" panose="04040905080B02020502" pitchFamily="82" charset="0"/>
              </a:rPr>
              <a:t>Casos posibles </a:t>
            </a:r>
            <a:endParaRPr lang="en-US" altLang="en-US" sz="1800" dirty="0">
              <a:latin typeface="Broadway" panose="04040905080B02020502" pitchFamily="82" charset="0"/>
            </a:endParaRPr>
          </a:p>
        </p:txBody>
      </p:sp>
      <p:sp>
        <p:nvSpPr>
          <p:cNvPr id="11" name="Rectangle 2"/>
          <p:cNvSpPr txBox="1">
            <a:spLocks noChangeArrowheads="1"/>
          </p:cNvSpPr>
          <p:nvPr/>
        </p:nvSpPr>
        <p:spPr bwMode="auto">
          <a:xfrm>
            <a:off x="1066800" y="355599"/>
            <a:ext cx="7620000" cy="1216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a:lstStyle>
          <a:p>
            <a:pPr eaLnBrk="1" hangingPunct="1"/>
            <a:r>
              <a:rPr lang="es-MX" altLang="en-US" sz="3200" b="1" dirty="0">
                <a:latin typeface="Broadway" panose="04040905080B02020502" pitchFamily="82" charset="0"/>
              </a:rPr>
              <a:t>Cálculo de probabilidades con la regla de Laplace</a:t>
            </a:r>
            <a:endParaRPr lang="en-US" altLang="en-US" sz="3200" b="1" dirty="0">
              <a:latin typeface="Broadway" panose="04040905080B02020502" pitchFamily="82" charset="0"/>
            </a:endParaRPr>
          </a:p>
        </p:txBody>
      </p:sp>
      <p:graphicFrame>
        <p:nvGraphicFramePr>
          <p:cNvPr id="2" name="Table 1">
            <a:extLst>
              <a:ext uri="{FF2B5EF4-FFF2-40B4-BE49-F238E27FC236}">
                <a16:creationId xmlns:a16="http://schemas.microsoft.com/office/drawing/2014/main" id="{544E6A9D-C011-4C1B-B934-22A432889165}"/>
              </a:ext>
            </a:extLst>
          </p:cNvPr>
          <p:cNvGraphicFramePr>
            <a:graphicFrameLocks noGrp="1"/>
          </p:cNvGraphicFramePr>
          <p:nvPr>
            <p:extLst>
              <p:ext uri="{D42A27DB-BD31-4B8C-83A1-F6EECF244321}">
                <p14:modId xmlns:p14="http://schemas.microsoft.com/office/powerpoint/2010/main" val="3569876161"/>
              </p:ext>
            </p:extLst>
          </p:nvPr>
        </p:nvGraphicFramePr>
        <p:xfrm>
          <a:off x="1403648" y="2521831"/>
          <a:ext cx="3456385" cy="365760"/>
        </p:xfrm>
        <a:graphic>
          <a:graphicData uri="http://schemas.openxmlformats.org/drawingml/2006/table">
            <a:tbl>
              <a:tblPr firstRow="1" bandRow="1">
                <a:tableStyleId>{5C22544A-7EE6-4342-B048-85BDC9FD1C3A}</a:tableStyleId>
              </a:tblPr>
              <a:tblGrid>
                <a:gridCol w="877812">
                  <a:extLst>
                    <a:ext uri="{9D8B030D-6E8A-4147-A177-3AD203B41FA5}">
                      <a16:colId xmlns:a16="http://schemas.microsoft.com/office/drawing/2014/main" val="53470728"/>
                    </a:ext>
                  </a:extLst>
                </a:gridCol>
                <a:gridCol w="932675">
                  <a:extLst>
                    <a:ext uri="{9D8B030D-6E8A-4147-A177-3AD203B41FA5}">
                      <a16:colId xmlns:a16="http://schemas.microsoft.com/office/drawing/2014/main" val="1492904940"/>
                    </a:ext>
                  </a:extLst>
                </a:gridCol>
                <a:gridCol w="822949">
                  <a:extLst>
                    <a:ext uri="{9D8B030D-6E8A-4147-A177-3AD203B41FA5}">
                      <a16:colId xmlns:a16="http://schemas.microsoft.com/office/drawing/2014/main" val="403801961"/>
                    </a:ext>
                  </a:extLst>
                </a:gridCol>
                <a:gridCol w="822949">
                  <a:extLst>
                    <a:ext uri="{9D8B030D-6E8A-4147-A177-3AD203B41FA5}">
                      <a16:colId xmlns:a16="http://schemas.microsoft.com/office/drawing/2014/main" val="1813496922"/>
                    </a:ext>
                  </a:extLst>
                </a:gridCol>
              </a:tblGrid>
              <a:tr h="337279">
                <a:tc>
                  <a:txBody>
                    <a:bodyPr/>
                    <a:lstStyle/>
                    <a:p>
                      <a:pPr algn="ctr"/>
                      <a:r>
                        <a:rPr lang="es-AR" dirty="0">
                          <a:solidFill>
                            <a:schemeClr val="tx2">
                              <a:lumMod val="75000"/>
                              <a:lumOff val="25000"/>
                            </a:schemeClr>
                          </a:solidFill>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ctr"/>
                      <a:r>
                        <a:rPr lang="es-AR" dirty="0">
                          <a:solidFill>
                            <a:schemeClr val="tx2">
                              <a:lumMod val="75000"/>
                              <a:lumOff val="25000"/>
                            </a:schemeClr>
                          </a:solidFill>
                        </a:rPr>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ctr"/>
                      <a:endParaRPr lang="es-AR" dirty="0">
                        <a:solidFill>
                          <a:schemeClr val="tx2">
                            <a:lumMod val="75000"/>
                            <a:lumOff val="2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ctr"/>
                      <a:endParaRPr lang="es-AR" dirty="0">
                        <a:solidFill>
                          <a:schemeClr val="tx2">
                            <a:lumMod val="75000"/>
                            <a:lumOff val="2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extLst>
                  <a:ext uri="{0D108BD9-81ED-4DB2-BD59-A6C34878D82A}">
                    <a16:rowId xmlns:a16="http://schemas.microsoft.com/office/drawing/2014/main" val="1523191605"/>
                  </a:ext>
                </a:extLst>
              </a:tr>
            </a:tbl>
          </a:graphicData>
        </a:graphic>
      </p:graphicFrame>
      <p:sp>
        <p:nvSpPr>
          <p:cNvPr id="3" name="Left Brace 2">
            <a:extLst>
              <a:ext uri="{FF2B5EF4-FFF2-40B4-BE49-F238E27FC236}">
                <a16:creationId xmlns:a16="http://schemas.microsoft.com/office/drawing/2014/main" id="{52963C1B-86C8-4ADF-AE48-B87014A15BB8}"/>
              </a:ext>
            </a:extLst>
          </p:cNvPr>
          <p:cNvSpPr/>
          <p:nvPr/>
        </p:nvSpPr>
        <p:spPr bwMode="auto">
          <a:xfrm>
            <a:off x="1057680" y="2519005"/>
            <a:ext cx="261743" cy="800561"/>
          </a:xfrm>
          <a:prstGeom prst="leftBrace">
            <a:avLst/>
          </a:prstGeom>
          <a:noFill/>
          <a:ln w="28575" cap="flat" cmpd="sng" algn="ctr">
            <a:solidFill>
              <a:schemeClr val="tx2">
                <a:lumMod val="75000"/>
                <a:lumOff val="25000"/>
              </a:schemeClr>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s-AR" sz="2400" b="0" i="0" u="none" strike="noStrike" cap="none" normalizeH="0" baseline="0">
              <a:ln>
                <a:noFill/>
              </a:ln>
              <a:solidFill>
                <a:schemeClr val="tx1"/>
              </a:solidFill>
              <a:effectLst/>
              <a:latin typeface="Times New Roman" panose="02020603050405020304" pitchFamily="18" charset="0"/>
            </a:endParaRPr>
          </a:p>
        </p:txBody>
      </p:sp>
      <p:sp>
        <p:nvSpPr>
          <p:cNvPr id="16" name="Left Brace 15">
            <a:extLst>
              <a:ext uri="{FF2B5EF4-FFF2-40B4-BE49-F238E27FC236}">
                <a16:creationId xmlns:a16="http://schemas.microsoft.com/office/drawing/2014/main" id="{B0AF2D2C-79ED-482D-822E-2BE147BC0D9A}"/>
              </a:ext>
            </a:extLst>
          </p:cNvPr>
          <p:cNvSpPr/>
          <p:nvPr/>
        </p:nvSpPr>
        <p:spPr bwMode="auto">
          <a:xfrm>
            <a:off x="1057680" y="3420527"/>
            <a:ext cx="261743" cy="800561"/>
          </a:xfrm>
          <a:prstGeom prst="leftBrace">
            <a:avLst/>
          </a:prstGeom>
          <a:noFill/>
          <a:ln w="28575" cap="flat" cmpd="sng" algn="ctr">
            <a:solidFill>
              <a:schemeClr val="tx2">
                <a:lumMod val="75000"/>
                <a:lumOff val="25000"/>
              </a:schemeClr>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s-AR" sz="2400" b="0" i="0" u="none" strike="noStrike" cap="none" normalizeH="0" baseline="0">
              <a:ln>
                <a:noFill/>
              </a:ln>
              <a:solidFill>
                <a:schemeClr val="tx1"/>
              </a:solidFill>
              <a:effectLst/>
              <a:latin typeface="Times New Roman" panose="02020603050405020304" pitchFamily="18" charset="0"/>
            </a:endParaRPr>
          </a:p>
        </p:txBody>
      </p:sp>
      <p:sp>
        <p:nvSpPr>
          <p:cNvPr id="17" name="Left Brace 16">
            <a:extLst>
              <a:ext uri="{FF2B5EF4-FFF2-40B4-BE49-F238E27FC236}">
                <a16:creationId xmlns:a16="http://schemas.microsoft.com/office/drawing/2014/main" id="{B54DE829-E1C3-489D-BA66-F3E327356052}"/>
              </a:ext>
            </a:extLst>
          </p:cNvPr>
          <p:cNvSpPr/>
          <p:nvPr/>
        </p:nvSpPr>
        <p:spPr bwMode="auto">
          <a:xfrm>
            <a:off x="1057680" y="4284623"/>
            <a:ext cx="261743" cy="800561"/>
          </a:xfrm>
          <a:prstGeom prst="leftBrace">
            <a:avLst/>
          </a:prstGeom>
          <a:noFill/>
          <a:ln w="28575" cap="flat" cmpd="sng" algn="ctr">
            <a:solidFill>
              <a:schemeClr val="tx2">
                <a:lumMod val="75000"/>
                <a:lumOff val="25000"/>
              </a:schemeClr>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s-AR" sz="2400" b="0" i="0" u="none" strike="noStrike" cap="none" normalizeH="0" baseline="0">
              <a:ln>
                <a:noFill/>
              </a:ln>
              <a:solidFill>
                <a:schemeClr val="tx1"/>
              </a:solidFill>
              <a:effectLst/>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989F7B6C-F967-4A9E-824D-6AAC115F4A81}"/>
                  </a:ext>
                </a:extLst>
              </p:cNvPr>
              <p:cNvSpPr txBox="1"/>
              <p:nvPr/>
            </p:nvSpPr>
            <p:spPr>
              <a:xfrm>
                <a:off x="3331697" y="5670424"/>
                <a:ext cx="773225" cy="69147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s-AR" i="1" smtClean="0">
                              <a:latin typeface="Cambria Math" panose="02040503050406030204" pitchFamily="18" charset="0"/>
                            </a:rPr>
                          </m:ctrlPr>
                        </m:fPr>
                        <m:num>
                          <m:r>
                            <a:rPr lang="es-AR" b="0" i="1" smtClean="0">
                              <a:latin typeface="Cambria Math" panose="02040503050406030204" pitchFamily="18" charset="0"/>
                            </a:rPr>
                            <m:t>4</m:t>
                          </m:r>
                          <m:r>
                            <a:rPr lang="es-AR" b="0" i="1" smtClean="0">
                              <a:latin typeface="Cambria Math" panose="02040503050406030204" pitchFamily="18" charset="0"/>
                              <a:ea typeface="Cambria Math" panose="02040503050406030204" pitchFamily="18" charset="0"/>
                            </a:rPr>
                            <m:t>×3</m:t>
                          </m:r>
                        </m:num>
                        <m:den>
                          <m:r>
                            <a:rPr lang="es-AR" b="0" i="1" smtClean="0">
                              <a:latin typeface="Cambria Math" panose="02040503050406030204" pitchFamily="18" charset="0"/>
                            </a:rPr>
                            <m:t>2</m:t>
                          </m:r>
                        </m:den>
                      </m:f>
                    </m:oMath>
                  </m:oMathPara>
                </a14:m>
                <a:endParaRPr lang="es-AR" dirty="0"/>
              </a:p>
            </p:txBody>
          </p:sp>
        </mc:Choice>
        <mc:Fallback xmlns="">
          <p:sp>
            <p:nvSpPr>
              <p:cNvPr id="4" name="TextBox 3">
                <a:extLst>
                  <a:ext uri="{FF2B5EF4-FFF2-40B4-BE49-F238E27FC236}">
                    <a16:creationId xmlns:a16="http://schemas.microsoft.com/office/drawing/2014/main" id="{989F7B6C-F967-4A9E-824D-6AAC115F4A81}"/>
                  </a:ext>
                </a:extLst>
              </p:cNvPr>
              <p:cNvSpPr txBox="1">
                <a:spLocks noRot="1" noChangeAspect="1" noMove="1" noResize="1" noEditPoints="1" noAdjustHandles="1" noChangeArrowheads="1" noChangeShapeType="1" noTextEdit="1"/>
              </p:cNvSpPr>
              <p:nvPr/>
            </p:nvSpPr>
            <p:spPr>
              <a:xfrm>
                <a:off x="3331697" y="5670424"/>
                <a:ext cx="773225" cy="691471"/>
              </a:xfrm>
              <a:prstGeom prst="rect">
                <a:avLst/>
              </a:prstGeom>
              <a:blipFill>
                <a:blip r:embed="rId2"/>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FB728A2A-2755-47D5-9B6F-C63D530F95FF}"/>
                  </a:ext>
                </a:extLst>
              </p:cNvPr>
              <p:cNvSpPr txBox="1"/>
              <p:nvPr/>
            </p:nvSpPr>
            <p:spPr>
              <a:xfrm>
                <a:off x="4229101" y="5661248"/>
                <a:ext cx="1261864" cy="69012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s-AR" b="0" i="1" smtClean="0">
                          <a:latin typeface="Cambria Math" panose="02040503050406030204" pitchFamily="18" charset="0"/>
                        </a:rPr>
                        <m:t>=</m:t>
                      </m:r>
                      <m:f>
                        <m:fPr>
                          <m:ctrlPr>
                            <a:rPr lang="es-AR" i="1" smtClean="0">
                              <a:latin typeface="Cambria Math" panose="02040503050406030204" pitchFamily="18" charset="0"/>
                            </a:rPr>
                          </m:ctrlPr>
                        </m:fPr>
                        <m:num>
                          <m:r>
                            <a:rPr lang="es-AR" b="0" i="1" smtClean="0">
                              <a:latin typeface="Cambria Math" panose="02040503050406030204" pitchFamily="18" charset="0"/>
                            </a:rPr>
                            <m:t>4</m:t>
                          </m:r>
                          <m:r>
                            <a:rPr lang="es-AR" b="0" i="1" smtClean="0">
                              <a:latin typeface="Cambria Math" panose="02040503050406030204" pitchFamily="18" charset="0"/>
                              <a:ea typeface="Cambria Math" panose="02040503050406030204" pitchFamily="18" charset="0"/>
                            </a:rPr>
                            <m:t>!</m:t>
                          </m:r>
                        </m:num>
                        <m:den>
                          <m:r>
                            <a:rPr lang="es-AR" b="0" i="1" smtClean="0">
                              <a:latin typeface="Cambria Math" panose="02040503050406030204" pitchFamily="18" charset="0"/>
                            </a:rPr>
                            <m:t>2!</m:t>
                          </m:r>
                          <m:r>
                            <a:rPr lang="es-AR" b="0" i="1" smtClean="0">
                              <a:latin typeface="Cambria Math" panose="02040503050406030204" pitchFamily="18" charset="0"/>
                              <a:ea typeface="Cambria Math" panose="02040503050406030204" pitchFamily="18" charset="0"/>
                            </a:rPr>
                            <m:t>×2!</m:t>
                          </m:r>
                        </m:den>
                      </m:f>
                    </m:oMath>
                  </m:oMathPara>
                </a14:m>
                <a:endParaRPr lang="es-AR" dirty="0"/>
              </a:p>
            </p:txBody>
          </p:sp>
        </mc:Choice>
        <mc:Fallback xmlns="">
          <p:sp>
            <p:nvSpPr>
              <p:cNvPr id="19" name="TextBox 18">
                <a:extLst>
                  <a:ext uri="{FF2B5EF4-FFF2-40B4-BE49-F238E27FC236}">
                    <a16:creationId xmlns:a16="http://schemas.microsoft.com/office/drawing/2014/main" id="{FB728A2A-2755-47D5-9B6F-C63D530F95FF}"/>
                  </a:ext>
                </a:extLst>
              </p:cNvPr>
              <p:cNvSpPr txBox="1">
                <a:spLocks noRot="1" noChangeAspect="1" noMove="1" noResize="1" noEditPoints="1" noAdjustHandles="1" noChangeArrowheads="1" noChangeShapeType="1" noTextEdit="1"/>
              </p:cNvSpPr>
              <p:nvPr/>
            </p:nvSpPr>
            <p:spPr>
              <a:xfrm>
                <a:off x="4229101" y="5661248"/>
                <a:ext cx="1261864" cy="690125"/>
              </a:xfrm>
              <a:prstGeom prst="rect">
                <a:avLst/>
              </a:prstGeom>
              <a:blipFill>
                <a:blip r:embed="rId3"/>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475E7CAC-FA99-4E33-B0E9-5139BD51FC24}"/>
                  </a:ext>
                </a:extLst>
              </p:cNvPr>
              <p:cNvSpPr txBox="1"/>
              <p:nvPr/>
            </p:nvSpPr>
            <p:spPr>
              <a:xfrm>
                <a:off x="5574681" y="5733710"/>
                <a:ext cx="863313" cy="61209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AR" b="0" i="1" smtClean="0">
                          <a:latin typeface="Cambria Math" panose="02040503050406030204" pitchFamily="18" charset="0"/>
                        </a:rPr>
                        <m:t>=</m:t>
                      </m:r>
                      <m:d>
                        <m:dPr>
                          <m:ctrlPr>
                            <a:rPr lang="es-AR" i="1" smtClean="0">
                              <a:latin typeface="Cambria Math" panose="02040503050406030204" pitchFamily="18" charset="0"/>
                            </a:rPr>
                          </m:ctrlPr>
                        </m:dPr>
                        <m:e>
                          <m:m>
                            <m:mPr>
                              <m:mcs>
                                <m:mc>
                                  <m:mcPr>
                                    <m:count m:val="1"/>
                                    <m:mcJc m:val="center"/>
                                  </m:mcPr>
                                </m:mc>
                              </m:mcs>
                              <m:ctrlPr>
                                <a:rPr lang="es-AR" i="1" smtClean="0">
                                  <a:latin typeface="Cambria Math" panose="02040503050406030204" pitchFamily="18" charset="0"/>
                                </a:rPr>
                              </m:ctrlPr>
                            </m:mPr>
                            <m:mr>
                              <m:e>
                                <m:r>
                                  <a:rPr lang="es-AR" b="0" i="1" smtClean="0">
                                    <a:latin typeface="Cambria Math" panose="02040503050406030204" pitchFamily="18" charset="0"/>
                                  </a:rPr>
                                  <m:t>4</m:t>
                                </m:r>
                              </m:e>
                            </m:mr>
                            <m:mr>
                              <m:e>
                                <m:r>
                                  <a:rPr lang="es-AR" b="0" i="1" smtClean="0">
                                    <a:latin typeface="Cambria Math" panose="02040503050406030204" pitchFamily="18" charset="0"/>
                                  </a:rPr>
                                  <m:t>2</m:t>
                                </m:r>
                              </m:e>
                            </m:mr>
                          </m:m>
                        </m:e>
                      </m:d>
                    </m:oMath>
                  </m:oMathPara>
                </a14:m>
                <a:endParaRPr lang="es-AR" dirty="0"/>
              </a:p>
            </p:txBody>
          </p:sp>
        </mc:Choice>
        <mc:Fallback xmlns="">
          <p:sp>
            <p:nvSpPr>
              <p:cNvPr id="7" name="TextBox 6">
                <a:extLst>
                  <a:ext uri="{FF2B5EF4-FFF2-40B4-BE49-F238E27FC236}">
                    <a16:creationId xmlns:a16="http://schemas.microsoft.com/office/drawing/2014/main" id="{475E7CAC-FA99-4E33-B0E9-5139BD51FC24}"/>
                  </a:ext>
                </a:extLst>
              </p:cNvPr>
              <p:cNvSpPr txBox="1">
                <a:spLocks noRot="1" noChangeAspect="1" noMove="1" noResize="1" noEditPoints="1" noAdjustHandles="1" noChangeArrowheads="1" noChangeShapeType="1" noTextEdit="1"/>
              </p:cNvSpPr>
              <p:nvPr/>
            </p:nvSpPr>
            <p:spPr>
              <a:xfrm>
                <a:off x="5574681" y="5733710"/>
                <a:ext cx="863313" cy="612091"/>
              </a:xfrm>
              <a:prstGeom prst="rect">
                <a:avLst/>
              </a:prstGeom>
              <a:blipFill>
                <a:blip r:embed="rId4"/>
                <a:stretch>
                  <a:fillRect/>
                </a:stretch>
              </a:blipFill>
            </p:spPr>
            <p:txBody>
              <a:bodyPr/>
              <a:lstStyle/>
              <a:p>
                <a:r>
                  <a:rPr lang="es-AR">
                    <a:noFill/>
                  </a:rPr>
                  <a:t> </a:t>
                </a:r>
              </a:p>
            </p:txBody>
          </p:sp>
        </mc:Fallback>
      </mc:AlternateContent>
      <p:graphicFrame>
        <p:nvGraphicFramePr>
          <p:cNvPr id="18" name="Table 17">
            <a:extLst>
              <a:ext uri="{FF2B5EF4-FFF2-40B4-BE49-F238E27FC236}">
                <a16:creationId xmlns:a16="http://schemas.microsoft.com/office/drawing/2014/main" id="{C42C3F17-F0F6-45FD-AC50-C63D08A3903B}"/>
              </a:ext>
            </a:extLst>
          </p:cNvPr>
          <p:cNvGraphicFramePr>
            <a:graphicFrameLocks noGrp="1"/>
          </p:cNvGraphicFramePr>
          <p:nvPr>
            <p:extLst>
              <p:ext uri="{D42A27DB-BD31-4B8C-83A1-F6EECF244321}">
                <p14:modId xmlns:p14="http://schemas.microsoft.com/office/powerpoint/2010/main" val="1164300780"/>
              </p:ext>
            </p:extLst>
          </p:nvPr>
        </p:nvGraphicFramePr>
        <p:xfrm>
          <a:off x="1403648" y="2924944"/>
          <a:ext cx="3456385" cy="365760"/>
        </p:xfrm>
        <a:graphic>
          <a:graphicData uri="http://schemas.openxmlformats.org/drawingml/2006/table">
            <a:tbl>
              <a:tblPr firstRow="1" bandRow="1">
                <a:tableStyleId>{5C22544A-7EE6-4342-B048-85BDC9FD1C3A}</a:tableStyleId>
              </a:tblPr>
              <a:tblGrid>
                <a:gridCol w="877812">
                  <a:extLst>
                    <a:ext uri="{9D8B030D-6E8A-4147-A177-3AD203B41FA5}">
                      <a16:colId xmlns:a16="http://schemas.microsoft.com/office/drawing/2014/main" val="53470728"/>
                    </a:ext>
                  </a:extLst>
                </a:gridCol>
                <a:gridCol w="932675">
                  <a:extLst>
                    <a:ext uri="{9D8B030D-6E8A-4147-A177-3AD203B41FA5}">
                      <a16:colId xmlns:a16="http://schemas.microsoft.com/office/drawing/2014/main" val="1492904940"/>
                    </a:ext>
                  </a:extLst>
                </a:gridCol>
                <a:gridCol w="822949">
                  <a:extLst>
                    <a:ext uri="{9D8B030D-6E8A-4147-A177-3AD203B41FA5}">
                      <a16:colId xmlns:a16="http://schemas.microsoft.com/office/drawing/2014/main" val="403801961"/>
                    </a:ext>
                  </a:extLst>
                </a:gridCol>
                <a:gridCol w="822949">
                  <a:extLst>
                    <a:ext uri="{9D8B030D-6E8A-4147-A177-3AD203B41FA5}">
                      <a16:colId xmlns:a16="http://schemas.microsoft.com/office/drawing/2014/main" val="1813496922"/>
                    </a:ext>
                  </a:extLst>
                </a:gridCol>
              </a:tblGrid>
              <a:tr h="337279">
                <a:tc>
                  <a:txBody>
                    <a:bodyPr/>
                    <a:lstStyle/>
                    <a:p>
                      <a:pPr algn="ctr"/>
                      <a:r>
                        <a:rPr lang="es-AR" dirty="0">
                          <a:solidFill>
                            <a:schemeClr val="tx2">
                              <a:lumMod val="75000"/>
                              <a:lumOff val="25000"/>
                            </a:schemeClr>
                          </a:solidFill>
                        </a:rPr>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ctr"/>
                      <a:r>
                        <a:rPr lang="es-AR" dirty="0">
                          <a:solidFill>
                            <a:schemeClr val="tx2">
                              <a:lumMod val="75000"/>
                              <a:lumOff val="25000"/>
                            </a:schemeClr>
                          </a:solidFill>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ctr"/>
                      <a:endParaRPr lang="es-AR" dirty="0">
                        <a:solidFill>
                          <a:schemeClr val="tx2">
                            <a:lumMod val="75000"/>
                            <a:lumOff val="2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ctr"/>
                      <a:endParaRPr lang="es-AR" dirty="0">
                        <a:solidFill>
                          <a:schemeClr val="tx2">
                            <a:lumMod val="75000"/>
                            <a:lumOff val="2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extLst>
                  <a:ext uri="{0D108BD9-81ED-4DB2-BD59-A6C34878D82A}">
                    <a16:rowId xmlns:a16="http://schemas.microsoft.com/office/drawing/2014/main" val="1523191605"/>
                  </a:ext>
                </a:extLst>
              </a:tr>
            </a:tbl>
          </a:graphicData>
        </a:graphic>
      </p:graphicFrame>
      <p:graphicFrame>
        <p:nvGraphicFramePr>
          <p:cNvPr id="20" name="Table 19">
            <a:extLst>
              <a:ext uri="{FF2B5EF4-FFF2-40B4-BE49-F238E27FC236}">
                <a16:creationId xmlns:a16="http://schemas.microsoft.com/office/drawing/2014/main" id="{4004DD8C-1FEC-422E-82CF-F722C43589D1}"/>
              </a:ext>
            </a:extLst>
          </p:cNvPr>
          <p:cNvGraphicFramePr>
            <a:graphicFrameLocks noGrp="1"/>
          </p:cNvGraphicFramePr>
          <p:nvPr>
            <p:extLst>
              <p:ext uri="{D42A27DB-BD31-4B8C-83A1-F6EECF244321}">
                <p14:modId xmlns:p14="http://schemas.microsoft.com/office/powerpoint/2010/main" val="2766125452"/>
              </p:ext>
            </p:extLst>
          </p:nvPr>
        </p:nvGraphicFramePr>
        <p:xfrm>
          <a:off x="1403648" y="3429000"/>
          <a:ext cx="3456385" cy="365760"/>
        </p:xfrm>
        <a:graphic>
          <a:graphicData uri="http://schemas.openxmlformats.org/drawingml/2006/table">
            <a:tbl>
              <a:tblPr firstRow="1" bandRow="1">
                <a:tableStyleId>{5C22544A-7EE6-4342-B048-85BDC9FD1C3A}</a:tableStyleId>
              </a:tblPr>
              <a:tblGrid>
                <a:gridCol w="877812">
                  <a:extLst>
                    <a:ext uri="{9D8B030D-6E8A-4147-A177-3AD203B41FA5}">
                      <a16:colId xmlns:a16="http://schemas.microsoft.com/office/drawing/2014/main" val="53470728"/>
                    </a:ext>
                  </a:extLst>
                </a:gridCol>
                <a:gridCol w="932675">
                  <a:extLst>
                    <a:ext uri="{9D8B030D-6E8A-4147-A177-3AD203B41FA5}">
                      <a16:colId xmlns:a16="http://schemas.microsoft.com/office/drawing/2014/main" val="1492904940"/>
                    </a:ext>
                  </a:extLst>
                </a:gridCol>
                <a:gridCol w="822949">
                  <a:extLst>
                    <a:ext uri="{9D8B030D-6E8A-4147-A177-3AD203B41FA5}">
                      <a16:colId xmlns:a16="http://schemas.microsoft.com/office/drawing/2014/main" val="403801961"/>
                    </a:ext>
                  </a:extLst>
                </a:gridCol>
                <a:gridCol w="822949">
                  <a:extLst>
                    <a:ext uri="{9D8B030D-6E8A-4147-A177-3AD203B41FA5}">
                      <a16:colId xmlns:a16="http://schemas.microsoft.com/office/drawing/2014/main" val="1813496922"/>
                    </a:ext>
                  </a:extLst>
                </a:gridCol>
              </a:tblGrid>
              <a:tr h="337279">
                <a:tc>
                  <a:txBody>
                    <a:bodyPr/>
                    <a:lstStyle/>
                    <a:p>
                      <a:pPr algn="ctr"/>
                      <a:r>
                        <a:rPr lang="es-AR" dirty="0">
                          <a:solidFill>
                            <a:schemeClr val="tx2">
                              <a:lumMod val="75000"/>
                              <a:lumOff val="25000"/>
                            </a:schemeClr>
                          </a:solidFill>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ctr"/>
                      <a:endParaRPr lang="es-AR" dirty="0">
                        <a:solidFill>
                          <a:schemeClr val="tx2">
                            <a:lumMod val="75000"/>
                            <a:lumOff val="2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ctr"/>
                      <a:r>
                        <a:rPr lang="es-AR" dirty="0">
                          <a:solidFill>
                            <a:schemeClr val="tx2">
                              <a:lumMod val="75000"/>
                              <a:lumOff val="25000"/>
                            </a:schemeClr>
                          </a:solidFill>
                        </a:rPr>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ctr"/>
                      <a:endParaRPr lang="es-AR" dirty="0">
                        <a:solidFill>
                          <a:schemeClr val="tx2">
                            <a:lumMod val="75000"/>
                            <a:lumOff val="2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extLst>
                  <a:ext uri="{0D108BD9-81ED-4DB2-BD59-A6C34878D82A}">
                    <a16:rowId xmlns:a16="http://schemas.microsoft.com/office/drawing/2014/main" val="1523191605"/>
                  </a:ext>
                </a:extLst>
              </a:tr>
            </a:tbl>
          </a:graphicData>
        </a:graphic>
      </p:graphicFrame>
      <p:graphicFrame>
        <p:nvGraphicFramePr>
          <p:cNvPr id="21" name="Table 20">
            <a:extLst>
              <a:ext uri="{FF2B5EF4-FFF2-40B4-BE49-F238E27FC236}">
                <a16:creationId xmlns:a16="http://schemas.microsoft.com/office/drawing/2014/main" id="{34DA3855-E196-4623-A9C2-2FAA789AD657}"/>
              </a:ext>
            </a:extLst>
          </p:cNvPr>
          <p:cNvGraphicFramePr>
            <a:graphicFrameLocks noGrp="1"/>
          </p:cNvGraphicFramePr>
          <p:nvPr>
            <p:extLst>
              <p:ext uri="{D42A27DB-BD31-4B8C-83A1-F6EECF244321}">
                <p14:modId xmlns:p14="http://schemas.microsoft.com/office/powerpoint/2010/main" val="4238612147"/>
              </p:ext>
            </p:extLst>
          </p:nvPr>
        </p:nvGraphicFramePr>
        <p:xfrm>
          <a:off x="1403648" y="3832113"/>
          <a:ext cx="3456385" cy="365760"/>
        </p:xfrm>
        <a:graphic>
          <a:graphicData uri="http://schemas.openxmlformats.org/drawingml/2006/table">
            <a:tbl>
              <a:tblPr firstRow="1" bandRow="1">
                <a:tableStyleId>{5C22544A-7EE6-4342-B048-85BDC9FD1C3A}</a:tableStyleId>
              </a:tblPr>
              <a:tblGrid>
                <a:gridCol w="877812">
                  <a:extLst>
                    <a:ext uri="{9D8B030D-6E8A-4147-A177-3AD203B41FA5}">
                      <a16:colId xmlns:a16="http://schemas.microsoft.com/office/drawing/2014/main" val="53470728"/>
                    </a:ext>
                  </a:extLst>
                </a:gridCol>
                <a:gridCol w="932675">
                  <a:extLst>
                    <a:ext uri="{9D8B030D-6E8A-4147-A177-3AD203B41FA5}">
                      <a16:colId xmlns:a16="http://schemas.microsoft.com/office/drawing/2014/main" val="1492904940"/>
                    </a:ext>
                  </a:extLst>
                </a:gridCol>
                <a:gridCol w="822949">
                  <a:extLst>
                    <a:ext uri="{9D8B030D-6E8A-4147-A177-3AD203B41FA5}">
                      <a16:colId xmlns:a16="http://schemas.microsoft.com/office/drawing/2014/main" val="403801961"/>
                    </a:ext>
                  </a:extLst>
                </a:gridCol>
                <a:gridCol w="822949">
                  <a:extLst>
                    <a:ext uri="{9D8B030D-6E8A-4147-A177-3AD203B41FA5}">
                      <a16:colId xmlns:a16="http://schemas.microsoft.com/office/drawing/2014/main" val="1813496922"/>
                    </a:ext>
                  </a:extLst>
                </a:gridCol>
              </a:tblGrid>
              <a:tr h="337279">
                <a:tc>
                  <a:txBody>
                    <a:bodyPr/>
                    <a:lstStyle/>
                    <a:p>
                      <a:pPr algn="ctr"/>
                      <a:r>
                        <a:rPr lang="es-AR" dirty="0">
                          <a:solidFill>
                            <a:schemeClr val="tx2">
                              <a:lumMod val="75000"/>
                              <a:lumOff val="25000"/>
                            </a:schemeClr>
                          </a:solidFill>
                        </a:rPr>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ctr"/>
                      <a:endParaRPr lang="es-AR" dirty="0">
                        <a:solidFill>
                          <a:schemeClr val="tx2">
                            <a:lumMod val="75000"/>
                            <a:lumOff val="2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ctr"/>
                      <a:r>
                        <a:rPr lang="es-AR" dirty="0">
                          <a:solidFill>
                            <a:schemeClr val="tx2">
                              <a:lumMod val="75000"/>
                              <a:lumOff val="25000"/>
                            </a:schemeClr>
                          </a:solidFill>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ctr"/>
                      <a:endParaRPr lang="es-AR" dirty="0">
                        <a:solidFill>
                          <a:schemeClr val="tx2">
                            <a:lumMod val="75000"/>
                            <a:lumOff val="2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extLst>
                  <a:ext uri="{0D108BD9-81ED-4DB2-BD59-A6C34878D82A}">
                    <a16:rowId xmlns:a16="http://schemas.microsoft.com/office/drawing/2014/main" val="1523191605"/>
                  </a:ext>
                </a:extLst>
              </a:tr>
            </a:tbl>
          </a:graphicData>
        </a:graphic>
      </p:graphicFrame>
      <p:graphicFrame>
        <p:nvGraphicFramePr>
          <p:cNvPr id="22" name="Table 21">
            <a:extLst>
              <a:ext uri="{FF2B5EF4-FFF2-40B4-BE49-F238E27FC236}">
                <a16:creationId xmlns:a16="http://schemas.microsoft.com/office/drawing/2014/main" id="{463169A6-B080-4D99-B133-9CF9EAADD278}"/>
              </a:ext>
            </a:extLst>
          </p:cNvPr>
          <p:cNvGraphicFramePr>
            <a:graphicFrameLocks noGrp="1"/>
          </p:cNvGraphicFramePr>
          <p:nvPr>
            <p:extLst>
              <p:ext uri="{D42A27DB-BD31-4B8C-83A1-F6EECF244321}">
                <p14:modId xmlns:p14="http://schemas.microsoft.com/office/powerpoint/2010/main" val="4077822341"/>
              </p:ext>
            </p:extLst>
          </p:nvPr>
        </p:nvGraphicFramePr>
        <p:xfrm>
          <a:off x="1403648" y="4316311"/>
          <a:ext cx="3456385" cy="365760"/>
        </p:xfrm>
        <a:graphic>
          <a:graphicData uri="http://schemas.openxmlformats.org/drawingml/2006/table">
            <a:tbl>
              <a:tblPr firstRow="1" bandRow="1">
                <a:tableStyleId>{5C22544A-7EE6-4342-B048-85BDC9FD1C3A}</a:tableStyleId>
              </a:tblPr>
              <a:tblGrid>
                <a:gridCol w="877812">
                  <a:extLst>
                    <a:ext uri="{9D8B030D-6E8A-4147-A177-3AD203B41FA5}">
                      <a16:colId xmlns:a16="http://schemas.microsoft.com/office/drawing/2014/main" val="53470728"/>
                    </a:ext>
                  </a:extLst>
                </a:gridCol>
                <a:gridCol w="932675">
                  <a:extLst>
                    <a:ext uri="{9D8B030D-6E8A-4147-A177-3AD203B41FA5}">
                      <a16:colId xmlns:a16="http://schemas.microsoft.com/office/drawing/2014/main" val="1492904940"/>
                    </a:ext>
                  </a:extLst>
                </a:gridCol>
                <a:gridCol w="822949">
                  <a:extLst>
                    <a:ext uri="{9D8B030D-6E8A-4147-A177-3AD203B41FA5}">
                      <a16:colId xmlns:a16="http://schemas.microsoft.com/office/drawing/2014/main" val="403801961"/>
                    </a:ext>
                  </a:extLst>
                </a:gridCol>
                <a:gridCol w="822949">
                  <a:extLst>
                    <a:ext uri="{9D8B030D-6E8A-4147-A177-3AD203B41FA5}">
                      <a16:colId xmlns:a16="http://schemas.microsoft.com/office/drawing/2014/main" val="1813496922"/>
                    </a:ext>
                  </a:extLst>
                </a:gridCol>
              </a:tblGrid>
              <a:tr h="337279">
                <a:tc>
                  <a:txBody>
                    <a:bodyPr/>
                    <a:lstStyle/>
                    <a:p>
                      <a:pPr algn="ctr"/>
                      <a:r>
                        <a:rPr lang="es-AR" dirty="0">
                          <a:solidFill>
                            <a:schemeClr val="tx2">
                              <a:lumMod val="75000"/>
                              <a:lumOff val="25000"/>
                            </a:schemeClr>
                          </a:solidFill>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ctr"/>
                      <a:endParaRPr lang="es-AR" dirty="0">
                        <a:solidFill>
                          <a:schemeClr val="tx2">
                            <a:lumMod val="75000"/>
                            <a:lumOff val="2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ctr"/>
                      <a:endParaRPr lang="es-AR" dirty="0">
                        <a:solidFill>
                          <a:schemeClr val="tx2">
                            <a:lumMod val="75000"/>
                            <a:lumOff val="2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ctr"/>
                      <a:r>
                        <a:rPr lang="es-AR" dirty="0">
                          <a:solidFill>
                            <a:schemeClr val="tx2">
                              <a:lumMod val="75000"/>
                              <a:lumOff val="25000"/>
                            </a:schemeClr>
                          </a:solidFill>
                        </a:rPr>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extLst>
                  <a:ext uri="{0D108BD9-81ED-4DB2-BD59-A6C34878D82A}">
                    <a16:rowId xmlns:a16="http://schemas.microsoft.com/office/drawing/2014/main" val="1523191605"/>
                  </a:ext>
                </a:extLst>
              </a:tr>
            </a:tbl>
          </a:graphicData>
        </a:graphic>
      </p:graphicFrame>
      <p:graphicFrame>
        <p:nvGraphicFramePr>
          <p:cNvPr id="23" name="Table 22">
            <a:extLst>
              <a:ext uri="{FF2B5EF4-FFF2-40B4-BE49-F238E27FC236}">
                <a16:creationId xmlns:a16="http://schemas.microsoft.com/office/drawing/2014/main" id="{2066152F-4B5E-41BA-A236-D187C76BBC13}"/>
              </a:ext>
            </a:extLst>
          </p:cNvPr>
          <p:cNvGraphicFramePr>
            <a:graphicFrameLocks noGrp="1"/>
          </p:cNvGraphicFramePr>
          <p:nvPr>
            <p:extLst>
              <p:ext uri="{D42A27DB-BD31-4B8C-83A1-F6EECF244321}">
                <p14:modId xmlns:p14="http://schemas.microsoft.com/office/powerpoint/2010/main" val="1114403129"/>
              </p:ext>
            </p:extLst>
          </p:nvPr>
        </p:nvGraphicFramePr>
        <p:xfrm>
          <a:off x="1403648" y="4719424"/>
          <a:ext cx="3456385" cy="365760"/>
        </p:xfrm>
        <a:graphic>
          <a:graphicData uri="http://schemas.openxmlformats.org/drawingml/2006/table">
            <a:tbl>
              <a:tblPr firstRow="1" bandRow="1">
                <a:tableStyleId>{5C22544A-7EE6-4342-B048-85BDC9FD1C3A}</a:tableStyleId>
              </a:tblPr>
              <a:tblGrid>
                <a:gridCol w="877812">
                  <a:extLst>
                    <a:ext uri="{9D8B030D-6E8A-4147-A177-3AD203B41FA5}">
                      <a16:colId xmlns:a16="http://schemas.microsoft.com/office/drawing/2014/main" val="53470728"/>
                    </a:ext>
                  </a:extLst>
                </a:gridCol>
                <a:gridCol w="932675">
                  <a:extLst>
                    <a:ext uri="{9D8B030D-6E8A-4147-A177-3AD203B41FA5}">
                      <a16:colId xmlns:a16="http://schemas.microsoft.com/office/drawing/2014/main" val="1492904940"/>
                    </a:ext>
                  </a:extLst>
                </a:gridCol>
                <a:gridCol w="822949">
                  <a:extLst>
                    <a:ext uri="{9D8B030D-6E8A-4147-A177-3AD203B41FA5}">
                      <a16:colId xmlns:a16="http://schemas.microsoft.com/office/drawing/2014/main" val="403801961"/>
                    </a:ext>
                  </a:extLst>
                </a:gridCol>
                <a:gridCol w="822949">
                  <a:extLst>
                    <a:ext uri="{9D8B030D-6E8A-4147-A177-3AD203B41FA5}">
                      <a16:colId xmlns:a16="http://schemas.microsoft.com/office/drawing/2014/main" val="1813496922"/>
                    </a:ext>
                  </a:extLst>
                </a:gridCol>
              </a:tblGrid>
              <a:tr h="337279">
                <a:tc>
                  <a:txBody>
                    <a:bodyPr/>
                    <a:lstStyle/>
                    <a:p>
                      <a:pPr algn="ctr"/>
                      <a:r>
                        <a:rPr lang="es-AR" dirty="0">
                          <a:solidFill>
                            <a:schemeClr val="tx2">
                              <a:lumMod val="75000"/>
                              <a:lumOff val="25000"/>
                            </a:schemeClr>
                          </a:solidFill>
                        </a:rPr>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ctr"/>
                      <a:endParaRPr lang="es-AR" dirty="0">
                        <a:solidFill>
                          <a:schemeClr val="tx2">
                            <a:lumMod val="75000"/>
                            <a:lumOff val="2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ctr"/>
                      <a:endParaRPr lang="es-AR" dirty="0">
                        <a:solidFill>
                          <a:schemeClr val="tx2">
                            <a:lumMod val="75000"/>
                            <a:lumOff val="2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ctr"/>
                      <a:r>
                        <a:rPr lang="es-AR" dirty="0">
                          <a:solidFill>
                            <a:schemeClr val="tx2">
                              <a:lumMod val="75000"/>
                              <a:lumOff val="25000"/>
                            </a:schemeClr>
                          </a:solidFill>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extLst>
                  <a:ext uri="{0D108BD9-81ED-4DB2-BD59-A6C34878D82A}">
                    <a16:rowId xmlns:a16="http://schemas.microsoft.com/office/drawing/2014/main" val="1523191605"/>
                  </a:ext>
                </a:extLst>
              </a:tr>
            </a:tbl>
          </a:graphicData>
        </a:graphic>
      </p:graphicFrame>
      <p:graphicFrame>
        <p:nvGraphicFramePr>
          <p:cNvPr id="24" name="Table 23">
            <a:extLst>
              <a:ext uri="{FF2B5EF4-FFF2-40B4-BE49-F238E27FC236}">
                <a16:creationId xmlns:a16="http://schemas.microsoft.com/office/drawing/2014/main" id="{BC538238-41DD-42E7-9F1A-973ADA794EC6}"/>
              </a:ext>
            </a:extLst>
          </p:cNvPr>
          <p:cNvGraphicFramePr>
            <a:graphicFrameLocks noGrp="1"/>
          </p:cNvGraphicFramePr>
          <p:nvPr>
            <p:extLst>
              <p:ext uri="{D42A27DB-BD31-4B8C-83A1-F6EECF244321}">
                <p14:modId xmlns:p14="http://schemas.microsoft.com/office/powerpoint/2010/main" val="3216255728"/>
              </p:ext>
            </p:extLst>
          </p:nvPr>
        </p:nvGraphicFramePr>
        <p:xfrm>
          <a:off x="5004048" y="2521831"/>
          <a:ext cx="3456385" cy="365760"/>
        </p:xfrm>
        <a:graphic>
          <a:graphicData uri="http://schemas.openxmlformats.org/drawingml/2006/table">
            <a:tbl>
              <a:tblPr firstRow="1" bandRow="1">
                <a:tableStyleId>{5C22544A-7EE6-4342-B048-85BDC9FD1C3A}</a:tableStyleId>
              </a:tblPr>
              <a:tblGrid>
                <a:gridCol w="877812">
                  <a:extLst>
                    <a:ext uri="{9D8B030D-6E8A-4147-A177-3AD203B41FA5}">
                      <a16:colId xmlns:a16="http://schemas.microsoft.com/office/drawing/2014/main" val="53470728"/>
                    </a:ext>
                  </a:extLst>
                </a:gridCol>
                <a:gridCol w="932675">
                  <a:extLst>
                    <a:ext uri="{9D8B030D-6E8A-4147-A177-3AD203B41FA5}">
                      <a16:colId xmlns:a16="http://schemas.microsoft.com/office/drawing/2014/main" val="1492904940"/>
                    </a:ext>
                  </a:extLst>
                </a:gridCol>
                <a:gridCol w="822949">
                  <a:extLst>
                    <a:ext uri="{9D8B030D-6E8A-4147-A177-3AD203B41FA5}">
                      <a16:colId xmlns:a16="http://schemas.microsoft.com/office/drawing/2014/main" val="403801961"/>
                    </a:ext>
                  </a:extLst>
                </a:gridCol>
                <a:gridCol w="822949">
                  <a:extLst>
                    <a:ext uri="{9D8B030D-6E8A-4147-A177-3AD203B41FA5}">
                      <a16:colId xmlns:a16="http://schemas.microsoft.com/office/drawing/2014/main" val="1813496922"/>
                    </a:ext>
                  </a:extLst>
                </a:gridCol>
              </a:tblGrid>
              <a:tr h="337279">
                <a:tc>
                  <a:txBody>
                    <a:bodyPr/>
                    <a:lstStyle/>
                    <a:p>
                      <a:pPr algn="ctr"/>
                      <a:endParaRPr lang="es-AR" dirty="0">
                        <a:solidFill>
                          <a:schemeClr val="tx2">
                            <a:lumMod val="75000"/>
                            <a:lumOff val="2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ctr"/>
                      <a:r>
                        <a:rPr lang="es-AR" dirty="0">
                          <a:solidFill>
                            <a:schemeClr val="tx2">
                              <a:lumMod val="75000"/>
                              <a:lumOff val="25000"/>
                            </a:schemeClr>
                          </a:solidFill>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ctr"/>
                      <a:r>
                        <a:rPr lang="es-AR" dirty="0">
                          <a:solidFill>
                            <a:schemeClr val="tx2">
                              <a:lumMod val="75000"/>
                              <a:lumOff val="25000"/>
                            </a:schemeClr>
                          </a:solidFill>
                        </a:rPr>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ctr"/>
                      <a:endParaRPr lang="es-AR" dirty="0">
                        <a:solidFill>
                          <a:schemeClr val="tx2">
                            <a:lumMod val="75000"/>
                            <a:lumOff val="2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extLst>
                  <a:ext uri="{0D108BD9-81ED-4DB2-BD59-A6C34878D82A}">
                    <a16:rowId xmlns:a16="http://schemas.microsoft.com/office/drawing/2014/main" val="1523191605"/>
                  </a:ext>
                </a:extLst>
              </a:tr>
            </a:tbl>
          </a:graphicData>
        </a:graphic>
      </p:graphicFrame>
      <p:graphicFrame>
        <p:nvGraphicFramePr>
          <p:cNvPr id="25" name="Table 24">
            <a:extLst>
              <a:ext uri="{FF2B5EF4-FFF2-40B4-BE49-F238E27FC236}">
                <a16:creationId xmlns:a16="http://schemas.microsoft.com/office/drawing/2014/main" id="{09735F58-9F0A-4EFB-8A6F-63A52BFC6619}"/>
              </a:ext>
            </a:extLst>
          </p:cNvPr>
          <p:cNvGraphicFramePr>
            <a:graphicFrameLocks noGrp="1"/>
          </p:cNvGraphicFramePr>
          <p:nvPr>
            <p:extLst>
              <p:ext uri="{D42A27DB-BD31-4B8C-83A1-F6EECF244321}">
                <p14:modId xmlns:p14="http://schemas.microsoft.com/office/powerpoint/2010/main" val="4162350360"/>
              </p:ext>
            </p:extLst>
          </p:nvPr>
        </p:nvGraphicFramePr>
        <p:xfrm>
          <a:off x="5004048" y="2924944"/>
          <a:ext cx="3456385" cy="365760"/>
        </p:xfrm>
        <a:graphic>
          <a:graphicData uri="http://schemas.openxmlformats.org/drawingml/2006/table">
            <a:tbl>
              <a:tblPr firstRow="1" bandRow="1">
                <a:tableStyleId>{5C22544A-7EE6-4342-B048-85BDC9FD1C3A}</a:tableStyleId>
              </a:tblPr>
              <a:tblGrid>
                <a:gridCol w="877812">
                  <a:extLst>
                    <a:ext uri="{9D8B030D-6E8A-4147-A177-3AD203B41FA5}">
                      <a16:colId xmlns:a16="http://schemas.microsoft.com/office/drawing/2014/main" val="53470728"/>
                    </a:ext>
                  </a:extLst>
                </a:gridCol>
                <a:gridCol w="932675">
                  <a:extLst>
                    <a:ext uri="{9D8B030D-6E8A-4147-A177-3AD203B41FA5}">
                      <a16:colId xmlns:a16="http://schemas.microsoft.com/office/drawing/2014/main" val="1492904940"/>
                    </a:ext>
                  </a:extLst>
                </a:gridCol>
                <a:gridCol w="822949">
                  <a:extLst>
                    <a:ext uri="{9D8B030D-6E8A-4147-A177-3AD203B41FA5}">
                      <a16:colId xmlns:a16="http://schemas.microsoft.com/office/drawing/2014/main" val="403801961"/>
                    </a:ext>
                  </a:extLst>
                </a:gridCol>
                <a:gridCol w="822949">
                  <a:extLst>
                    <a:ext uri="{9D8B030D-6E8A-4147-A177-3AD203B41FA5}">
                      <a16:colId xmlns:a16="http://schemas.microsoft.com/office/drawing/2014/main" val="1813496922"/>
                    </a:ext>
                  </a:extLst>
                </a:gridCol>
              </a:tblGrid>
              <a:tr h="337279">
                <a:tc>
                  <a:txBody>
                    <a:bodyPr/>
                    <a:lstStyle/>
                    <a:p>
                      <a:pPr algn="ctr"/>
                      <a:endParaRPr lang="es-AR" dirty="0">
                        <a:solidFill>
                          <a:schemeClr val="tx2">
                            <a:lumMod val="75000"/>
                            <a:lumOff val="2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ctr"/>
                      <a:r>
                        <a:rPr lang="es-AR" dirty="0">
                          <a:solidFill>
                            <a:schemeClr val="tx2">
                              <a:lumMod val="75000"/>
                              <a:lumOff val="25000"/>
                            </a:schemeClr>
                          </a:solidFill>
                        </a:rPr>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ctr"/>
                      <a:r>
                        <a:rPr lang="es-AR" dirty="0">
                          <a:solidFill>
                            <a:schemeClr val="tx2">
                              <a:lumMod val="75000"/>
                              <a:lumOff val="25000"/>
                            </a:schemeClr>
                          </a:solidFill>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ctr"/>
                      <a:endParaRPr lang="es-AR" dirty="0">
                        <a:solidFill>
                          <a:schemeClr val="tx2">
                            <a:lumMod val="75000"/>
                            <a:lumOff val="2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extLst>
                  <a:ext uri="{0D108BD9-81ED-4DB2-BD59-A6C34878D82A}">
                    <a16:rowId xmlns:a16="http://schemas.microsoft.com/office/drawing/2014/main" val="1523191605"/>
                  </a:ext>
                </a:extLst>
              </a:tr>
            </a:tbl>
          </a:graphicData>
        </a:graphic>
      </p:graphicFrame>
      <p:graphicFrame>
        <p:nvGraphicFramePr>
          <p:cNvPr id="26" name="Table 25">
            <a:extLst>
              <a:ext uri="{FF2B5EF4-FFF2-40B4-BE49-F238E27FC236}">
                <a16:creationId xmlns:a16="http://schemas.microsoft.com/office/drawing/2014/main" id="{ADE5162C-DF9B-49AE-B014-9731E31D6840}"/>
              </a:ext>
            </a:extLst>
          </p:cNvPr>
          <p:cNvGraphicFramePr>
            <a:graphicFrameLocks noGrp="1"/>
          </p:cNvGraphicFramePr>
          <p:nvPr>
            <p:extLst>
              <p:ext uri="{D42A27DB-BD31-4B8C-83A1-F6EECF244321}">
                <p14:modId xmlns:p14="http://schemas.microsoft.com/office/powerpoint/2010/main" val="3962780604"/>
              </p:ext>
            </p:extLst>
          </p:nvPr>
        </p:nvGraphicFramePr>
        <p:xfrm>
          <a:off x="5004048" y="3429000"/>
          <a:ext cx="3456385" cy="365760"/>
        </p:xfrm>
        <a:graphic>
          <a:graphicData uri="http://schemas.openxmlformats.org/drawingml/2006/table">
            <a:tbl>
              <a:tblPr firstRow="1" bandRow="1">
                <a:tableStyleId>{5C22544A-7EE6-4342-B048-85BDC9FD1C3A}</a:tableStyleId>
              </a:tblPr>
              <a:tblGrid>
                <a:gridCol w="877812">
                  <a:extLst>
                    <a:ext uri="{9D8B030D-6E8A-4147-A177-3AD203B41FA5}">
                      <a16:colId xmlns:a16="http://schemas.microsoft.com/office/drawing/2014/main" val="53470728"/>
                    </a:ext>
                  </a:extLst>
                </a:gridCol>
                <a:gridCol w="932675">
                  <a:extLst>
                    <a:ext uri="{9D8B030D-6E8A-4147-A177-3AD203B41FA5}">
                      <a16:colId xmlns:a16="http://schemas.microsoft.com/office/drawing/2014/main" val="1492904940"/>
                    </a:ext>
                  </a:extLst>
                </a:gridCol>
                <a:gridCol w="822949">
                  <a:extLst>
                    <a:ext uri="{9D8B030D-6E8A-4147-A177-3AD203B41FA5}">
                      <a16:colId xmlns:a16="http://schemas.microsoft.com/office/drawing/2014/main" val="403801961"/>
                    </a:ext>
                  </a:extLst>
                </a:gridCol>
                <a:gridCol w="822949">
                  <a:extLst>
                    <a:ext uri="{9D8B030D-6E8A-4147-A177-3AD203B41FA5}">
                      <a16:colId xmlns:a16="http://schemas.microsoft.com/office/drawing/2014/main" val="1813496922"/>
                    </a:ext>
                  </a:extLst>
                </a:gridCol>
              </a:tblGrid>
              <a:tr h="337279">
                <a:tc>
                  <a:txBody>
                    <a:bodyPr/>
                    <a:lstStyle/>
                    <a:p>
                      <a:pPr algn="ctr"/>
                      <a:endParaRPr lang="es-AR" dirty="0">
                        <a:solidFill>
                          <a:schemeClr val="tx2">
                            <a:lumMod val="75000"/>
                            <a:lumOff val="2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ctr"/>
                      <a:r>
                        <a:rPr lang="es-AR" dirty="0">
                          <a:solidFill>
                            <a:schemeClr val="tx2">
                              <a:lumMod val="75000"/>
                              <a:lumOff val="25000"/>
                            </a:schemeClr>
                          </a:solidFill>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ctr"/>
                      <a:endParaRPr lang="es-AR" dirty="0">
                        <a:solidFill>
                          <a:schemeClr val="tx2">
                            <a:lumMod val="75000"/>
                            <a:lumOff val="2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ctr"/>
                      <a:r>
                        <a:rPr lang="es-AR" dirty="0">
                          <a:solidFill>
                            <a:schemeClr val="tx2">
                              <a:lumMod val="75000"/>
                              <a:lumOff val="25000"/>
                            </a:schemeClr>
                          </a:solidFill>
                        </a:rPr>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extLst>
                  <a:ext uri="{0D108BD9-81ED-4DB2-BD59-A6C34878D82A}">
                    <a16:rowId xmlns:a16="http://schemas.microsoft.com/office/drawing/2014/main" val="1523191605"/>
                  </a:ext>
                </a:extLst>
              </a:tr>
            </a:tbl>
          </a:graphicData>
        </a:graphic>
      </p:graphicFrame>
      <p:graphicFrame>
        <p:nvGraphicFramePr>
          <p:cNvPr id="27" name="Table 26">
            <a:extLst>
              <a:ext uri="{FF2B5EF4-FFF2-40B4-BE49-F238E27FC236}">
                <a16:creationId xmlns:a16="http://schemas.microsoft.com/office/drawing/2014/main" id="{D1914795-00E6-4EAC-9262-A6E0D864DFDE}"/>
              </a:ext>
            </a:extLst>
          </p:cNvPr>
          <p:cNvGraphicFramePr>
            <a:graphicFrameLocks noGrp="1"/>
          </p:cNvGraphicFramePr>
          <p:nvPr>
            <p:extLst>
              <p:ext uri="{D42A27DB-BD31-4B8C-83A1-F6EECF244321}">
                <p14:modId xmlns:p14="http://schemas.microsoft.com/office/powerpoint/2010/main" val="1708148174"/>
              </p:ext>
            </p:extLst>
          </p:nvPr>
        </p:nvGraphicFramePr>
        <p:xfrm>
          <a:off x="5004048" y="3832113"/>
          <a:ext cx="3456385" cy="365760"/>
        </p:xfrm>
        <a:graphic>
          <a:graphicData uri="http://schemas.openxmlformats.org/drawingml/2006/table">
            <a:tbl>
              <a:tblPr firstRow="1" bandRow="1">
                <a:tableStyleId>{5C22544A-7EE6-4342-B048-85BDC9FD1C3A}</a:tableStyleId>
              </a:tblPr>
              <a:tblGrid>
                <a:gridCol w="877812">
                  <a:extLst>
                    <a:ext uri="{9D8B030D-6E8A-4147-A177-3AD203B41FA5}">
                      <a16:colId xmlns:a16="http://schemas.microsoft.com/office/drawing/2014/main" val="53470728"/>
                    </a:ext>
                  </a:extLst>
                </a:gridCol>
                <a:gridCol w="932675">
                  <a:extLst>
                    <a:ext uri="{9D8B030D-6E8A-4147-A177-3AD203B41FA5}">
                      <a16:colId xmlns:a16="http://schemas.microsoft.com/office/drawing/2014/main" val="1492904940"/>
                    </a:ext>
                  </a:extLst>
                </a:gridCol>
                <a:gridCol w="822949">
                  <a:extLst>
                    <a:ext uri="{9D8B030D-6E8A-4147-A177-3AD203B41FA5}">
                      <a16:colId xmlns:a16="http://schemas.microsoft.com/office/drawing/2014/main" val="403801961"/>
                    </a:ext>
                  </a:extLst>
                </a:gridCol>
                <a:gridCol w="822949">
                  <a:extLst>
                    <a:ext uri="{9D8B030D-6E8A-4147-A177-3AD203B41FA5}">
                      <a16:colId xmlns:a16="http://schemas.microsoft.com/office/drawing/2014/main" val="1813496922"/>
                    </a:ext>
                  </a:extLst>
                </a:gridCol>
              </a:tblGrid>
              <a:tr h="337279">
                <a:tc>
                  <a:txBody>
                    <a:bodyPr/>
                    <a:lstStyle/>
                    <a:p>
                      <a:pPr algn="ctr"/>
                      <a:endParaRPr lang="es-AR" dirty="0">
                        <a:solidFill>
                          <a:schemeClr val="tx2">
                            <a:lumMod val="75000"/>
                            <a:lumOff val="2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ctr"/>
                      <a:r>
                        <a:rPr lang="es-AR" dirty="0">
                          <a:solidFill>
                            <a:schemeClr val="tx2">
                              <a:lumMod val="75000"/>
                              <a:lumOff val="25000"/>
                            </a:schemeClr>
                          </a:solidFill>
                        </a:rPr>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ctr"/>
                      <a:endParaRPr lang="es-AR" dirty="0">
                        <a:solidFill>
                          <a:schemeClr val="tx2">
                            <a:lumMod val="75000"/>
                            <a:lumOff val="2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ctr"/>
                      <a:r>
                        <a:rPr lang="es-AR" dirty="0">
                          <a:solidFill>
                            <a:schemeClr val="tx2">
                              <a:lumMod val="75000"/>
                              <a:lumOff val="25000"/>
                            </a:schemeClr>
                          </a:solidFill>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extLst>
                  <a:ext uri="{0D108BD9-81ED-4DB2-BD59-A6C34878D82A}">
                    <a16:rowId xmlns:a16="http://schemas.microsoft.com/office/drawing/2014/main" val="1523191605"/>
                  </a:ext>
                </a:extLst>
              </a:tr>
            </a:tbl>
          </a:graphicData>
        </a:graphic>
      </p:graphicFrame>
      <p:graphicFrame>
        <p:nvGraphicFramePr>
          <p:cNvPr id="28" name="Table 27">
            <a:extLst>
              <a:ext uri="{FF2B5EF4-FFF2-40B4-BE49-F238E27FC236}">
                <a16:creationId xmlns:a16="http://schemas.microsoft.com/office/drawing/2014/main" id="{331C0DA4-A108-4AB7-A351-7A7E1A706040}"/>
              </a:ext>
            </a:extLst>
          </p:cNvPr>
          <p:cNvGraphicFramePr>
            <a:graphicFrameLocks noGrp="1"/>
          </p:cNvGraphicFramePr>
          <p:nvPr>
            <p:extLst>
              <p:ext uri="{D42A27DB-BD31-4B8C-83A1-F6EECF244321}">
                <p14:modId xmlns:p14="http://schemas.microsoft.com/office/powerpoint/2010/main" val="180891095"/>
              </p:ext>
            </p:extLst>
          </p:nvPr>
        </p:nvGraphicFramePr>
        <p:xfrm>
          <a:off x="5004048" y="4316311"/>
          <a:ext cx="3456385" cy="365760"/>
        </p:xfrm>
        <a:graphic>
          <a:graphicData uri="http://schemas.openxmlformats.org/drawingml/2006/table">
            <a:tbl>
              <a:tblPr firstRow="1" bandRow="1">
                <a:tableStyleId>{5C22544A-7EE6-4342-B048-85BDC9FD1C3A}</a:tableStyleId>
              </a:tblPr>
              <a:tblGrid>
                <a:gridCol w="877812">
                  <a:extLst>
                    <a:ext uri="{9D8B030D-6E8A-4147-A177-3AD203B41FA5}">
                      <a16:colId xmlns:a16="http://schemas.microsoft.com/office/drawing/2014/main" val="53470728"/>
                    </a:ext>
                  </a:extLst>
                </a:gridCol>
                <a:gridCol w="932675">
                  <a:extLst>
                    <a:ext uri="{9D8B030D-6E8A-4147-A177-3AD203B41FA5}">
                      <a16:colId xmlns:a16="http://schemas.microsoft.com/office/drawing/2014/main" val="1492904940"/>
                    </a:ext>
                  </a:extLst>
                </a:gridCol>
                <a:gridCol w="822949">
                  <a:extLst>
                    <a:ext uri="{9D8B030D-6E8A-4147-A177-3AD203B41FA5}">
                      <a16:colId xmlns:a16="http://schemas.microsoft.com/office/drawing/2014/main" val="403801961"/>
                    </a:ext>
                  </a:extLst>
                </a:gridCol>
                <a:gridCol w="822949">
                  <a:extLst>
                    <a:ext uri="{9D8B030D-6E8A-4147-A177-3AD203B41FA5}">
                      <a16:colId xmlns:a16="http://schemas.microsoft.com/office/drawing/2014/main" val="1813496922"/>
                    </a:ext>
                  </a:extLst>
                </a:gridCol>
              </a:tblGrid>
              <a:tr h="337279">
                <a:tc>
                  <a:txBody>
                    <a:bodyPr/>
                    <a:lstStyle/>
                    <a:p>
                      <a:pPr algn="ctr"/>
                      <a:endParaRPr lang="es-AR" dirty="0">
                        <a:solidFill>
                          <a:schemeClr val="tx2">
                            <a:lumMod val="75000"/>
                            <a:lumOff val="2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ctr"/>
                      <a:endParaRPr lang="es-AR" dirty="0">
                        <a:solidFill>
                          <a:schemeClr val="tx2">
                            <a:lumMod val="75000"/>
                            <a:lumOff val="2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ctr"/>
                      <a:r>
                        <a:rPr lang="es-AR" dirty="0">
                          <a:solidFill>
                            <a:schemeClr val="tx2">
                              <a:lumMod val="75000"/>
                              <a:lumOff val="25000"/>
                            </a:schemeClr>
                          </a:solidFill>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ctr"/>
                      <a:r>
                        <a:rPr lang="es-AR" dirty="0">
                          <a:solidFill>
                            <a:schemeClr val="tx2">
                              <a:lumMod val="75000"/>
                              <a:lumOff val="25000"/>
                            </a:schemeClr>
                          </a:solidFill>
                        </a:rPr>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extLst>
                  <a:ext uri="{0D108BD9-81ED-4DB2-BD59-A6C34878D82A}">
                    <a16:rowId xmlns:a16="http://schemas.microsoft.com/office/drawing/2014/main" val="1523191605"/>
                  </a:ext>
                </a:extLst>
              </a:tr>
            </a:tbl>
          </a:graphicData>
        </a:graphic>
      </p:graphicFrame>
      <p:graphicFrame>
        <p:nvGraphicFramePr>
          <p:cNvPr id="29" name="Table 28">
            <a:extLst>
              <a:ext uri="{FF2B5EF4-FFF2-40B4-BE49-F238E27FC236}">
                <a16:creationId xmlns:a16="http://schemas.microsoft.com/office/drawing/2014/main" id="{8C228BB9-E34C-4A83-AB17-69982C5676B3}"/>
              </a:ext>
            </a:extLst>
          </p:cNvPr>
          <p:cNvGraphicFramePr>
            <a:graphicFrameLocks noGrp="1"/>
          </p:cNvGraphicFramePr>
          <p:nvPr>
            <p:extLst>
              <p:ext uri="{D42A27DB-BD31-4B8C-83A1-F6EECF244321}">
                <p14:modId xmlns:p14="http://schemas.microsoft.com/office/powerpoint/2010/main" val="4073414953"/>
              </p:ext>
            </p:extLst>
          </p:nvPr>
        </p:nvGraphicFramePr>
        <p:xfrm>
          <a:off x="5004048" y="4719424"/>
          <a:ext cx="3456385" cy="365760"/>
        </p:xfrm>
        <a:graphic>
          <a:graphicData uri="http://schemas.openxmlformats.org/drawingml/2006/table">
            <a:tbl>
              <a:tblPr firstRow="1" bandRow="1">
                <a:tableStyleId>{5C22544A-7EE6-4342-B048-85BDC9FD1C3A}</a:tableStyleId>
              </a:tblPr>
              <a:tblGrid>
                <a:gridCol w="877812">
                  <a:extLst>
                    <a:ext uri="{9D8B030D-6E8A-4147-A177-3AD203B41FA5}">
                      <a16:colId xmlns:a16="http://schemas.microsoft.com/office/drawing/2014/main" val="53470728"/>
                    </a:ext>
                  </a:extLst>
                </a:gridCol>
                <a:gridCol w="932675">
                  <a:extLst>
                    <a:ext uri="{9D8B030D-6E8A-4147-A177-3AD203B41FA5}">
                      <a16:colId xmlns:a16="http://schemas.microsoft.com/office/drawing/2014/main" val="1492904940"/>
                    </a:ext>
                  </a:extLst>
                </a:gridCol>
                <a:gridCol w="822949">
                  <a:extLst>
                    <a:ext uri="{9D8B030D-6E8A-4147-A177-3AD203B41FA5}">
                      <a16:colId xmlns:a16="http://schemas.microsoft.com/office/drawing/2014/main" val="403801961"/>
                    </a:ext>
                  </a:extLst>
                </a:gridCol>
                <a:gridCol w="822949">
                  <a:extLst>
                    <a:ext uri="{9D8B030D-6E8A-4147-A177-3AD203B41FA5}">
                      <a16:colId xmlns:a16="http://schemas.microsoft.com/office/drawing/2014/main" val="1813496922"/>
                    </a:ext>
                  </a:extLst>
                </a:gridCol>
              </a:tblGrid>
              <a:tr h="337279">
                <a:tc>
                  <a:txBody>
                    <a:bodyPr/>
                    <a:lstStyle/>
                    <a:p>
                      <a:pPr algn="ctr"/>
                      <a:endParaRPr lang="es-AR" dirty="0">
                        <a:solidFill>
                          <a:schemeClr val="tx2">
                            <a:lumMod val="75000"/>
                            <a:lumOff val="2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ctr"/>
                      <a:endParaRPr lang="es-AR" dirty="0">
                        <a:solidFill>
                          <a:schemeClr val="tx2">
                            <a:lumMod val="75000"/>
                            <a:lumOff val="2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ctr"/>
                      <a:r>
                        <a:rPr lang="es-AR" dirty="0">
                          <a:solidFill>
                            <a:schemeClr val="tx2">
                              <a:lumMod val="75000"/>
                              <a:lumOff val="25000"/>
                            </a:schemeClr>
                          </a:solidFill>
                        </a:rPr>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ctr"/>
                      <a:r>
                        <a:rPr lang="es-AR" dirty="0">
                          <a:solidFill>
                            <a:schemeClr val="tx2">
                              <a:lumMod val="75000"/>
                              <a:lumOff val="25000"/>
                            </a:schemeClr>
                          </a:solidFill>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extLst>
                  <a:ext uri="{0D108BD9-81ED-4DB2-BD59-A6C34878D82A}">
                    <a16:rowId xmlns:a16="http://schemas.microsoft.com/office/drawing/2014/main" val="1523191605"/>
                  </a:ext>
                </a:extLst>
              </a:tr>
            </a:tbl>
          </a:graphicData>
        </a:graphic>
      </p:graphicFrame>
      <p:sp>
        <p:nvSpPr>
          <p:cNvPr id="30" name="Left Brace 29">
            <a:extLst>
              <a:ext uri="{FF2B5EF4-FFF2-40B4-BE49-F238E27FC236}">
                <a16:creationId xmlns:a16="http://schemas.microsoft.com/office/drawing/2014/main" id="{D7117946-1B6E-491E-AB12-4698C71E6C5F}"/>
              </a:ext>
            </a:extLst>
          </p:cNvPr>
          <p:cNvSpPr/>
          <p:nvPr/>
        </p:nvSpPr>
        <p:spPr bwMode="auto">
          <a:xfrm rot="10800000">
            <a:off x="8532440" y="2492896"/>
            <a:ext cx="261743" cy="800561"/>
          </a:xfrm>
          <a:prstGeom prst="leftBrace">
            <a:avLst/>
          </a:prstGeom>
          <a:noFill/>
          <a:ln w="28575" cap="flat" cmpd="sng" algn="ctr">
            <a:solidFill>
              <a:schemeClr val="tx2">
                <a:lumMod val="75000"/>
                <a:lumOff val="25000"/>
              </a:schemeClr>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s-AR" sz="2400" b="0" i="0" u="none" strike="noStrike" cap="none" normalizeH="0" baseline="0">
              <a:ln>
                <a:noFill/>
              </a:ln>
              <a:solidFill>
                <a:schemeClr val="tx1"/>
              </a:solidFill>
              <a:effectLst/>
              <a:latin typeface="Times New Roman" panose="02020603050405020304" pitchFamily="18" charset="0"/>
            </a:endParaRPr>
          </a:p>
        </p:txBody>
      </p:sp>
      <p:sp>
        <p:nvSpPr>
          <p:cNvPr id="31" name="Left Brace 30">
            <a:extLst>
              <a:ext uri="{FF2B5EF4-FFF2-40B4-BE49-F238E27FC236}">
                <a16:creationId xmlns:a16="http://schemas.microsoft.com/office/drawing/2014/main" id="{B79137C9-1009-4392-B8CA-B20006F4A4FE}"/>
              </a:ext>
            </a:extLst>
          </p:cNvPr>
          <p:cNvSpPr/>
          <p:nvPr/>
        </p:nvSpPr>
        <p:spPr bwMode="auto">
          <a:xfrm rot="10800000">
            <a:off x="8532440" y="3420527"/>
            <a:ext cx="261743" cy="800561"/>
          </a:xfrm>
          <a:prstGeom prst="leftBrace">
            <a:avLst/>
          </a:prstGeom>
          <a:noFill/>
          <a:ln w="28575" cap="flat" cmpd="sng" algn="ctr">
            <a:solidFill>
              <a:schemeClr val="tx2">
                <a:lumMod val="75000"/>
                <a:lumOff val="25000"/>
              </a:schemeClr>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s-AR" sz="2400" b="0" i="0" u="none" strike="noStrike" cap="none" normalizeH="0" baseline="0">
              <a:ln>
                <a:noFill/>
              </a:ln>
              <a:solidFill>
                <a:schemeClr val="tx1"/>
              </a:solidFill>
              <a:effectLst/>
              <a:latin typeface="Times New Roman" panose="02020603050405020304" pitchFamily="18" charset="0"/>
            </a:endParaRPr>
          </a:p>
        </p:txBody>
      </p:sp>
      <p:sp>
        <p:nvSpPr>
          <p:cNvPr id="32" name="Left Brace 31">
            <a:extLst>
              <a:ext uri="{FF2B5EF4-FFF2-40B4-BE49-F238E27FC236}">
                <a16:creationId xmlns:a16="http://schemas.microsoft.com/office/drawing/2014/main" id="{06E7C7A5-8DFA-462E-A706-03DE4BB4A112}"/>
              </a:ext>
            </a:extLst>
          </p:cNvPr>
          <p:cNvSpPr/>
          <p:nvPr/>
        </p:nvSpPr>
        <p:spPr bwMode="auto">
          <a:xfrm rot="10800000">
            <a:off x="8532440" y="4284622"/>
            <a:ext cx="261743" cy="800561"/>
          </a:xfrm>
          <a:prstGeom prst="leftBrace">
            <a:avLst/>
          </a:prstGeom>
          <a:noFill/>
          <a:ln w="28575" cap="flat" cmpd="sng" algn="ctr">
            <a:solidFill>
              <a:schemeClr val="tx2">
                <a:lumMod val="75000"/>
                <a:lumOff val="25000"/>
              </a:schemeClr>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s-AR" sz="2400" b="0" i="0" u="none" strike="noStrike" cap="none" normalizeH="0" baseline="0">
              <a:ln>
                <a:noFill/>
              </a:ln>
              <a:solidFill>
                <a:schemeClr val="tx1"/>
              </a:solidFill>
              <a:effectLst/>
              <a:latin typeface="Times New Roman" panose="02020603050405020304" pitchFamily="18" charset="0"/>
            </a:endParaRPr>
          </a:p>
        </p:txBody>
      </p:sp>
    </p:spTree>
    <p:extLst>
      <p:ext uri="{BB962C8B-B14F-4D97-AF65-F5344CB8AC3E}">
        <p14:creationId xmlns:p14="http://schemas.microsoft.com/office/powerpoint/2010/main" val="404662310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14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 calcmode="lin" valueType="num">
                                      <p:cBhvr additive="base">
                                        <p:cTn id="17" dur="500" fill="hold"/>
                                        <p:tgtEl>
                                          <p:spTgt spid="18"/>
                                        </p:tgtEl>
                                        <p:attrNameLst>
                                          <p:attrName>ppt_x</p:attrName>
                                        </p:attrNameLst>
                                      </p:cBhvr>
                                      <p:tavLst>
                                        <p:tav tm="0">
                                          <p:val>
                                            <p:strVal val="#ppt_x"/>
                                          </p:val>
                                        </p:tav>
                                        <p:tav tm="100000">
                                          <p:val>
                                            <p:strVal val="#ppt_x"/>
                                          </p:val>
                                        </p:tav>
                                      </p:tavLst>
                                    </p:anim>
                                    <p:anim calcmode="lin" valueType="num">
                                      <p:cBhvr additive="base">
                                        <p:cTn id="1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20"/>
                                        </p:tgtEl>
                                        <p:attrNameLst>
                                          <p:attrName>style.visibility</p:attrName>
                                        </p:attrNameLst>
                                      </p:cBhvr>
                                      <p:to>
                                        <p:strVal val="visible"/>
                                      </p:to>
                                    </p:set>
                                    <p:anim calcmode="lin" valueType="num">
                                      <p:cBhvr additive="base">
                                        <p:cTn id="23" dur="500" fill="hold"/>
                                        <p:tgtEl>
                                          <p:spTgt spid="20"/>
                                        </p:tgtEl>
                                        <p:attrNameLst>
                                          <p:attrName>ppt_x</p:attrName>
                                        </p:attrNameLst>
                                      </p:cBhvr>
                                      <p:tavLst>
                                        <p:tav tm="0">
                                          <p:val>
                                            <p:strVal val="#ppt_x"/>
                                          </p:val>
                                        </p:tav>
                                        <p:tav tm="100000">
                                          <p:val>
                                            <p:strVal val="#ppt_x"/>
                                          </p:val>
                                        </p:tav>
                                      </p:tavLst>
                                    </p:anim>
                                    <p:anim calcmode="lin" valueType="num">
                                      <p:cBhvr additive="base">
                                        <p:cTn id="24"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21"/>
                                        </p:tgtEl>
                                        <p:attrNameLst>
                                          <p:attrName>style.visibility</p:attrName>
                                        </p:attrNameLst>
                                      </p:cBhvr>
                                      <p:to>
                                        <p:strVal val="visible"/>
                                      </p:to>
                                    </p:set>
                                    <p:anim calcmode="lin" valueType="num">
                                      <p:cBhvr additive="base">
                                        <p:cTn id="29" dur="500" fill="hold"/>
                                        <p:tgtEl>
                                          <p:spTgt spid="21"/>
                                        </p:tgtEl>
                                        <p:attrNameLst>
                                          <p:attrName>ppt_x</p:attrName>
                                        </p:attrNameLst>
                                      </p:cBhvr>
                                      <p:tavLst>
                                        <p:tav tm="0">
                                          <p:val>
                                            <p:strVal val="#ppt_x"/>
                                          </p:val>
                                        </p:tav>
                                        <p:tav tm="100000">
                                          <p:val>
                                            <p:strVal val="#ppt_x"/>
                                          </p:val>
                                        </p:tav>
                                      </p:tavLst>
                                    </p:anim>
                                    <p:anim calcmode="lin" valueType="num">
                                      <p:cBhvr additive="base">
                                        <p:cTn id="30"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22"/>
                                        </p:tgtEl>
                                        <p:attrNameLst>
                                          <p:attrName>style.visibility</p:attrName>
                                        </p:attrNameLst>
                                      </p:cBhvr>
                                      <p:to>
                                        <p:strVal val="visible"/>
                                      </p:to>
                                    </p:set>
                                    <p:anim calcmode="lin" valueType="num">
                                      <p:cBhvr additive="base">
                                        <p:cTn id="35" dur="500" fill="hold"/>
                                        <p:tgtEl>
                                          <p:spTgt spid="22"/>
                                        </p:tgtEl>
                                        <p:attrNameLst>
                                          <p:attrName>ppt_x</p:attrName>
                                        </p:attrNameLst>
                                      </p:cBhvr>
                                      <p:tavLst>
                                        <p:tav tm="0">
                                          <p:val>
                                            <p:strVal val="#ppt_x"/>
                                          </p:val>
                                        </p:tav>
                                        <p:tav tm="100000">
                                          <p:val>
                                            <p:strVal val="#ppt_x"/>
                                          </p:val>
                                        </p:tav>
                                      </p:tavLst>
                                    </p:anim>
                                    <p:anim calcmode="lin" valueType="num">
                                      <p:cBhvr additive="base">
                                        <p:cTn id="36"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23"/>
                                        </p:tgtEl>
                                        <p:attrNameLst>
                                          <p:attrName>style.visibility</p:attrName>
                                        </p:attrNameLst>
                                      </p:cBhvr>
                                      <p:to>
                                        <p:strVal val="visible"/>
                                      </p:to>
                                    </p:set>
                                    <p:anim calcmode="lin" valueType="num">
                                      <p:cBhvr additive="base">
                                        <p:cTn id="41" dur="500" fill="hold"/>
                                        <p:tgtEl>
                                          <p:spTgt spid="23"/>
                                        </p:tgtEl>
                                        <p:attrNameLst>
                                          <p:attrName>ppt_x</p:attrName>
                                        </p:attrNameLst>
                                      </p:cBhvr>
                                      <p:tavLst>
                                        <p:tav tm="0">
                                          <p:val>
                                            <p:strVal val="#ppt_x"/>
                                          </p:val>
                                        </p:tav>
                                        <p:tav tm="100000">
                                          <p:val>
                                            <p:strVal val="#ppt_x"/>
                                          </p:val>
                                        </p:tav>
                                      </p:tavLst>
                                    </p:anim>
                                    <p:anim calcmode="lin" valueType="num">
                                      <p:cBhvr additive="base">
                                        <p:cTn id="42"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24"/>
                                        </p:tgtEl>
                                        <p:attrNameLst>
                                          <p:attrName>style.visibility</p:attrName>
                                        </p:attrNameLst>
                                      </p:cBhvr>
                                      <p:to>
                                        <p:strVal val="visible"/>
                                      </p:to>
                                    </p:set>
                                    <p:anim calcmode="lin" valueType="num">
                                      <p:cBhvr additive="base">
                                        <p:cTn id="47" dur="500" fill="hold"/>
                                        <p:tgtEl>
                                          <p:spTgt spid="24"/>
                                        </p:tgtEl>
                                        <p:attrNameLst>
                                          <p:attrName>ppt_x</p:attrName>
                                        </p:attrNameLst>
                                      </p:cBhvr>
                                      <p:tavLst>
                                        <p:tav tm="0">
                                          <p:val>
                                            <p:strVal val="#ppt_x"/>
                                          </p:val>
                                        </p:tav>
                                        <p:tav tm="100000">
                                          <p:val>
                                            <p:strVal val="#ppt_x"/>
                                          </p:val>
                                        </p:tav>
                                      </p:tavLst>
                                    </p:anim>
                                    <p:anim calcmode="lin" valueType="num">
                                      <p:cBhvr additive="base">
                                        <p:cTn id="48"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25"/>
                                        </p:tgtEl>
                                        <p:attrNameLst>
                                          <p:attrName>style.visibility</p:attrName>
                                        </p:attrNameLst>
                                      </p:cBhvr>
                                      <p:to>
                                        <p:strVal val="visible"/>
                                      </p:to>
                                    </p:set>
                                    <p:anim calcmode="lin" valueType="num">
                                      <p:cBhvr additive="base">
                                        <p:cTn id="53" dur="500" fill="hold"/>
                                        <p:tgtEl>
                                          <p:spTgt spid="25"/>
                                        </p:tgtEl>
                                        <p:attrNameLst>
                                          <p:attrName>ppt_x</p:attrName>
                                        </p:attrNameLst>
                                      </p:cBhvr>
                                      <p:tavLst>
                                        <p:tav tm="0">
                                          <p:val>
                                            <p:strVal val="#ppt_x"/>
                                          </p:val>
                                        </p:tav>
                                        <p:tav tm="100000">
                                          <p:val>
                                            <p:strVal val="#ppt_x"/>
                                          </p:val>
                                        </p:tav>
                                      </p:tavLst>
                                    </p:anim>
                                    <p:anim calcmode="lin" valueType="num">
                                      <p:cBhvr additive="base">
                                        <p:cTn id="54"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nodeType="clickEffect">
                                  <p:stCondLst>
                                    <p:cond delay="0"/>
                                  </p:stCondLst>
                                  <p:childTnLst>
                                    <p:set>
                                      <p:cBhvr>
                                        <p:cTn id="58" dur="1" fill="hold">
                                          <p:stCondLst>
                                            <p:cond delay="0"/>
                                          </p:stCondLst>
                                        </p:cTn>
                                        <p:tgtEl>
                                          <p:spTgt spid="26"/>
                                        </p:tgtEl>
                                        <p:attrNameLst>
                                          <p:attrName>style.visibility</p:attrName>
                                        </p:attrNameLst>
                                      </p:cBhvr>
                                      <p:to>
                                        <p:strVal val="visible"/>
                                      </p:to>
                                    </p:set>
                                    <p:anim calcmode="lin" valueType="num">
                                      <p:cBhvr additive="base">
                                        <p:cTn id="59" dur="500" fill="hold"/>
                                        <p:tgtEl>
                                          <p:spTgt spid="26"/>
                                        </p:tgtEl>
                                        <p:attrNameLst>
                                          <p:attrName>ppt_x</p:attrName>
                                        </p:attrNameLst>
                                      </p:cBhvr>
                                      <p:tavLst>
                                        <p:tav tm="0">
                                          <p:val>
                                            <p:strVal val="#ppt_x"/>
                                          </p:val>
                                        </p:tav>
                                        <p:tav tm="100000">
                                          <p:val>
                                            <p:strVal val="#ppt_x"/>
                                          </p:val>
                                        </p:tav>
                                      </p:tavLst>
                                    </p:anim>
                                    <p:anim calcmode="lin" valueType="num">
                                      <p:cBhvr additive="base">
                                        <p:cTn id="60"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nodeType="clickEffect">
                                  <p:stCondLst>
                                    <p:cond delay="0"/>
                                  </p:stCondLst>
                                  <p:childTnLst>
                                    <p:set>
                                      <p:cBhvr>
                                        <p:cTn id="64" dur="1" fill="hold">
                                          <p:stCondLst>
                                            <p:cond delay="0"/>
                                          </p:stCondLst>
                                        </p:cTn>
                                        <p:tgtEl>
                                          <p:spTgt spid="27"/>
                                        </p:tgtEl>
                                        <p:attrNameLst>
                                          <p:attrName>style.visibility</p:attrName>
                                        </p:attrNameLst>
                                      </p:cBhvr>
                                      <p:to>
                                        <p:strVal val="visible"/>
                                      </p:to>
                                    </p:set>
                                    <p:anim calcmode="lin" valueType="num">
                                      <p:cBhvr additive="base">
                                        <p:cTn id="65" dur="500" fill="hold"/>
                                        <p:tgtEl>
                                          <p:spTgt spid="27"/>
                                        </p:tgtEl>
                                        <p:attrNameLst>
                                          <p:attrName>ppt_x</p:attrName>
                                        </p:attrNameLst>
                                      </p:cBhvr>
                                      <p:tavLst>
                                        <p:tav tm="0">
                                          <p:val>
                                            <p:strVal val="#ppt_x"/>
                                          </p:val>
                                        </p:tav>
                                        <p:tav tm="100000">
                                          <p:val>
                                            <p:strVal val="#ppt_x"/>
                                          </p:val>
                                        </p:tav>
                                      </p:tavLst>
                                    </p:anim>
                                    <p:anim calcmode="lin" valueType="num">
                                      <p:cBhvr additive="base">
                                        <p:cTn id="66"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2" presetClass="entr" presetSubtype="4" fill="hold" nodeType="clickEffect">
                                  <p:stCondLst>
                                    <p:cond delay="0"/>
                                  </p:stCondLst>
                                  <p:childTnLst>
                                    <p:set>
                                      <p:cBhvr>
                                        <p:cTn id="70" dur="1" fill="hold">
                                          <p:stCondLst>
                                            <p:cond delay="0"/>
                                          </p:stCondLst>
                                        </p:cTn>
                                        <p:tgtEl>
                                          <p:spTgt spid="28"/>
                                        </p:tgtEl>
                                        <p:attrNameLst>
                                          <p:attrName>style.visibility</p:attrName>
                                        </p:attrNameLst>
                                      </p:cBhvr>
                                      <p:to>
                                        <p:strVal val="visible"/>
                                      </p:to>
                                    </p:set>
                                    <p:anim calcmode="lin" valueType="num">
                                      <p:cBhvr additive="base">
                                        <p:cTn id="71" dur="500" fill="hold"/>
                                        <p:tgtEl>
                                          <p:spTgt spid="28"/>
                                        </p:tgtEl>
                                        <p:attrNameLst>
                                          <p:attrName>ppt_x</p:attrName>
                                        </p:attrNameLst>
                                      </p:cBhvr>
                                      <p:tavLst>
                                        <p:tav tm="0">
                                          <p:val>
                                            <p:strVal val="#ppt_x"/>
                                          </p:val>
                                        </p:tav>
                                        <p:tav tm="100000">
                                          <p:val>
                                            <p:strVal val="#ppt_x"/>
                                          </p:val>
                                        </p:tav>
                                      </p:tavLst>
                                    </p:anim>
                                    <p:anim calcmode="lin" valueType="num">
                                      <p:cBhvr additive="base">
                                        <p:cTn id="72"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2" presetClass="entr" presetSubtype="4" fill="hold" nodeType="clickEffect">
                                  <p:stCondLst>
                                    <p:cond delay="0"/>
                                  </p:stCondLst>
                                  <p:childTnLst>
                                    <p:set>
                                      <p:cBhvr>
                                        <p:cTn id="76" dur="1" fill="hold">
                                          <p:stCondLst>
                                            <p:cond delay="0"/>
                                          </p:stCondLst>
                                        </p:cTn>
                                        <p:tgtEl>
                                          <p:spTgt spid="29"/>
                                        </p:tgtEl>
                                        <p:attrNameLst>
                                          <p:attrName>style.visibility</p:attrName>
                                        </p:attrNameLst>
                                      </p:cBhvr>
                                      <p:to>
                                        <p:strVal val="visible"/>
                                      </p:to>
                                    </p:set>
                                    <p:anim calcmode="lin" valueType="num">
                                      <p:cBhvr additive="base">
                                        <p:cTn id="77" dur="500" fill="hold"/>
                                        <p:tgtEl>
                                          <p:spTgt spid="29"/>
                                        </p:tgtEl>
                                        <p:attrNameLst>
                                          <p:attrName>ppt_x</p:attrName>
                                        </p:attrNameLst>
                                      </p:cBhvr>
                                      <p:tavLst>
                                        <p:tav tm="0">
                                          <p:val>
                                            <p:strVal val="#ppt_x"/>
                                          </p:val>
                                        </p:tav>
                                        <p:tav tm="100000">
                                          <p:val>
                                            <p:strVal val="#ppt_x"/>
                                          </p:val>
                                        </p:tav>
                                      </p:tavLst>
                                    </p:anim>
                                    <p:anim calcmode="lin" valueType="num">
                                      <p:cBhvr additive="base">
                                        <p:cTn id="78"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14" presetClass="entr" presetSubtype="10" fill="hold" grpId="0" nodeType="clickEffect">
                                  <p:stCondLst>
                                    <p:cond delay="0"/>
                                  </p:stCondLst>
                                  <p:childTnLst>
                                    <p:set>
                                      <p:cBhvr>
                                        <p:cTn id="82" dur="1" fill="hold">
                                          <p:stCondLst>
                                            <p:cond delay="0"/>
                                          </p:stCondLst>
                                        </p:cTn>
                                        <p:tgtEl>
                                          <p:spTgt spid="3"/>
                                        </p:tgtEl>
                                        <p:attrNameLst>
                                          <p:attrName>style.visibility</p:attrName>
                                        </p:attrNameLst>
                                      </p:cBhvr>
                                      <p:to>
                                        <p:strVal val="visible"/>
                                      </p:to>
                                    </p:set>
                                    <p:animEffect transition="in" filter="randombar(horizontal)">
                                      <p:cBhvr>
                                        <p:cTn id="83" dur="500"/>
                                        <p:tgtEl>
                                          <p:spTgt spid="3"/>
                                        </p:tgtEl>
                                      </p:cBhvr>
                                    </p:animEffect>
                                  </p:childTnLst>
                                </p:cTn>
                              </p:par>
                              <p:par>
                                <p:cTn id="84" presetID="14" presetClass="entr" presetSubtype="10" fill="hold" grpId="0" nodeType="withEffect">
                                  <p:stCondLst>
                                    <p:cond delay="0"/>
                                  </p:stCondLst>
                                  <p:childTnLst>
                                    <p:set>
                                      <p:cBhvr>
                                        <p:cTn id="85" dur="1" fill="hold">
                                          <p:stCondLst>
                                            <p:cond delay="0"/>
                                          </p:stCondLst>
                                        </p:cTn>
                                        <p:tgtEl>
                                          <p:spTgt spid="16"/>
                                        </p:tgtEl>
                                        <p:attrNameLst>
                                          <p:attrName>style.visibility</p:attrName>
                                        </p:attrNameLst>
                                      </p:cBhvr>
                                      <p:to>
                                        <p:strVal val="visible"/>
                                      </p:to>
                                    </p:set>
                                    <p:animEffect transition="in" filter="randombar(horizontal)">
                                      <p:cBhvr>
                                        <p:cTn id="86" dur="500"/>
                                        <p:tgtEl>
                                          <p:spTgt spid="16"/>
                                        </p:tgtEl>
                                      </p:cBhvr>
                                    </p:animEffect>
                                  </p:childTnLst>
                                </p:cTn>
                              </p:par>
                              <p:par>
                                <p:cTn id="87" presetID="14" presetClass="entr" presetSubtype="10" fill="hold" grpId="0" nodeType="withEffect">
                                  <p:stCondLst>
                                    <p:cond delay="0"/>
                                  </p:stCondLst>
                                  <p:childTnLst>
                                    <p:set>
                                      <p:cBhvr>
                                        <p:cTn id="88" dur="1" fill="hold">
                                          <p:stCondLst>
                                            <p:cond delay="0"/>
                                          </p:stCondLst>
                                        </p:cTn>
                                        <p:tgtEl>
                                          <p:spTgt spid="17"/>
                                        </p:tgtEl>
                                        <p:attrNameLst>
                                          <p:attrName>style.visibility</p:attrName>
                                        </p:attrNameLst>
                                      </p:cBhvr>
                                      <p:to>
                                        <p:strVal val="visible"/>
                                      </p:to>
                                    </p:set>
                                    <p:animEffect transition="in" filter="randombar(horizontal)">
                                      <p:cBhvr>
                                        <p:cTn id="89" dur="500"/>
                                        <p:tgtEl>
                                          <p:spTgt spid="17"/>
                                        </p:tgtEl>
                                      </p:cBhvr>
                                    </p:animEffect>
                                  </p:childTnLst>
                                </p:cTn>
                              </p:par>
                              <p:par>
                                <p:cTn id="90" presetID="14" presetClass="entr" presetSubtype="10" fill="hold" grpId="0" nodeType="withEffect">
                                  <p:stCondLst>
                                    <p:cond delay="0"/>
                                  </p:stCondLst>
                                  <p:childTnLst>
                                    <p:set>
                                      <p:cBhvr>
                                        <p:cTn id="91" dur="1" fill="hold">
                                          <p:stCondLst>
                                            <p:cond delay="0"/>
                                          </p:stCondLst>
                                        </p:cTn>
                                        <p:tgtEl>
                                          <p:spTgt spid="30"/>
                                        </p:tgtEl>
                                        <p:attrNameLst>
                                          <p:attrName>style.visibility</p:attrName>
                                        </p:attrNameLst>
                                      </p:cBhvr>
                                      <p:to>
                                        <p:strVal val="visible"/>
                                      </p:to>
                                    </p:set>
                                    <p:animEffect transition="in" filter="randombar(horizontal)">
                                      <p:cBhvr>
                                        <p:cTn id="92" dur="500"/>
                                        <p:tgtEl>
                                          <p:spTgt spid="30"/>
                                        </p:tgtEl>
                                      </p:cBhvr>
                                    </p:animEffect>
                                  </p:childTnLst>
                                </p:cTn>
                              </p:par>
                              <p:par>
                                <p:cTn id="93" presetID="14" presetClass="entr" presetSubtype="10" fill="hold" grpId="0" nodeType="withEffect">
                                  <p:stCondLst>
                                    <p:cond delay="0"/>
                                  </p:stCondLst>
                                  <p:childTnLst>
                                    <p:set>
                                      <p:cBhvr>
                                        <p:cTn id="94" dur="1" fill="hold">
                                          <p:stCondLst>
                                            <p:cond delay="0"/>
                                          </p:stCondLst>
                                        </p:cTn>
                                        <p:tgtEl>
                                          <p:spTgt spid="31"/>
                                        </p:tgtEl>
                                        <p:attrNameLst>
                                          <p:attrName>style.visibility</p:attrName>
                                        </p:attrNameLst>
                                      </p:cBhvr>
                                      <p:to>
                                        <p:strVal val="visible"/>
                                      </p:to>
                                    </p:set>
                                    <p:animEffect transition="in" filter="randombar(horizontal)">
                                      <p:cBhvr>
                                        <p:cTn id="95" dur="500"/>
                                        <p:tgtEl>
                                          <p:spTgt spid="31"/>
                                        </p:tgtEl>
                                      </p:cBhvr>
                                    </p:animEffect>
                                  </p:childTnLst>
                                </p:cTn>
                              </p:par>
                              <p:par>
                                <p:cTn id="96" presetID="14" presetClass="entr" presetSubtype="10" fill="hold" grpId="0" nodeType="withEffect">
                                  <p:stCondLst>
                                    <p:cond delay="0"/>
                                  </p:stCondLst>
                                  <p:childTnLst>
                                    <p:set>
                                      <p:cBhvr>
                                        <p:cTn id="97" dur="1" fill="hold">
                                          <p:stCondLst>
                                            <p:cond delay="0"/>
                                          </p:stCondLst>
                                        </p:cTn>
                                        <p:tgtEl>
                                          <p:spTgt spid="32"/>
                                        </p:tgtEl>
                                        <p:attrNameLst>
                                          <p:attrName>style.visibility</p:attrName>
                                        </p:attrNameLst>
                                      </p:cBhvr>
                                      <p:to>
                                        <p:strVal val="visible"/>
                                      </p:to>
                                    </p:set>
                                    <p:animEffect transition="in" filter="randombar(horizontal)">
                                      <p:cBhvr>
                                        <p:cTn id="98" dur="500"/>
                                        <p:tgtEl>
                                          <p:spTgt spid="32"/>
                                        </p:tgtEl>
                                      </p:cBhvr>
                                    </p:animEffect>
                                  </p:childTnLst>
                                </p:cTn>
                              </p:par>
                            </p:childTnLst>
                          </p:cTn>
                        </p:par>
                      </p:childTnLst>
                    </p:cTn>
                  </p:par>
                  <p:par>
                    <p:cTn id="99" fill="hold">
                      <p:stCondLst>
                        <p:cond delay="indefinite"/>
                      </p:stCondLst>
                      <p:childTnLst>
                        <p:par>
                          <p:cTn id="100" fill="hold">
                            <p:stCondLst>
                              <p:cond delay="0"/>
                            </p:stCondLst>
                            <p:childTnLst>
                              <p:par>
                                <p:cTn id="101" presetID="2" presetClass="entr" presetSubtype="8" fill="hold" grpId="0" nodeType="clickEffect">
                                  <p:stCondLst>
                                    <p:cond delay="0"/>
                                  </p:stCondLst>
                                  <p:childTnLst>
                                    <p:set>
                                      <p:cBhvr>
                                        <p:cTn id="102" dur="1" fill="hold">
                                          <p:stCondLst>
                                            <p:cond delay="0"/>
                                          </p:stCondLst>
                                        </p:cTn>
                                        <p:tgtEl>
                                          <p:spTgt spid="4"/>
                                        </p:tgtEl>
                                        <p:attrNameLst>
                                          <p:attrName>style.visibility</p:attrName>
                                        </p:attrNameLst>
                                      </p:cBhvr>
                                      <p:to>
                                        <p:strVal val="visible"/>
                                      </p:to>
                                    </p:set>
                                    <p:anim calcmode="lin" valueType="num">
                                      <p:cBhvr additive="base">
                                        <p:cTn id="103" dur="500" fill="hold"/>
                                        <p:tgtEl>
                                          <p:spTgt spid="4"/>
                                        </p:tgtEl>
                                        <p:attrNameLst>
                                          <p:attrName>ppt_x</p:attrName>
                                        </p:attrNameLst>
                                      </p:cBhvr>
                                      <p:tavLst>
                                        <p:tav tm="0">
                                          <p:val>
                                            <p:strVal val="0-#ppt_w/2"/>
                                          </p:val>
                                        </p:tav>
                                        <p:tav tm="100000">
                                          <p:val>
                                            <p:strVal val="#ppt_x"/>
                                          </p:val>
                                        </p:tav>
                                      </p:tavLst>
                                    </p:anim>
                                    <p:anim calcmode="lin" valueType="num">
                                      <p:cBhvr additive="base">
                                        <p:cTn id="104"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 presetClass="entr" presetSubtype="4" fill="hold" grpId="0" nodeType="clickEffect">
                                  <p:stCondLst>
                                    <p:cond delay="0"/>
                                  </p:stCondLst>
                                  <p:childTnLst>
                                    <p:set>
                                      <p:cBhvr>
                                        <p:cTn id="108" dur="1" fill="hold">
                                          <p:stCondLst>
                                            <p:cond delay="0"/>
                                          </p:stCondLst>
                                        </p:cTn>
                                        <p:tgtEl>
                                          <p:spTgt spid="19"/>
                                        </p:tgtEl>
                                        <p:attrNameLst>
                                          <p:attrName>style.visibility</p:attrName>
                                        </p:attrNameLst>
                                      </p:cBhvr>
                                      <p:to>
                                        <p:strVal val="visible"/>
                                      </p:to>
                                    </p:set>
                                    <p:anim calcmode="lin" valueType="num">
                                      <p:cBhvr additive="base">
                                        <p:cTn id="109" dur="500" fill="hold"/>
                                        <p:tgtEl>
                                          <p:spTgt spid="19"/>
                                        </p:tgtEl>
                                        <p:attrNameLst>
                                          <p:attrName>ppt_x</p:attrName>
                                        </p:attrNameLst>
                                      </p:cBhvr>
                                      <p:tavLst>
                                        <p:tav tm="0">
                                          <p:val>
                                            <p:strVal val="#ppt_x"/>
                                          </p:val>
                                        </p:tav>
                                        <p:tav tm="100000">
                                          <p:val>
                                            <p:strVal val="#ppt_x"/>
                                          </p:val>
                                        </p:tav>
                                      </p:tavLst>
                                    </p:anim>
                                    <p:anim calcmode="lin" valueType="num">
                                      <p:cBhvr additive="base">
                                        <p:cTn id="110"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2" presetClass="entr" presetSubtype="2" fill="hold" grpId="0" nodeType="clickEffect">
                                  <p:stCondLst>
                                    <p:cond delay="0"/>
                                  </p:stCondLst>
                                  <p:childTnLst>
                                    <p:set>
                                      <p:cBhvr>
                                        <p:cTn id="114" dur="1" fill="hold">
                                          <p:stCondLst>
                                            <p:cond delay="0"/>
                                          </p:stCondLst>
                                        </p:cTn>
                                        <p:tgtEl>
                                          <p:spTgt spid="7"/>
                                        </p:tgtEl>
                                        <p:attrNameLst>
                                          <p:attrName>style.visibility</p:attrName>
                                        </p:attrNameLst>
                                      </p:cBhvr>
                                      <p:to>
                                        <p:strVal val="visible"/>
                                      </p:to>
                                    </p:set>
                                    <p:anim calcmode="lin" valueType="num">
                                      <p:cBhvr additive="base">
                                        <p:cTn id="115" dur="500" fill="hold"/>
                                        <p:tgtEl>
                                          <p:spTgt spid="7"/>
                                        </p:tgtEl>
                                        <p:attrNameLst>
                                          <p:attrName>ppt_x</p:attrName>
                                        </p:attrNameLst>
                                      </p:cBhvr>
                                      <p:tavLst>
                                        <p:tav tm="0">
                                          <p:val>
                                            <p:strVal val="1+#ppt_w/2"/>
                                          </p:val>
                                        </p:tav>
                                        <p:tav tm="100000">
                                          <p:val>
                                            <p:strVal val="#ppt_x"/>
                                          </p:val>
                                        </p:tav>
                                      </p:tavLst>
                                    </p:anim>
                                    <p:anim calcmode="lin" valueType="num">
                                      <p:cBhvr additive="base">
                                        <p:cTn id="116"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8" grpId="0" autoUpdateAnimBg="0"/>
      <p:bldP spid="3" grpId="0" animBg="1"/>
      <p:bldP spid="16" grpId="0" animBg="1"/>
      <p:bldP spid="17" grpId="0" animBg="1"/>
      <p:bldP spid="4" grpId="0"/>
      <p:bldP spid="19" grpId="0"/>
      <p:bldP spid="7" grpId="0"/>
      <p:bldP spid="30" grpId="0" animBg="1"/>
      <p:bldP spid="31" grpId="0" animBg="1"/>
      <p:bldP spid="3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Text Box 3"/>
          <p:cNvSpPr txBox="1">
            <a:spLocks noChangeArrowheads="1"/>
          </p:cNvSpPr>
          <p:nvPr/>
        </p:nvSpPr>
        <p:spPr bwMode="auto">
          <a:xfrm>
            <a:off x="1295400" y="1828800"/>
            <a:ext cx="739140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50000"/>
              </a:spcBef>
              <a:buFontTx/>
              <a:buNone/>
            </a:pPr>
            <a:r>
              <a:rPr lang="es-MX" altLang="en-US" sz="2000" dirty="0">
                <a:latin typeface="Arial" panose="020B0604020202020204" pitchFamily="34" charset="0"/>
              </a:rPr>
              <a:t>En el banco de un aula, hay 4 asientos disponibles. ¿Cuál es la probabilidad de que Alicia y Bautista se sienten dejando libre el asiento junto a la pared? </a:t>
            </a:r>
            <a:endParaRPr lang="en-US" altLang="en-US" sz="2000" dirty="0">
              <a:latin typeface="Arial" panose="020B0604020202020204" pitchFamily="34" charset="0"/>
            </a:endParaRPr>
          </a:p>
        </p:txBody>
      </p:sp>
      <p:sp>
        <p:nvSpPr>
          <p:cNvPr id="11" name="Rectangle 2"/>
          <p:cNvSpPr txBox="1">
            <a:spLocks noChangeArrowheads="1"/>
          </p:cNvSpPr>
          <p:nvPr/>
        </p:nvSpPr>
        <p:spPr bwMode="auto">
          <a:xfrm>
            <a:off x="1066800" y="355599"/>
            <a:ext cx="7620000" cy="1216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a:lstStyle>
          <a:p>
            <a:pPr eaLnBrk="1" hangingPunct="1"/>
            <a:r>
              <a:rPr lang="es-MX" altLang="en-US" sz="3200" b="1" dirty="0">
                <a:latin typeface="Broadway" panose="04040905080B02020502" pitchFamily="82" charset="0"/>
              </a:rPr>
              <a:t>Cálculo de probabilidades con la regla de Laplace</a:t>
            </a:r>
            <a:endParaRPr lang="en-US" altLang="en-US" sz="3200" b="1" dirty="0">
              <a:latin typeface="Broadway" panose="04040905080B02020502" pitchFamily="82" charset="0"/>
            </a:endParaRPr>
          </a:p>
        </p:txBody>
      </p:sp>
    </p:spTree>
    <p:extLst>
      <p:ext uri="{BB962C8B-B14F-4D97-AF65-F5344CB8AC3E}">
        <p14:creationId xmlns:p14="http://schemas.microsoft.com/office/powerpoint/2010/main" val="25398569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Text Box 4"/>
          <p:cNvSpPr txBox="1">
            <a:spLocks noChangeArrowheads="1"/>
          </p:cNvSpPr>
          <p:nvPr/>
        </p:nvSpPr>
        <p:spPr bwMode="auto">
          <a:xfrm>
            <a:off x="3707904" y="1819350"/>
            <a:ext cx="223569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s-MX" altLang="en-US" sz="1800" dirty="0">
                <a:latin typeface="Broadway" panose="04040905080B02020502" pitchFamily="82" charset="0"/>
              </a:rPr>
              <a:t>Casos favorables </a:t>
            </a:r>
            <a:endParaRPr lang="en-US" altLang="en-US" sz="1800" dirty="0">
              <a:latin typeface="Broadway" panose="04040905080B02020502" pitchFamily="82" charset="0"/>
            </a:endParaRPr>
          </a:p>
        </p:txBody>
      </p:sp>
      <p:sp>
        <p:nvSpPr>
          <p:cNvPr id="11" name="Rectangle 2"/>
          <p:cNvSpPr txBox="1">
            <a:spLocks noChangeArrowheads="1"/>
          </p:cNvSpPr>
          <p:nvPr/>
        </p:nvSpPr>
        <p:spPr bwMode="auto">
          <a:xfrm>
            <a:off x="1066800" y="355599"/>
            <a:ext cx="7620000" cy="1216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a:lstStyle>
          <a:p>
            <a:pPr eaLnBrk="1" hangingPunct="1"/>
            <a:r>
              <a:rPr lang="es-MX" altLang="en-US" sz="3200" b="1" dirty="0">
                <a:latin typeface="Broadway" panose="04040905080B02020502" pitchFamily="82" charset="0"/>
              </a:rPr>
              <a:t>Cálculo de probabilidades con la regla de Laplace</a:t>
            </a:r>
            <a:endParaRPr lang="en-US" altLang="en-US" sz="3200" b="1" dirty="0">
              <a:latin typeface="Broadway" panose="04040905080B02020502" pitchFamily="82" charset="0"/>
            </a:endParaRPr>
          </a:p>
        </p:txBody>
      </p:sp>
      <p:graphicFrame>
        <p:nvGraphicFramePr>
          <p:cNvPr id="2" name="Table 1">
            <a:extLst>
              <a:ext uri="{FF2B5EF4-FFF2-40B4-BE49-F238E27FC236}">
                <a16:creationId xmlns:a16="http://schemas.microsoft.com/office/drawing/2014/main" id="{544E6A9D-C011-4C1B-B934-22A432889165}"/>
              </a:ext>
            </a:extLst>
          </p:cNvPr>
          <p:cNvGraphicFramePr>
            <a:graphicFrameLocks noGrp="1"/>
          </p:cNvGraphicFramePr>
          <p:nvPr>
            <p:extLst>
              <p:ext uri="{D42A27DB-BD31-4B8C-83A1-F6EECF244321}">
                <p14:modId xmlns:p14="http://schemas.microsoft.com/office/powerpoint/2010/main" val="1373852742"/>
              </p:ext>
            </p:extLst>
          </p:nvPr>
        </p:nvGraphicFramePr>
        <p:xfrm>
          <a:off x="3059832" y="2495226"/>
          <a:ext cx="3456385" cy="365760"/>
        </p:xfrm>
        <a:graphic>
          <a:graphicData uri="http://schemas.openxmlformats.org/drawingml/2006/table">
            <a:tbl>
              <a:tblPr firstRow="1" bandRow="1">
                <a:tableStyleId>{5C22544A-7EE6-4342-B048-85BDC9FD1C3A}</a:tableStyleId>
              </a:tblPr>
              <a:tblGrid>
                <a:gridCol w="877812">
                  <a:extLst>
                    <a:ext uri="{9D8B030D-6E8A-4147-A177-3AD203B41FA5}">
                      <a16:colId xmlns:a16="http://schemas.microsoft.com/office/drawing/2014/main" val="53470728"/>
                    </a:ext>
                  </a:extLst>
                </a:gridCol>
                <a:gridCol w="932675">
                  <a:extLst>
                    <a:ext uri="{9D8B030D-6E8A-4147-A177-3AD203B41FA5}">
                      <a16:colId xmlns:a16="http://schemas.microsoft.com/office/drawing/2014/main" val="1492904940"/>
                    </a:ext>
                  </a:extLst>
                </a:gridCol>
                <a:gridCol w="822949">
                  <a:extLst>
                    <a:ext uri="{9D8B030D-6E8A-4147-A177-3AD203B41FA5}">
                      <a16:colId xmlns:a16="http://schemas.microsoft.com/office/drawing/2014/main" val="403801961"/>
                    </a:ext>
                  </a:extLst>
                </a:gridCol>
                <a:gridCol w="822949">
                  <a:extLst>
                    <a:ext uri="{9D8B030D-6E8A-4147-A177-3AD203B41FA5}">
                      <a16:colId xmlns:a16="http://schemas.microsoft.com/office/drawing/2014/main" val="1813496922"/>
                    </a:ext>
                  </a:extLst>
                </a:gridCol>
              </a:tblGrid>
              <a:tr h="337279">
                <a:tc>
                  <a:txBody>
                    <a:bodyPr/>
                    <a:lstStyle/>
                    <a:p>
                      <a:pPr algn="ctr"/>
                      <a:r>
                        <a:rPr lang="es-AR" dirty="0">
                          <a:solidFill>
                            <a:schemeClr val="tx2">
                              <a:lumMod val="75000"/>
                              <a:lumOff val="25000"/>
                            </a:schemeClr>
                          </a:solidFill>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ctr"/>
                      <a:r>
                        <a:rPr lang="es-AR" dirty="0">
                          <a:solidFill>
                            <a:schemeClr val="tx2">
                              <a:lumMod val="75000"/>
                              <a:lumOff val="25000"/>
                            </a:schemeClr>
                          </a:solidFill>
                        </a:rPr>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ctr"/>
                      <a:endParaRPr lang="es-AR" dirty="0">
                        <a:solidFill>
                          <a:schemeClr val="tx2">
                            <a:lumMod val="75000"/>
                            <a:lumOff val="2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ctr"/>
                      <a:endParaRPr lang="es-AR" dirty="0">
                        <a:solidFill>
                          <a:schemeClr val="tx2">
                            <a:lumMod val="75000"/>
                            <a:lumOff val="2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extLst>
                  <a:ext uri="{0D108BD9-81ED-4DB2-BD59-A6C34878D82A}">
                    <a16:rowId xmlns:a16="http://schemas.microsoft.com/office/drawing/2014/main" val="1523191605"/>
                  </a:ext>
                </a:extLst>
              </a:tr>
            </a:tbl>
          </a:graphicData>
        </a:graphic>
      </p:graphicFrame>
      <p:sp>
        <p:nvSpPr>
          <p:cNvPr id="3" name="Left Brace 2">
            <a:extLst>
              <a:ext uri="{FF2B5EF4-FFF2-40B4-BE49-F238E27FC236}">
                <a16:creationId xmlns:a16="http://schemas.microsoft.com/office/drawing/2014/main" id="{52963C1B-86C8-4ADF-AE48-B87014A15BB8}"/>
              </a:ext>
            </a:extLst>
          </p:cNvPr>
          <p:cNvSpPr/>
          <p:nvPr/>
        </p:nvSpPr>
        <p:spPr bwMode="auto">
          <a:xfrm>
            <a:off x="2713864" y="2492400"/>
            <a:ext cx="261743" cy="800561"/>
          </a:xfrm>
          <a:prstGeom prst="leftBrace">
            <a:avLst/>
          </a:prstGeom>
          <a:noFill/>
          <a:ln w="28575" cap="flat" cmpd="sng" algn="ctr">
            <a:solidFill>
              <a:schemeClr val="tx2">
                <a:lumMod val="75000"/>
                <a:lumOff val="25000"/>
              </a:schemeClr>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s-AR" sz="2400" b="0" i="0" u="none" strike="noStrike" cap="none" normalizeH="0" baseline="0">
              <a:ln>
                <a:noFill/>
              </a:ln>
              <a:solidFill>
                <a:schemeClr val="tx1"/>
              </a:solidFill>
              <a:effectLst/>
              <a:latin typeface="Times New Roman" panose="02020603050405020304" pitchFamily="18" charset="0"/>
            </a:endParaRPr>
          </a:p>
        </p:txBody>
      </p:sp>
      <p:sp>
        <p:nvSpPr>
          <p:cNvPr id="16" name="Left Brace 15">
            <a:extLst>
              <a:ext uri="{FF2B5EF4-FFF2-40B4-BE49-F238E27FC236}">
                <a16:creationId xmlns:a16="http://schemas.microsoft.com/office/drawing/2014/main" id="{B0AF2D2C-79ED-482D-822E-2BE147BC0D9A}"/>
              </a:ext>
            </a:extLst>
          </p:cNvPr>
          <p:cNvSpPr/>
          <p:nvPr/>
        </p:nvSpPr>
        <p:spPr bwMode="auto">
          <a:xfrm>
            <a:off x="2713864" y="3393922"/>
            <a:ext cx="261743" cy="800561"/>
          </a:xfrm>
          <a:prstGeom prst="leftBrace">
            <a:avLst/>
          </a:prstGeom>
          <a:noFill/>
          <a:ln w="28575" cap="flat" cmpd="sng" algn="ctr">
            <a:solidFill>
              <a:schemeClr val="tx2">
                <a:lumMod val="75000"/>
                <a:lumOff val="25000"/>
              </a:schemeClr>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s-AR" sz="2400" b="0" i="0" u="none" strike="noStrike" cap="none" normalizeH="0" baseline="0">
              <a:ln>
                <a:noFill/>
              </a:ln>
              <a:solidFill>
                <a:schemeClr val="tx1"/>
              </a:solidFill>
              <a:effectLst/>
              <a:latin typeface="Times New Roman" panose="02020603050405020304" pitchFamily="18" charset="0"/>
            </a:endParaRPr>
          </a:p>
        </p:txBody>
      </p:sp>
      <p:sp>
        <p:nvSpPr>
          <p:cNvPr id="17" name="Left Brace 16">
            <a:extLst>
              <a:ext uri="{FF2B5EF4-FFF2-40B4-BE49-F238E27FC236}">
                <a16:creationId xmlns:a16="http://schemas.microsoft.com/office/drawing/2014/main" id="{B54DE829-E1C3-489D-BA66-F3E327356052}"/>
              </a:ext>
            </a:extLst>
          </p:cNvPr>
          <p:cNvSpPr/>
          <p:nvPr/>
        </p:nvSpPr>
        <p:spPr bwMode="auto">
          <a:xfrm>
            <a:off x="2713864" y="4258018"/>
            <a:ext cx="261743" cy="800561"/>
          </a:xfrm>
          <a:prstGeom prst="leftBrace">
            <a:avLst/>
          </a:prstGeom>
          <a:noFill/>
          <a:ln w="28575" cap="flat" cmpd="sng" algn="ctr">
            <a:solidFill>
              <a:schemeClr val="tx2">
                <a:lumMod val="75000"/>
                <a:lumOff val="25000"/>
              </a:schemeClr>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s-AR" sz="2400" b="0" i="0" u="none" strike="noStrike" cap="none" normalizeH="0" baseline="0">
              <a:ln>
                <a:noFill/>
              </a:ln>
              <a:solidFill>
                <a:schemeClr val="tx1"/>
              </a:solidFill>
              <a:effectLst/>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989F7B6C-F967-4A9E-824D-6AAC115F4A81}"/>
                  </a:ext>
                </a:extLst>
              </p:cNvPr>
              <p:cNvSpPr txBox="1"/>
              <p:nvPr/>
            </p:nvSpPr>
            <p:spPr>
              <a:xfrm>
                <a:off x="2826110" y="5670424"/>
                <a:ext cx="773225" cy="69147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s-AR" i="1" smtClean="0">
                              <a:latin typeface="Cambria Math" panose="02040503050406030204" pitchFamily="18" charset="0"/>
                            </a:rPr>
                          </m:ctrlPr>
                        </m:fPr>
                        <m:num>
                          <m:r>
                            <a:rPr lang="es-AR" b="0" i="1" smtClean="0">
                              <a:latin typeface="Cambria Math" panose="02040503050406030204" pitchFamily="18" charset="0"/>
                            </a:rPr>
                            <m:t>3</m:t>
                          </m:r>
                          <m:r>
                            <a:rPr lang="es-AR" b="0" i="1" smtClean="0">
                              <a:latin typeface="Cambria Math" panose="02040503050406030204" pitchFamily="18" charset="0"/>
                              <a:ea typeface="Cambria Math" panose="02040503050406030204" pitchFamily="18" charset="0"/>
                            </a:rPr>
                            <m:t>×2</m:t>
                          </m:r>
                        </m:num>
                        <m:den>
                          <m:r>
                            <a:rPr lang="es-AR" b="0" i="1" smtClean="0">
                              <a:latin typeface="Cambria Math" panose="02040503050406030204" pitchFamily="18" charset="0"/>
                            </a:rPr>
                            <m:t>2</m:t>
                          </m:r>
                        </m:den>
                      </m:f>
                    </m:oMath>
                  </m:oMathPara>
                </a14:m>
                <a:endParaRPr lang="es-AR" dirty="0"/>
              </a:p>
            </p:txBody>
          </p:sp>
        </mc:Choice>
        <mc:Fallback xmlns="">
          <p:sp>
            <p:nvSpPr>
              <p:cNvPr id="4" name="TextBox 3">
                <a:extLst>
                  <a:ext uri="{FF2B5EF4-FFF2-40B4-BE49-F238E27FC236}">
                    <a16:creationId xmlns:a16="http://schemas.microsoft.com/office/drawing/2014/main" id="{989F7B6C-F967-4A9E-824D-6AAC115F4A81}"/>
                  </a:ext>
                </a:extLst>
              </p:cNvPr>
              <p:cNvSpPr txBox="1">
                <a:spLocks noRot="1" noChangeAspect="1" noMove="1" noResize="1" noEditPoints="1" noAdjustHandles="1" noChangeArrowheads="1" noChangeShapeType="1" noTextEdit="1"/>
              </p:cNvSpPr>
              <p:nvPr/>
            </p:nvSpPr>
            <p:spPr>
              <a:xfrm>
                <a:off x="2826110" y="5670424"/>
                <a:ext cx="773225" cy="691471"/>
              </a:xfrm>
              <a:prstGeom prst="rect">
                <a:avLst/>
              </a:prstGeom>
              <a:blipFill>
                <a:blip r:embed="rId2"/>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FB728A2A-2755-47D5-9B6F-C63D530F95FF}"/>
                  </a:ext>
                </a:extLst>
              </p:cNvPr>
              <p:cNvSpPr txBox="1"/>
              <p:nvPr/>
            </p:nvSpPr>
            <p:spPr>
              <a:xfrm>
                <a:off x="3723514" y="5661248"/>
                <a:ext cx="1261864" cy="69012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s-AR" b="0" i="1" smtClean="0">
                          <a:latin typeface="Cambria Math" panose="02040503050406030204" pitchFamily="18" charset="0"/>
                        </a:rPr>
                        <m:t>=</m:t>
                      </m:r>
                      <m:f>
                        <m:fPr>
                          <m:ctrlPr>
                            <a:rPr lang="es-AR" i="1" smtClean="0">
                              <a:latin typeface="Cambria Math" panose="02040503050406030204" pitchFamily="18" charset="0"/>
                            </a:rPr>
                          </m:ctrlPr>
                        </m:fPr>
                        <m:num>
                          <m:r>
                            <a:rPr lang="es-AR" b="0" i="1" smtClean="0">
                              <a:latin typeface="Cambria Math" panose="02040503050406030204" pitchFamily="18" charset="0"/>
                            </a:rPr>
                            <m:t>3</m:t>
                          </m:r>
                          <m:r>
                            <a:rPr lang="es-AR" b="0" i="1" smtClean="0">
                              <a:latin typeface="Cambria Math" panose="02040503050406030204" pitchFamily="18" charset="0"/>
                              <a:ea typeface="Cambria Math" panose="02040503050406030204" pitchFamily="18" charset="0"/>
                            </a:rPr>
                            <m:t>!</m:t>
                          </m:r>
                        </m:num>
                        <m:den>
                          <m:r>
                            <a:rPr lang="es-AR" b="0" i="1" smtClean="0">
                              <a:latin typeface="Cambria Math" panose="02040503050406030204" pitchFamily="18" charset="0"/>
                            </a:rPr>
                            <m:t>2!</m:t>
                          </m:r>
                          <m:r>
                            <a:rPr lang="es-AR" b="0" i="1" smtClean="0">
                              <a:latin typeface="Cambria Math" panose="02040503050406030204" pitchFamily="18" charset="0"/>
                              <a:ea typeface="Cambria Math" panose="02040503050406030204" pitchFamily="18" charset="0"/>
                            </a:rPr>
                            <m:t>×1!</m:t>
                          </m:r>
                        </m:den>
                      </m:f>
                    </m:oMath>
                  </m:oMathPara>
                </a14:m>
                <a:endParaRPr lang="es-AR" dirty="0"/>
              </a:p>
            </p:txBody>
          </p:sp>
        </mc:Choice>
        <mc:Fallback xmlns="">
          <p:sp>
            <p:nvSpPr>
              <p:cNvPr id="19" name="TextBox 18">
                <a:extLst>
                  <a:ext uri="{FF2B5EF4-FFF2-40B4-BE49-F238E27FC236}">
                    <a16:creationId xmlns:a16="http://schemas.microsoft.com/office/drawing/2014/main" id="{FB728A2A-2755-47D5-9B6F-C63D530F95FF}"/>
                  </a:ext>
                </a:extLst>
              </p:cNvPr>
              <p:cNvSpPr txBox="1">
                <a:spLocks noRot="1" noChangeAspect="1" noMove="1" noResize="1" noEditPoints="1" noAdjustHandles="1" noChangeArrowheads="1" noChangeShapeType="1" noTextEdit="1"/>
              </p:cNvSpPr>
              <p:nvPr/>
            </p:nvSpPr>
            <p:spPr>
              <a:xfrm>
                <a:off x="3723514" y="5661248"/>
                <a:ext cx="1261864" cy="690125"/>
              </a:xfrm>
              <a:prstGeom prst="rect">
                <a:avLst/>
              </a:prstGeom>
              <a:blipFill>
                <a:blip r:embed="rId3"/>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475E7CAC-FA99-4E33-B0E9-5139BD51FC24}"/>
                  </a:ext>
                </a:extLst>
              </p:cNvPr>
              <p:cNvSpPr txBox="1"/>
              <p:nvPr/>
            </p:nvSpPr>
            <p:spPr>
              <a:xfrm>
                <a:off x="5069094" y="5733710"/>
                <a:ext cx="1735154" cy="61343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AR" b="0" i="1" smtClean="0">
                          <a:latin typeface="Cambria Math" panose="02040503050406030204" pitchFamily="18" charset="0"/>
                        </a:rPr>
                        <m:t>=</m:t>
                      </m:r>
                      <m:d>
                        <m:dPr>
                          <m:ctrlPr>
                            <a:rPr lang="es-AR" i="1" smtClean="0">
                              <a:latin typeface="Cambria Math" panose="02040503050406030204" pitchFamily="18" charset="0"/>
                            </a:rPr>
                          </m:ctrlPr>
                        </m:dPr>
                        <m:e>
                          <m:m>
                            <m:mPr>
                              <m:mcs>
                                <m:mc>
                                  <m:mcPr>
                                    <m:count m:val="1"/>
                                    <m:mcJc m:val="center"/>
                                  </m:mcPr>
                                </m:mc>
                              </m:mcs>
                              <m:ctrlPr>
                                <a:rPr lang="es-AR" i="1" smtClean="0">
                                  <a:latin typeface="Cambria Math" panose="02040503050406030204" pitchFamily="18" charset="0"/>
                                </a:rPr>
                              </m:ctrlPr>
                            </m:mPr>
                            <m:mr>
                              <m:e>
                                <m:r>
                                  <m:rPr>
                                    <m:brk m:alnAt="7"/>
                                  </m:rPr>
                                  <a:rPr lang="es-AR" b="0" i="1" smtClean="0">
                                    <a:latin typeface="Cambria Math" panose="02040503050406030204" pitchFamily="18" charset="0"/>
                                  </a:rPr>
                                  <m:t>3</m:t>
                                </m:r>
                              </m:e>
                            </m:mr>
                            <m:mr>
                              <m:e>
                                <m:r>
                                  <a:rPr lang="es-AR" b="0" i="1" smtClean="0">
                                    <a:latin typeface="Cambria Math" panose="02040503050406030204" pitchFamily="18" charset="0"/>
                                  </a:rPr>
                                  <m:t>2</m:t>
                                </m:r>
                              </m:e>
                            </m:mr>
                          </m:m>
                        </m:e>
                      </m:d>
                      <m:r>
                        <a:rPr lang="es-AR" i="1">
                          <a:latin typeface="Cambria Math" panose="02040503050406030204" pitchFamily="18" charset="0"/>
                        </a:rPr>
                        <m:t>=</m:t>
                      </m:r>
                      <m:d>
                        <m:dPr>
                          <m:ctrlPr>
                            <a:rPr lang="es-AR" i="1">
                              <a:latin typeface="Cambria Math" panose="02040503050406030204" pitchFamily="18" charset="0"/>
                            </a:rPr>
                          </m:ctrlPr>
                        </m:dPr>
                        <m:e>
                          <m:m>
                            <m:mPr>
                              <m:mcs>
                                <m:mc>
                                  <m:mcPr>
                                    <m:count m:val="1"/>
                                    <m:mcJc m:val="center"/>
                                  </m:mcPr>
                                </m:mc>
                              </m:mcs>
                              <m:ctrlPr>
                                <a:rPr lang="es-AR" i="1">
                                  <a:latin typeface="Cambria Math" panose="02040503050406030204" pitchFamily="18" charset="0"/>
                                </a:rPr>
                              </m:ctrlPr>
                            </m:mPr>
                            <m:mr>
                              <m:e>
                                <m:r>
                                  <m:rPr>
                                    <m:brk m:alnAt="7"/>
                                  </m:rPr>
                                  <a:rPr lang="es-AR" i="1">
                                    <a:latin typeface="Cambria Math" panose="02040503050406030204" pitchFamily="18" charset="0"/>
                                  </a:rPr>
                                  <m:t>3</m:t>
                                </m:r>
                              </m:e>
                            </m:mr>
                            <m:mr>
                              <m:e>
                                <m:r>
                                  <a:rPr lang="es-AR" b="0" i="1" smtClean="0">
                                    <a:latin typeface="Cambria Math" panose="02040503050406030204" pitchFamily="18" charset="0"/>
                                  </a:rPr>
                                  <m:t>1</m:t>
                                </m:r>
                              </m:e>
                            </m:mr>
                          </m:m>
                        </m:e>
                      </m:d>
                    </m:oMath>
                  </m:oMathPara>
                </a14:m>
                <a:endParaRPr lang="es-AR" dirty="0"/>
              </a:p>
            </p:txBody>
          </p:sp>
        </mc:Choice>
        <mc:Fallback xmlns="">
          <p:sp>
            <p:nvSpPr>
              <p:cNvPr id="7" name="TextBox 6">
                <a:extLst>
                  <a:ext uri="{FF2B5EF4-FFF2-40B4-BE49-F238E27FC236}">
                    <a16:creationId xmlns:a16="http://schemas.microsoft.com/office/drawing/2014/main" id="{475E7CAC-FA99-4E33-B0E9-5139BD51FC24}"/>
                  </a:ext>
                </a:extLst>
              </p:cNvPr>
              <p:cNvSpPr txBox="1">
                <a:spLocks noRot="1" noChangeAspect="1" noMove="1" noResize="1" noEditPoints="1" noAdjustHandles="1" noChangeArrowheads="1" noChangeShapeType="1" noTextEdit="1"/>
              </p:cNvSpPr>
              <p:nvPr/>
            </p:nvSpPr>
            <p:spPr>
              <a:xfrm>
                <a:off x="5069094" y="5733710"/>
                <a:ext cx="1735154" cy="613438"/>
              </a:xfrm>
              <a:prstGeom prst="rect">
                <a:avLst/>
              </a:prstGeom>
              <a:blipFill>
                <a:blip r:embed="rId4"/>
                <a:stretch>
                  <a:fillRect/>
                </a:stretch>
              </a:blipFill>
            </p:spPr>
            <p:txBody>
              <a:bodyPr/>
              <a:lstStyle/>
              <a:p>
                <a:r>
                  <a:rPr lang="es-AR">
                    <a:noFill/>
                  </a:rPr>
                  <a:t> </a:t>
                </a:r>
              </a:p>
            </p:txBody>
          </p:sp>
        </mc:Fallback>
      </mc:AlternateContent>
      <p:graphicFrame>
        <p:nvGraphicFramePr>
          <p:cNvPr id="18" name="Table 17">
            <a:extLst>
              <a:ext uri="{FF2B5EF4-FFF2-40B4-BE49-F238E27FC236}">
                <a16:creationId xmlns:a16="http://schemas.microsoft.com/office/drawing/2014/main" id="{C42C3F17-F0F6-45FD-AC50-C63D08A3903B}"/>
              </a:ext>
            </a:extLst>
          </p:cNvPr>
          <p:cNvGraphicFramePr>
            <a:graphicFrameLocks noGrp="1"/>
          </p:cNvGraphicFramePr>
          <p:nvPr>
            <p:extLst>
              <p:ext uri="{D42A27DB-BD31-4B8C-83A1-F6EECF244321}">
                <p14:modId xmlns:p14="http://schemas.microsoft.com/office/powerpoint/2010/main" val="2333606142"/>
              </p:ext>
            </p:extLst>
          </p:nvPr>
        </p:nvGraphicFramePr>
        <p:xfrm>
          <a:off x="3059832" y="2898339"/>
          <a:ext cx="3456385" cy="365760"/>
        </p:xfrm>
        <a:graphic>
          <a:graphicData uri="http://schemas.openxmlformats.org/drawingml/2006/table">
            <a:tbl>
              <a:tblPr firstRow="1" bandRow="1">
                <a:tableStyleId>{5C22544A-7EE6-4342-B048-85BDC9FD1C3A}</a:tableStyleId>
              </a:tblPr>
              <a:tblGrid>
                <a:gridCol w="877812">
                  <a:extLst>
                    <a:ext uri="{9D8B030D-6E8A-4147-A177-3AD203B41FA5}">
                      <a16:colId xmlns:a16="http://schemas.microsoft.com/office/drawing/2014/main" val="53470728"/>
                    </a:ext>
                  </a:extLst>
                </a:gridCol>
                <a:gridCol w="932675">
                  <a:extLst>
                    <a:ext uri="{9D8B030D-6E8A-4147-A177-3AD203B41FA5}">
                      <a16:colId xmlns:a16="http://schemas.microsoft.com/office/drawing/2014/main" val="1492904940"/>
                    </a:ext>
                  </a:extLst>
                </a:gridCol>
                <a:gridCol w="822949">
                  <a:extLst>
                    <a:ext uri="{9D8B030D-6E8A-4147-A177-3AD203B41FA5}">
                      <a16:colId xmlns:a16="http://schemas.microsoft.com/office/drawing/2014/main" val="403801961"/>
                    </a:ext>
                  </a:extLst>
                </a:gridCol>
                <a:gridCol w="822949">
                  <a:extLst>
                    <a:ext uri="{9D8B030D-6E8A-4147-A177-3AD203B41FA5}">
                      <a16:colId xmlns:a16="http://schemas.microsoft.com/office/drawing/2014/main" val="1813496922"/>
                    </a:ext>
                  </a:extLst>
                </a:gridCol>
              </a:tblGrid>
              <a:tr h="337279">
                <a:tc>
                  <a:txBody>
                    <a:bodyPr/>
                    <a:lstStyle/>
                    <a:p>
                      <a:pPr algn="ctr"/>
                      <a:r>
                        <a:rPr lang="es-AR" dirty="0">
                          <a:solidFill>
                            <a:schemeClr val="tx2">
                              <a:lumMod val="75000"/>
                              <a:lumOff val="25000"/>
                            </a:schemeClr>
                          </a:solidFill>
                        </a:rPr>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ctr"/>
                      <a:r>
                        <a:rPr lang="es-AR" dirty="0">
                          <a:solidFill>
                            <a:schemeClr val="tx2">
                              <a:lumMod val="75000"/>
                              <a:lumOff val="25000"/>
                            </a:schemeClr>
                          </a:solidFill>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ctr"/>
                      <a:endParaRPr lang="es-AR" dirty="0">
                        <a:solidFill>
                          <a:schemeClr val="tx2">
                            <a:lumMod val="75000"/>
                            <a:lumOff val="2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ctr"/>
                      <a:endParaRPr lang="es-AR" dirty="0">
                        <a:solidFill>
                          <a:schemeClr val="tx2">
                            <a:lumMod val="75000"/>
                            <a:lumOff val="2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extLst>
                  <a:ext uri="{0D108BD9-81ED-4DB2-BD59-A6C34878D82A}">
                    <a16:rowId xmlns:a16="http://schemas.microsoft.com/office/drawing/2014/main" val="1523191605"/>
                  </a:ext>
                </a:extLst>
              </a:tr>
            </a:tbl>
          </a:graphicData>
        </a:graphic>
      </p:graphicFrame>
      <p:graphicFrame>
        <p:nvGraphicFramePr>
          <p:cNvPr id="20" name="Table 19">
            <a:extLst>
              <a:ext uri="{FF2B5EF4-FFF2-40B4-BE49-F238E27FC236}">
                <a16:creationId xmlns:a16="http://schemas.microsoft.com/office/drawing/2014/main" id="{4004DD8C-1FEC-422E-82CF-F722C43589D1}"/>
              </a:ext>
            </a:extLst>
          </p:cNvPr>
          <p:cNvGraphicFramePr>
            <a:graphicFrameLocks noGrp="1"/>
          </p:cNvGraphicFramePr>
          <p:nvPr>
            <p:extLst>
              <p:ext uri="{D42A27DB-BD31-4B8C-83A1-F6EECF244321}">
                <p14:modId xmlns:p14="http://schemas.microsoft.com/office/powerpoint/2010/main" val="1790614177"/>
              </p:ext>
            </p:extLst>
          </p:nvPr>
        </p:nvGraphicFramePr>
        <p:xfrm>
          <a:off x="3059832" y="3402395"/>
          <a:ext cx="3456385" cy="365760"/>
        </p:xfrm>
        <a:graphic>
          <a:graphicData uri="http://schemas.openxmlformats.org/drawingml/2006/table">
            <a:tbl>
              <a:tblPr firstRow="1" bandRow="1">
                <a:tableStyleId>{5C22544A-7EE6-4342-B048-85BDC9FD1C3A}</a:tableStyleId>
              </a:tblPr>
              <a:tblGrid>
                <a:gridCol w="877812">
                  <a:extLst>
                    <a:ext uri="{9D8B030D-6E8A-4147-A177-3AD203B41FA5}">
                      <a16:colId xmlns:a16="http://schemas.microsoft.com/office/drawing/2014/main" val="53470728"/>
                    </a:ext>
                  </a:extLst>
                </a:gridCol>
                <a:gridCol w="932675">
                  <a:extLst>
                    <a:ext uri="{9D8B030D-6E8A-4147-A177-3AD203B41FA5}">
                      <a16:colId xmlns:a16="http://schemas.microsoft.com/office/drawing/2014/main" val="1492904940"/>
                    </a:ext>
                  </a:extLst>
                </a:gridCol>
                <a:gridCol w="822949">
                  <a:extLst>
                    <a:ext uri="{9D8B030D-6E8A-4147-A177-3AD203B41FA5}">
                      <a16:colId xmlns:a16="http://schemas.microsoft.com/office/drawing/2014/main" val="403801961"/>
                    </a:ext>
                  </a:extLst>
                </a:gridCol>
                <a:gridCol w="822949">
                  <a:extLst>
                    <a:ext uri="{9D8B030D-6E8A-4147-A177-3AD203B41FA5}">
                      <a16:colId xmlns:a16="http://schemas.microsoft.com/office/drawing/2014/main" val="1813496922"/>
                    </a:ext>
                  </a:extLst>
                </a:gridCol>
              </a:tblGrid>
              <a:tr h="337279">
                <a:tc>
                  <a:txBody>
                    <a:bodyPr/>
                    <a:lstStyle/>
                    <a:p>
                      <a:pPr algn="ctr"/>
                      <a:r>
                        <a:rPr lang="es-AR" dirty="0">
                          <a:solidFill>
                            <a:schemeClr val="tx2">
                              <a:lumMod val="75000"/>
                              <a:lumOff val="25000"/>
                            </a:schemeClr>
                          </a:solidFill>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ctr"/>
                      <a:endParaRPr lang="es-AR" dirty="0">
                        <a:solidFill>
                          <a:schemeClr val="tx2">
                            <a:lumMod val="75000"/>
                            <a:lumOff val="2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ctr"/>
                      <a:r>
                        <a:rPr lang="es-AR" dirty="0">
                          <a:solidFill>
                            <a:schemeClr val="tx2">
                              <a:lumMod val="75000"/>
                              <a:lumOff val="25000"/>
                            </a:schemeClr>
                          </a:solidFill>
                        </a:rPr>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ctr"/>
                      <a:endParaRPr lang="es-AR" dirty="0">
                        <a:solidFill>
                          <a:schemeClr val="tx2">
                            <a:lumMod val="75000"/>
                            <a:lumOff val="2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extLst>
                  <a:ext uri="{0D108BD9-81ED-4DB2-BD59-A6C34878D82A}">
                    <a16:rowId xmlns:a16="http://schemas.microsoft.com/office/drawing/2014/main" val="1523191605"/>
                  </a:ext>
                </a:extLst>
              </a:tr>
            </a:tbl>
          </a:graphicData>
        </a:graphic>
      </p:graphicFrame>
      <p:graphicFrame>
        <p:nvGraphicFramePr>
          <p:cNvPr id="21" name="Table 20">
            <a:extLst>
              <a:ext uri="{FF2B5EF4-FFF2-40B4-BE49-F238E27FC236}">
                <a16:creationId xmlns:a16="http://schemas.microsoft.com/office/drawing/2014/main" id="{34DA3855-E196-4623-A9C2-2FAA789AD657}"/>
              </a:ext>
            </a:extLst>
          </p:cNvPr>
          <p:cNvGraphicFramePr>
            <a:graphicFrameLocks noGrp="1"/>
          </p:cNvGraphicFramePr>
          <p:nvPr>
            <p:extLst>
              <p:ext uri="{D42A27DB-BD31-4B8C-83A1-F6EECF244321}">
                <p14:modId xmlns:p14="http://schemas.microsoft.com/office/powerpoint/2010/main" val="3034503759"/>
              </p:ext>
            </p:extLst>
          </p:nvPr>
        </p:nvGraphicFramePr>
        <p:xfrm>
          <a:off x="3059832" y="3805508"/>
          <a:ext cx="3456385" cy="365760"/>
        </p:xfrm>
        <a:graphic>
          <a:graphicData uri="http://schemas.openxmlformats.org/drawingml/2006/table">
            <a:tbl>
              <a:tblPr firstRow="1" bandRow="1">
                <a:tableStyleId>{5C22544A-7EE6-4342-B048-85BDC9FD1C3A}</a:tableStyleId>
              </a:tblPr>
              <a:tblGrid>
                <a:gridCol w="877812">
                  <a:extLst>
                    <a:ext uri="{9D8B030D-6E8A-4147-A177-3AD203B41FA5}">
                      <a16:colId xmlns:a16="http://schemas.microsoft.com/office/drawing/2014/main" val="53470728"/>
                    </a:ext>
                  </a:extLst>
                </a:gridCol>
                <a:gridCol w="932675">
                  <a:extLst>
                    <a:ext uri="{9D8B030D-6E8A-4147-A177-3AD203B41FA5}">
                      <a16:colId xmlns:a16="http://schemas.microsoft.com/office/drawing/2014/main" val="1492904940"/>
                    </a:ext>
                  </a:extLst>
                </a:gridCol>
                <a:gridCol w="822949">
                  <a:extLst>
                    <a:ext uri="{9D8B030D-6E8A-4147-A177-3AD203B41FA5}">
                      <a16:colId xmlns:a16="http://schemas.microsoft.com/office/drawing/2014/main" val="403801961"/>
                    </a:ext>
                  </a:extLst>
                </a:gridCol>
                <a:gridCol w="822949">
                  <a:extLst>
                    <a:ext uri="{9D8B030D-6E8A-4147-A177-3AD203B41FA5}">
                      <a16:colId xmlns:a16="http://schemas.microsoft.com/office/drawing/2014/main" val="1813496922"/>
                    </a:ext>
                  </a:extLst>
                </a:gridCol>
              </a:tblGrid>
              <a:tr h="337279">
                <a:tc>
                  <a:txBody>
                    <a:bodyPr/>
                    <a:lstStyle/>
                    <a:p>
                      <a:pPr algn="ctr"/>
                      <a:r>
                        <a:rPr lang="es-AR" dirty="0">
                          <a:solidFill>
                            <a:schemeClr val="tx2">
                              <a:lumMod val="75000"/>
                              <a:lumOff val="25000"/>
                            </a:schemeClr>
                          </a:solidFill>
                        </a:rPr>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ctr"/>
                      <a:endParaRPr lang="es-AR" dirty="0">
                        <a:solidFill>
                          <a:schemeClr val="tx2">
                            <a:lumMod val="75000"/>
                            <a:lumOff val="2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ctr"/>
                      <a:r>
                        <a:rPr lang="es-AR" dirty="0">
                          <a:solidFill>
                            <a:schemeClr val="tx2">
                              <a:lumMod val="75000"/>
                              <a:lumOff val="25000"/>
                            </a:schemeClr>
                          </a:solidFill>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ctr"/>
                      <a:endParaRPr lang="es-AR" dirty="0">
                        <a:solidFill>
                          <a:schemeClr val="tx2">
                            <a:lumMod val="75000"/>
                            <a:lumOff val="2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extLst>
                  <a:ext uri="{0D108BD9-81ED-4DB2-BD59-A6C34878D82A}">
                    <a16:rowId xmlns:a16="http://schemas.microsoft.com/office/drawing/2014/main" val="1523191605"/>
                  </a:ext>
                </a:extLst>
              </a:tr>
            </a:tbl>
          </a:graphicData>
        </a:graphic>
      </p:graphicFrame>
      <p:graphicFrame>
        <p:nvGraphicFramePr>
          <p:cNvPr id="22" name="Table 21">
            <a:extLst>
              <a:ext uri="{FF2B5EF4-FFF2-40B4-BE49-F238E27FC236}">
                <a16:creationId xmlns:a16="http://schemas.microsoft.com/office/drawing/2014/main" id="{463169A6-B080-4D99-B133-9CF9EAADD278}"/>
              </a:ext>
            </a:extLst>
          </p:cNvPr>
          <p:cNvGraphicFramePr>
            <a:graphicFrameLocks noGrp="1"/>
          </p:cNvGraphicFramePr>
          <p:nvPr>
            <p:extLst>
              <p:ext uri="{D42A27DB-BD31-4B8C-83A1-F6EECF244321}">
                <p14:modId xmlns:p14="http://schemas.microsoft.com/office/powerpoint/2010/main" val="2372319272"/>
              </p:ext>
            </p:extLst>
          </p:nvPr>
        </p:nvGraphicFramePr>
        <p:xfrm>
          <a:off x="3059832" y="4289706"/>
          <a:ext cx="3456385" cy="365760"/>
        </p:xfrm>
        <a:graphic>
          <a:graphicData uri="http://schemas.openxmlformats.org/drawingml/2006/table">
            <a:tbl>
              <a:tblPr firstRow="1" bandRow="1">
                <a:tableStyleId>{5C22544A-7EE6-4342-B048-85BDC9FD1C3A}</a:tableStyleId>
              </a:tblPr>
              <a:tblGrid>
                <a:gridCol w="877812">
                  <a:extLst>
                    <a:ext uri="{9D8B030D-6E8A-4147-A177-3AD203B41FA5}">
                      <a16:colId xmlns:a16="http://schemas.microsoft.com/office/drawing/2014/main" val="53470728"/>
                    </a:ext>
                  </a:extLst>
                </a:gridCol>
                <a:gridCol w="932675">
                  <a:extLst>
                    <a:ext uri="{9D8B030D-6E8A-4147-A177-3AD203B41FA5}">
                      <a16:colId xmlns:a16="http://schemas.microsoft.com/office/drawing/2014/main" val="1492904940"/>
                    </a:ext>
                  </a:extLst>
                </a:gridCol>
                <a:gridCol w="822949">
                  <a:extLst>
                    <a:ext uri="{9D8B030D-6E8A-4147-A177-3AD203B41FA5}">
                      <a16:colId xmlns:a16="http://schemas.microsoft.com/office/drawing/2014/main" val="403801961"/>
                    </a:ext>
                  </a:extLst>
                </a:gridCol>
                <a:gridCol w="822949">
                  <a:extLst>
                    <a:ext uri="{9D8B030D-6E8A-4147-A177-3AD203B41FA5}">
                      <a16:colId xmlns:a16="http://schemas.microsoft.com/office/drawing/2014/main" val="1813496922"/>
                    </a:ext>
                  </a:extLst>
                </a:gridCol>
              </a:tblGrid>
              <a:tr h="337279">
                <a:tc>
                  <a:txBody>
                    <a:bodyPr/>
                    <a:lstStyle/>
                    <a:p>
                      <a:pPr algn="ctr"/>
                      <a:endParaRPr lang="es-AR" dirty="0">
                        <a:solidFill>
                          <a:schemeClr val="tx2">
                            <a:lumMod val="75000"/>
                            <a:lumOff val="2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ctr"/>
                      <a:r>
                        <a:rPr lang="es-AR" dirty="0">
                          <a:solidFill>
                            <a:schemeClr val="tx2">
                              <a:lumMod val="75000"/>
                              <a:lumOff val="25000"/>
                            </a:schemeClr>
                          </a:solidFill>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ctr"/>
                      <a:r>
                        <a:rPr lang="es-AR" dirty="0">
                          <a:solidFill>
                            <a:schemeClr val="tx2">
                              <a:lumMod val="75000"/>
                              <a:lumOff val="25000"/>
                            </a:schemeClr>
                          </a:solidFill>
                        </a:rPr>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ctr"/>
                      <a:endParaRPr lang="es-AR" dirty="0">
                        <a:solidFill>
                          <a:schemeClr val="tx2">
                            <a:lumMod val="75000"/>
                            <a:lumOff val="2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extLst>
                  <a:ext uri="{0D108BD9-81ED-4DB2-BD59-A6C34878D82A}">
                    <a16:rowId xmlns:a16="http://schemas.microsoft.com/office/drawing/2014/main" val="1523191605"/>
                  </a:ext>
                </a:extLst>
              </a:tr>
            </a:tbl>
          </a:graphicData>
        </a:graphic>
      </p:graphicFrame>
      <p:graphicFrame>
        <p:nvGraphicFramePr>
          <p:cNvPr id="23" name="Table 22">
            <a:extLst>
              <a:ext uri="{FF2B5EF4-FFF2-40B4-BE49-F238E27FC236}">
                <a16:creationId xmlns:a16="http://schemas.microsoft.com/office/drawing/2014/main" id="{2066152F-4B5E-41BA-A236-D187C76BBC13}"/>
              </a:ext>
            </a:extLst>
          </p:cNvPr>
          <p:cNvGraphicFramePr>
            <a:graphicFrameLocks noGrp="1"/>
          </p:cNvGraphicFramePr>
          <p:nvPr>
            <p:extLst>
              <p:ext uri="{D42A27DB-BD31-4B8C-83A1-F6EECF244321}">
                <p14:modId xmlns:p14="http://schemas.microsoft.com/office/powerpoint/2010/main" val="1883976950"/>
              </p:ext>
            </p:extLst>
          </p:nvPr>
        </p:nvGraphicFramePr>
        <p:xfrm>
          <a:off x="3059832" y="4692819"/>
          <a:ext cx="3456385" cy="365760"/>
        </p:xfrm>
        <a:graphic>
          <a:graphicData uri="http://schemas.openxmlformats.org/drawingml/2006/table">
            <a:tbl>
              <a:tblPr firstRow="1" bandRow="1">
                <a:tableStyleId>{5C22544A-7EE6-4342-B048-85BDC9FD1C3A}</a:tableStyleId>
              </a:tblPr>
              <a:tblGrid>
                <a:gridCol w="877812">
                  <a:extLst>
                    <a:ext uri="{9D8B030D-6E8A-4147-A177-3AD203B41FA5}">
                      <a16:colId xmlns:a16="http://schemas.microsoft.com/office/drawing/2014/main" val="53470728"/>
                    </a:ext>
                  </a:extLst>
                </a:gridCol>
                <a:gridCol w="932675">
                  <a:extLst>
                    <a:ext uri="{9D8B030D-6E8A-4147-A177-3AD203B41FA5}">
                      <a16:colId xmlns:a16="http://schemas.microsoft.com/office/drawing/2014/main" val="1492904940"/>
                    </a:ext>
                  </a:extLst>
                </a:gridCol>
                <a:gridCol w="822949">
                  <a:extLst>
                    <a:ext uri="{9D8B030D-6E8A-4147-A177-3AD203B41FA5}">
                      <a16:colId xmlns:a16="http://schemas.microsoft.com/office/drawing/2014/main" val="403801961"/>
                    </a:ext>
                  </a:extLst>
                </a:gridCol>
                <a:gridCol w="822949">
                  <a:extLst>
                    <a:ext uri="{9D8B030D-6E8A-4147-A177-3AD203B41FA5}">
                      <a16:colId xmlns:a16="http://schemas.microsoft.com/office/drawing/2014/main" val="1813496922"/>
                    </a:ext>
                  </a:extLst>
                </a:gridCol>
              </a:tblGrid>
              <a:tr h="337279">
                <a:tc>
                  <a:txBody>
                    <a:bodyPr/>
                    <a:lstStyle/>
                    <a:p>
                      <a:pPr algn="ctr"/>
                      <a:endParaRPr lang="es-AR" dirty="0">
                        <a:solidFill>
                          <a:schemeClr val="tx2">
                            <a:lumMod val="75000"/>
                            <a:lumOff val="2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ctr"/>
                      <a:r>
                        <a:rPr lang="es-AR" dirty="0">
                          <a:solidFill>
                            <a:schemeClr val="tx2">
                              <a:lumMod val="75000"/>
                              <a:lumOff val="25000"/>
                            </a:schemeClr>
                          </a:solidFill>
                        </a:rPr>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ctr"/>
                      <a:r>
                        <a:rPr lang="es-AR" dirty="0">
                          <a:solidFill>
                            <a:schemeClr val="tx2">
                              <a:lumMod val="75000"/>
                              <a:lumOff val="25000"/>
                            </a:schemeClr>
                          </a:solidFill>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ctr"/>
                      <a:endParaRPr lang="es-AR" dirty="0">
                        <a:solidFill>
                          <a:schemeClr val="tx2">
                            <a:lumMod val="75000"/>
                            <a:lumOff val="2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extLst>
                  <a:ext uri="{0D108BD9-81ED-4DB2-BD59-A6C34878D82A}">
                    <a16:rowId xmlns:a16="http://schemas.microsoft.com/office/drawing/2014/main" val="1523191605"/>
                  </a:ext>
                </a:extLst>
              </a:tr>
            </a:tbl>
          </a:graphicData>
        </a:graphic>
      </p:graphicFrame>
    </p:spTree>
    <p:extLst>
      <p:ext uri="{BB962C8B-B14F-4D97-AF65-F5344CB8AC3E}">
        <p14:creationId xmlns:p14="http://schemas.microsoft.com/office/powerpoint/2010/main" val="97488689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14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 calcmode="lin" valueType="num">
                                      <p:cBhvr additive="base">
                                        <p:cTn id="17" dur="500" fill="hold"/>
                                        <p:tgtEl>
                                          <p:spTgt spid="18"/>
                                        </p:tgtEl>
                                        <p:attrNameLst>
                                          <p:attrName>ppt_x</p:attrName>
                                        </p:attrNameLst>
                                      </p:cBhvr>
                                      <p:tavLst>
                                        <p:tav tm="0">
                                          <p:val>
                                            <p:strVal val="#ppt_x"/>
                                          </p:val>
                                        </p:tav>
                                        <p:tav tm="100000">
                                          <p:val>
                                            <p:strVal val="#ppt_x"/>
                                          </p:val>
                                        </p:tav>
                                      </p:tavLst>
                                    </p:anim>
                                    <p:anim calcmode="lin" valueType="num">
                                      <p:cBhvr additive="base">
                                        <p:cTn id="1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20"/>
                                        </p:tgtEl>
                                        <p:attrNameLst>
                                          <p:attrName>style.visibility</p:attrName>
                                        </p:attrNameLst>
                                      </p:cBhvr>
                                      <p:to>
                                        <p:strVal val="visible"/>
                                      </p:to>
                                    </p:set>
                                    <p:anim calcmode="lin" valueType="num">
                                      <p:cBhvr additive="base">
                                        <p:cTn id="23" dur="500" fill="hold"/>
                                        <p:tgtEl>
                                          <p:spTgt spid="20"/>
                                        </p:tgtEl>
                                        <p:attrNameLst>
                                          <p:attrName>ppt_x</p:attrName>
                                        </p:attrNameLst>
                                      </p:cBhvr>
                                      <p:tavLst>
                                        <p:tav tm="0">
                                          <p:val>
                                            <p:strVal val="#ppt_x"/>
                                          </p:val>
                                        </p:tav>
                                        <p:tav tm="100000">
                                          <p:val>
                                            <p:strVal val="#ppt_x"/>
                                          </p:val>
                                        </p:tav>
                                      </p:tavLst>
                                    </p:anim>
                                    <p:anim calcmode="lin" valueType="num">
                                      <p:cBhvr additive="base">
                                        <p:cTn id="24"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21"/>
                                        </p:tgtEl>
                                        <p:attrNameLst>
                                          <p:attrName>style.visibility</p:attrName>
                                        </p:attrNameLst>
                                      </p:cBhvr>
                                      <p:to>
                                        <p:strVal val="visible"/>
                                      </p:to>
                                    </p:set>
                                    <p:anim calcmode="lin" valueType="num">
                                      <p:cBhvr additive="base">
                                        <p:cTn id="29" dur="500" fill="hold"/>
                                        <p:tgtEl>
                                          <p:spTgt spid="21"/>
                                        </p:tgtEl>
                                        <p:attrNameLst>
                                          <p:attrName>ppt_x</p:attrName>
                                        </p:attrNameLst>
                                      </p:cBhvr>
                                      <p:tavLst>
                                        <p:tav tm="0">
                                          <p:val>
                                            <p:strVal val="#ppt_x"/>
                                          </p:val>
                                        </p:tav>
                                        <p:tav tm="100000">
                                          <p:val>
                                            <p:strVal val="#ppt_x"/>
                                          </p:val>
                                        </p:tav>
                                      </p:tavLst>
                                    </p:anim>
                                    <p:anim calcmode="lin" valueType="num">
                                      <p:cBhvr additive="base">
                                        <p:cTn id="30"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22"/>
                                        </p:tgtEl>
                                        <p:attrNameLst>
                                          <p:attrName>style.visibility</p:attrName>
                                        </p:attrNameLst>
                                      </p:cBhvr>
                                      <p:to>
                                        <p:strVal val="visible"/>
                                      </p:to>
                                    </p:set>
                                    <p:anim calcmode="lin" valueType="num">
                                      <p:cBhvr additive="base">
                                        <p:cTn id="35" dur="500" fill="hold"/>
                                        <p:tgtEl>
                                          <p:spTgt spid="22"/>
                                        </p:tgtEl>
                                        <p:attrNameLst>
                                          <p:attrName>ppt_x</p:attrName>
                                        </p:attrNameLst>
                                      </p:cBhvr>
                                      <p:tavLst>
                                        <p:tav tm="0">
                                          <p:val>
                                            <p:strVal val="#ppt_x"/>
                                          </p:val>
                                        </p:tav>
                                        <p:tav tm="100000">
                                          <p:val>
                                            <p:strVal val="#ppt_x"/>
                                          </p:val>
                                        </p:tav>
                                      </p:tavLst>
                                    </p:anim>
                                    <p:anim calcmode="lin" valueType="num">
                                      <p:cBhvr additive="base">
                                        <p:cTn id="36"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23"/>
                                        </p:tgtEl>
                                        <p:attrNameLst>
                                          <p:attrName>style.visibility</p:attrName>
                                        </p:attrNameLst>
                                      </p:cBhvr>
                                      <p:to>
                                        <p:strVal val="visible"/>
                                      </p:to>
                                    </p:set>
                                    <p:anim calcmode="lin" valueType="num">
                                      <p:cBhvr additive="base">
                                        <p:cTn id="41" dur="500" fill="hold"/>
                                        <p:tgtEl>
                                          <p:spTgt spid="23"/>
                                        </p:tgtEl>
                                        <p:attrNameLst>
                                          <p:attrName>ppt_x</p:attrName>
                                        </p:attrNameLst>
                                      </p:cBhvr>
                                      <p:tavLst>
                                        <p:tav tm="0">
                                          <p:val>
                                            <p:strVal val="#ppt_x"/>
                                          </p:val>
                                        </p:tav>
                                        <p:tav tm="100000">
                                          <p:val>
                                            <p:strVal val="#ppt_x"/>
                                          </p:val>
                                        </p:tav>
                                      </p:tavLst>
                                    </p:anim>
                                    <p:anim calcmode="lin" valueType="num">
                                      <p:cBhvr additive="base">
                                        <p:cTn id="42"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14" presetClass="entr" presetSubtype="10" fill="hold" grpId="0" nodeType="clickEffect">
                                  <p:stCondLst>
                                    <p:cond delay="0"/>
                                  </p:stCondLst>
                                  <p:childTnLst>
                                    <p:set>
                                      <p:cBhvr>
                                        <p:cTn id="46" dur="1" fill="hold">
                                          <p:stCondLst>
                                            <p:cond delay="0"/>
                                          </p:stCondLst>
                                        </p:cTn>
                                        <p:tgtEl>
                                          <p:spTgt spid="3"/>
                                        </p:tgtEl>
                                        <p:attrNameLst>
                                          <p:attrName>style.visibility</p:attrName>
                                        </p:attrNameLst>
                                      </p:cBhvr>
                                      <p:to>
                                        <p:strVal val="visible"/>
                                      </p:to>
                                    </p:set>
                                    <p:animEffect transition="in" filter="randombar(horizontal)">
                                      <p:cBhvr>
                                        <p:cTn id="47" dur="500"/>
                                        <p:tgtEl>
                                          <p:spTgt spid="3"/>
                                        </p:tgtEl>
                                      </p:cBhvr>
                                    </p:animEffect>
                                  </p:childTnLst>
                                </p:cTn>
                              </p:par>
                              <p:par>
                                <p:cTn id="48" presetID="14" presetClass="entr" presetSubtype="10" fill="hold" grpId="0" nodeType="with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randombar(horizontal)">
                                      <p:cBhvr>
                                        <p:cTn id="50" dur="500"/>
                                        <p:tgtEl>
                                          <p:spTgt spid="16"/>
                                        </p:tgtEl>
                                      </p:cBhvr>
                                    </p:animEffect>
                                  </p:childTnLst>
                                </p:cTn>
                              </p:par>
                              <p:par>
                                <p:cTn id="51" presetID="14" presetClass="entr" presetSubtype="10" fill="hold" grpId="0" nodeType="with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randombar(horizontal)">
                                      <p:cBhvr>
                                        <p:cTn id="53" dur="500"/>
                                        <p:tgtEl>
                                          <p:spTgt spid="17"/>
                                        </p:tgtEl>
                                      </p:cBhvr>
                                    </p:animEffect>
                                  </p:childTnLst>
                                </p:cTn>
                              </p:par>
                            </p:childTnLst>
                          </p:cTn>
                        </p:par>
                      </p:childTnLst>
                    </p:cTn>
                  </p:par>
                  <p:par>
                    <p:cTn id="54" fill="hold">
                      <p:stCondLst>
                        <p:cond delay="indefinite"/>
                      </p:stCondLst>
                      <p:childTnLst>
                        <p:par>
                          <p:cTn id="55" fill="hold">
                            <p:stCondLst>
                              <p:cond delay="0"/>
                            </p:stCondLst>
                            <p:childTnLst>
                              <p:par>
                                <p:cTn id="56" presetID="2" presetClass="entr" presetSubtype="8" fill="hold" grpId="0" nodeType="clickEffect">
                                  <p:stCondLst>
                                    <p:cond delay="0"/>
                                  </p:stCondLst>
                                  <p:childTnLst>
                                    <p:set>
                                      <p:cBhvr>
                                        <p:cTn id="57" dur="1" fill="hold">
                                          <p:stCondLst>
                                            <p:cond delay="0"/>
                                          </p:stCondLst>
                                        </p:cTn>
                                        <p:tgtEl>
                                          <p:spTgt spid="4"/>
                                        </p:tgtEl>
                                        <p:attrNameLst>
                                          <p:attrName>style.visibility</p:attrName>
                                        </p:attrNameLst>
                                      </p:cBhvr>
                                      <p:to>
                                        <p:strVal val="visible"/>
                                      </p:to>
                                    </p:set>
                                    <p:anim calcmode="lin" valueType="num">
                                      <p:cBhvr additive="base">
                                        <p:cTn id="58" dur="500" fill="hold"/>
                                        <p:tgtEl>
                                          <p:spTgt spid="4"/>
                                        </p:tgtEl>
                                        <p:attrNameLst>
                                          <p:attrName>ppt_x</p:attrName>
                                        </p:attrNameLst>
                                      </p:cBhvr>
                                      <p:tavLst>
                                        <p:tav tm="0">
                                          <p:val>
                                            <p:strVal val="0-#ppt_w/2"/>
                                          </p:val>
                                        </p:tav>
                                        <p:tav tm="100000">
                                          <p:val>
                                            <p:strVal val="#ppt_x"/>
                                          </p:val>
                                        </p:tav>
                                      </p:tavLst>
                                    </p:anim>
                                    <p:anim calcmode="lin" valueType="num">
                                      <p:cBhvr additive="base">
                                        <p:cTn id="59"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2" presetClass="entr" presetSubtype="4" fill="hold" grpId="0" nodeType="clickEffect">
                                  <p:stCondLst>
                                    <p:cond delay="0"/>
                                  </p:stCondLst>
                                  <p:childTnLst>
                                    <p:set>
                                      <p:cBhvr>
                                        <p:cTn id="63" dur="1" fill="hold">
                                          <p:stCondLst>
                                            <p:cond delay="0"/>
                                          </p:stCondLst>
                                        </p:cTn>
                                        <p:tgtEl>
                                          <p:spTgt spid="19"/>
                                        </p:tgtEl>
                                        <p:attrNameLst>
                                          <p:attrName>style.visibility</p:attrName>
                                        </p:attrNameLst>
                                      </p:cBhvr>
                                      <p:to>
                                        <p:strVal val="visible"/>
                                      </p:to>
                                    </p:set>
                                    <p:anim calcmode="lin" valueType="num">
                                      <p:cBhvr additive="base">
                                        <p:cTn id="64" dur="500" fill="hold"/>
                                        <p:tgtEl>
                                          <p:spTgt spid="19"/>
                                        </p:tgtEl>
                                        <p:attrNameLst>
                                          <p:attrName>ppt_x</p:attrName>
                                        </p:attrNameLst>
                                      </p:cBhvr>
                                      <p:tavLst>
                                        <p:tav tm="0">
                                          <p:val>
                                            <p:strVal val="#ppt_x"/>
                                          </p:val>
                                        </p:tav>
                                        <p:tav tm="100000">
                                          <p:val>
                                            <p:strVal val="#ppt_x"/>
                                          </p:val>
                                        </p:tav>
                                      </p:tavLst>
                                    </p:anim>
                                    <p:anim calcmode="lin" valueType="num">
                                      <p:cBhvr additive="base">
                                        <p:cTn id="65"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2" presetClass="entr" presetSubtype="2" fill="hold" grpId="0" nodeType="clickEffect">
                                  <p:stCondLst>
                                    <p:cond delay="0"/>
                                  </p:stCondLst>
                                  <p:childTnLst>
                                    <p:set>
                                      <p:cBhvr>
                                        <p:cTn id="69" dur="1" fill="hold">
                                          <p:stCondLst>
                                            <p:cond delay="0"/>
                                          </p:stCondLst>
                                        </p:cTn>
                                        <p:tgtEl>
                                          <p:spTgt spid="7"/>
                                        </p:tgtEl>
                                        <p:attrNameLst>
                                          <p:attrName>style.visibility</p:attrName>
                                        </p:attrNameLst>
                                      </p:cBhvr>
                                      <p:to>
                                        <p:strVal val="visible"/>
                                      </p:to>
                                    </p:set>
                                    <p:anim calcmode="lin" valueType="num">
                                      <p:cBhvr additive="base">
                                        <p:cTn id="70" dur="500" fill="hold"/>
                                        <p:tgtEl>
                                          <p:spTgt spid="7"/>
                                        </p:tgtEl>
                                        <p:attrNameLst>
                                          <p:attrName>ppt_x</p:attrName>
                                        </p:attrNameLst>
                                      </p:cBhvr>
                                      <p:tavLst>
                                        <p:tav tm="0">
                                          <p:val>
                                            <p:strVal val="1+#ppt_w/2"/>
                                          </p:val>
                                        </p:tav>
                                        <p:tav tm="100000">
                                          <p:val>
                                            <p:strVal val="#ppt_x"/>
                                          </p:val>
                                        </p:tav>
                                      </p:tavLst>
                                    </p:anim>
                                    <p:anim calcmode="lin" valueType="num">
                                      <p:cBhvr additive="base">
                                        <p:cTn id="71"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8" grpId="0" autoUpdateAnimBg="0"/>
      <p:bldP spid="3" grpId="0" animBg="1"/>
      <p:bldP spid="16" grpId="0" animBg="1"/>
      <p:bldP spid="17" grpId="0" animBg="1"/>
      <p:bldP spid="4" grpId="0"/>
      <p:bldP spid="19" grpId="0"/>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Text Box 3"/>
          <p:cNvSpPr txBox="1">
            <a:spLocks noChangeArrowheads="1"/>
          </p:cNvSpPr>
          <p:nvPr/>
        </p:nvSpPr>
        <p:spPr bwMode="auto">
          <a:xfrm>
            <a:off x="1295400" y="1828800"/>
            <a:ext cx="739140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50000"/>
              </a:spcBef>
              <a:buFontTx/>
              <a:buNone/>
            </a:pPr>
            <a:r>
              <a:rPr lang="es-MX" altLang="en-US" sz="2000" dirty="0">
                <a:latin typeface="Arial" panose="020B0604020202020204" pitchFamily="34" charset="0"/>
              </a:rPr>
              <a:t>En el banco de un aula, hay 4 asientos disponibles. ¿Cuál es la probabilidad de que Alicia y Bautista se sienten dejando libre el asiento junto a la pared? </a:t>
            </a:r>
            <a:endParaRPr lang="en-US" altLang="en-US" sz="2000" dirty="0">
              <a:latin typeface="Arial" panose="020B0604020202020204" pitchFamily="34" charset="0"/>
            </a:endParaRPr>
          </a:p>
        </p:txBody>
      </p:sp>
      <p:sp>
        <p:nvSpPr>
          <p:cNvPr id="11" name="Rectangle 2"/>
          <p:cNvSpPr txBox="1">
            <a:spLocks noChangeArrowheads="1"/>
          </p:cNvSpPr>
          <p:nvPr/>
        </p:nvSpPr>
        <p:spPr bwMode="auto">
          <a:xfrm>
            <a:off x="1066800" y="355599"/>
            <a:ext cx="7620000" cy="1216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a:lstStyle>
          <a:p>
            <a:pPr eaLnBrk="1" hangingPunct="1"/>
            <a:r>
              <a:rPr lang="es-MX" altLang="en-US" sz="3200" b="1" dirty="0">
                <a:latin typeface="Broadway" panose="04040905080B02020502" pitchFamily="82" charset="0"/>
              </a:rPr>
              <a:t>Cálculo de probabilidades con la regla de Laplace</a:t>
            </a:r>
            <a:endParaRPr lang="en-US" altLang="en-US" sz="3200" b="1" dirty="0">
              <a:latin typeface="Broadway" panose="04040905080B02020502" pitchFamily="82" charset="0"/>
            </a:endParaRPr>
          </a:p>
        </p:txBody>
      </p:sp>
      <mc:AlternateContent xmlns:mc="http://schemas.openxmlformats.org/markup-compatibility/2006" xmlns:a14="http://schemas.microsoft.com/office/drawing/2010/main">
        <mc:Choice Requires="a14">
          <p:sp>
            <p:nvSpPr>
              <p:cNvPr id="4" name="Object 9">
                <a:extLst>
                  <a:ext uri="{FF2B5EF4-FFF2-40B4-BE49-F238E27FC236}">
                    <a16:creationId xmlns:a16="http://schemas.microsoft.com/office/drawing/2014/main" id="{0C3739F7-2790-4ED2-AC2D-E91AA32CB319}"/>
                  </a:ext>
                </a:extLst>
              </p:cNvPr>
              <p:cNvSpPr txBox="1"/>
              <p:nvPr/>
            </p:nvSpPr>
            <p:spPr bwMode="auto">
              <a:xfrm>
                <a:off x="3635896" y="3356992"/>
                <a:ext cx="2160240" cy="144016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m:rPr>
                          <m:sty m:val="p"/>
                        </m:rPr>
                        <a:rPr lang="es-AR" i="0" smtClean="0">
                          <a:solidFill>
                            <a:srgbClr val="000000"/>
                          </a:solidFill>
                          <a:latin typeface="Cambria Math" panose="02040503050406030204" pitchFamily="18" charset="0"/>
                        </a:rPr>
                        <m:t>P</m:t>
                      </m:r>
                      <m:r>
                        <a:rPr lang="es-AR" i="1">
                          <a:solidFill>
                            <a:srgbClr val="000000"/>
                          </a:solidFill>
                          <a:latin typeface="Cambria Math" panose="02040503050406030204" pitchFamily="18" charset="0"/>
                        </a:rPr>
                        <m:t>=</m:t>
                      </m:r>
                      <m:f>
                        <m:fPr>
                          <m:ctrlPr>
                            <a:rPr lang="es-AR" i="1">
                              <a:solidFill>
                                <a:srgbClr val="000000"/>
                              </a:solidFill>
                              <a:latin typeface="Cambria Math" panose="02040503050406030204" pitchFamily="18" charset="0"/>
                            </a:rPr>
                          </m:ctrlPr>
                        </m:fPr>
                        <m:num>
                          <m:d>
                            <m:dPr>
                              <m:ctrlPr>
                                <a:rPr lang="es-AR" i="1" smtClean="0">
                                  <a:solidFill>
                                    <a:srgbClr val="000000"/>
                                  </a:solidFill>
                                  <a:latin typeface="Cambria Math" panose="02040503050406030204" pitchFamily="18" charset="0"/>
                                </a:rPr>
                              </m:ctrlPr>
                            </m:dPr>
                            <m:e>
                              <m:m>
                                <m:mPr>
                                  <m:mcs>
                                    <m:mc>
                                      <m:mcPr>
                                        <m:count m:val="1"/>
                                        <m:mcJc m:val="center"/>
                                      </m:mcPr>
                                    </m:mc>
                                  </m:mcs>
                                  <m:ctrlPr>
                                    <a:rPr lang="es-AR" i="1" smtClean="0">
                                      <a:solidFill>
                                        <a:srgbClr val="000000"/>
                                      </a:solidFill>
                                      <a:latin typeface="Cambria Math" panose="02040503050406030204" pitchFamily="18" charset="0"/>
                                    </a:rPr>
                                  </m:ctrlPr>
                                </m:mPr>
                                <m:mr>
                                  <m:e>
                                    <m:r>
                                      <m:rPr>
                                        <m:brk m:alnAt="7"/>
                                      </m:rPr>
                                      <a:rPr lang="es-AR" b="0" i="1" smtClean="0">
                                        <a:solidFill>
                                          <a:srgbClr val="000000"/>
                                        </a:solidFill>
                                        <a:latin typeface="Cambria Math" panose="02040503050406030204" pitchFamily="18" charset="0"/>
                                      </a:rPr>
                                      <m:t>3</m:t>
                                    </m:r>
                                  </m:e>
                                </m:mr>
                                <m:mr>
                                  <m:e>
                                    <m:r>
                                      <a:rPr lang="es-AR" b="0" i="1" smtClean="0">
                                        <a:solidFill>
                                          <a:srgbClr val="000000"/>
                                        </a:solidFill>
                                        <a:latin typeface="Cambria Math" panose="02040503050406030204" pitchFamily="18" charset="0"/>
                                      </a:rPr>
                                      <m:t>2</m:t>
                                    </m:r>
                                  </m:e>
                                </m:mr>
                              </m:m>
                            </m:e>
                          </m:d>
                        </m:num>
                        <m:den>
                          <m:d>
                            <m:dPr>
                              <m:ctrlPr>
                                <a:rPr lang="es-AR" i="1">
                                  <a:solidFill>
                                    <a:srgbClr val="000000"/>
                                  </a:solidFill>
                                  <a:latin typeface="Cambria Math" panose="02040503050406030204" pitchFamily="18" charset="0"/>
                                </a:rPr>
                              </m:ctrlPr>
                            </m:dPr>
                            <m:e>
                              <m:m>
                                <m:mPr>
                                  <m:mcs>
                                    <m:mc>
                                      <m:mcPr>
                                        <m:count m:val="1"/>
                                        <m:mcJc m:val="center"/>
                                      </m:mcPr>
                                    </m:mc>
                                  </m:mcs>
                                  <m:ctrlPr>
                                    <a:rPr lang="es-AR" i="1">
                                      <a:solidFill>
                                        <a:srgbClr val="000000"/>
                                      </a:solidFill>
                                      <a:latin typeface="Cambria Math" panose="02040503050406030204" pitchFamily="18" charset="0"/>
                                    </a:rPr>
                                  </m:ctrlPr>
                                </m:mPr>
                                <m:mr>
                                  <m:e>
                                    <m:r>
                                      <a:rPr lang="es-AR" b="0" i="1" smtClean="0">
                                        <a:solidFill>
                                          <a:srgbClr val="000000"/>
                                        </a:solidFill>
                                        <a:latin typeface="Cambria Math" panose="02040503050406030204" pitchFamily="18" charset="0"/>
                                      </a:rPr>
                                      <m:t>4</m:t>
                                    </m:r>
                                  </m:e>
                                </m:mr>
                                <m:mr>
                                  <m:e>
                                    <m:r>
                                      <a:rPr lang="es-AR" i="1">
                                        <a:solidFill>
                                          <a:srgbClr val="000000"/>
                                        </a:solidFill>
                                        <a:latin typeface="Cambria Math" panose="02040503050406030204" pitchFamily="18" charset="0"/>
                                      </a:rPr>
                                      <m:t>2</m:t>
                                    </m:r>
                                  </m:e>
                                </m:mr>
                              </m:m>
                            </m:e>
                          </m:d>
                        </m:den>
                      </m:f>
                      <m:r>
                        <a:rPr lang="es-AR" b="0" i="1" smtClean="0">
                          <a:solidFill>
                            <a:srgbClr val="000000"/>
                          </a:solidFill>
                          <a:latin typeface="Cambria Math" panose="02040503050406030204" pitchFamily="18" charset="0"/>
                        </a:rPr>
                        <m:t>=0.5</m:t>
                      </m:r>
                    </m:oMath>
                  </m:oMathPara>
                </a14:m>
                <a:endParaRPr lang="es-AR" dirty="0"/>
              </a:p>
            </p:txBody>
          </p:sp>
        </mc:Choice>
        <mc:Fallback xmlns="">
          <p:sp>
            <p:nvSpPr>
              <p:cNvPr id="4" name="Object 9">
                <a:extLst>
                  <a:ext uri="{FF2B5EF4-FFF2-40B4-BE49-F238E27FC236}">
                    <a16:creationId xmlns:a16="http://schemas.microsoft.com/office/drawing/2014/main" id="{0C3739F7-2790-4ED2-AC2D-E91AA32CB319}"/>
                  </a:ext>
                </a:extLst>
              </p:cNvPr>
              <p:cNvSpPr txBox="1">
                <a:spLocks noRot="1" noChangeAspect="1" noMove="1" noResize="1" noEditPoints="1" noAdjustHandles="1" noChangeArrowheads="1" noChangeShapeType="1" noTextEdit="1"/>
              </p:cNvSpPr>
              <p:nvPr/>
            </p:nvSpPr>
            <p:spPr bwMode="auto">
              <a:xfrm>
                <a:off x="3635896" y="3356992"/>
                <a:ext cx="2160240" cy="1440160"/>
              </a:xfrm>
              <a:prstGeom prst="rect">
                <a:avLst/>
              </a:prstGeom>
              <a:blipFill>
                <a:blip r:embed="rId2"/>
                <a:stretch>
                  <a:fillRect/>
                </a:stretch>
              </a:blipFill>
              <a:ln>
                <a:noFill/>
              </a:ln>
              <a:effectLst/>
              <a:extLst/>
            </p:spPr>
            <p:txBody>
              <a:bodyPr/>
              <a:lstStyle/>
              <a:p>
                <a:r>
                  <a:rPr lang="es-AR">
                    <a:noFill/>
                  </a:rPr>
                  <a:t> </a:t>
                </a:r>
              </a:p>
            </p:txBody>
          </p:sp>
        </mc:Fallback>
      </mc:AlternateContent>
    </p:spTree>
    <p:extLst>
      <p:ext uri="{BB962C8B-B14F-4D97-AF65-F5344CB8AC3E}">
        <p14:creationId xmlns:p14="http://schemas.microsoft.com/office/powerpoint/2010/main" val="26075259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Text Box 3"/>
          <p:cNvSpPr txBox="1">
            <a:spLocks noChangeArrowheads="1"/>
          </p:cNvSpPr>
          <p:nvPr/>
        </p:nvSpPr>
        <p:spPr bwMode="auto">
          <a:xfrm>
            <a:off x="1295400" y="1828800"/>
            <a:ext cx="7391400"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50000"/>
              </a:spcBef>
              <a:buFontTx/>
              <a:buNone/>
            </a:pPr>
            <a:r>
              <a:rPr lang="es-MX" altLang="en-US" sz="2000" dirty="0">
                <a:latin typeface="Arial" panose="020B0604020202020204" pitchFamily="34" charset="0"/>
              </a:rPr>
              <a:t>En un colectivo hay 10 asientos vacíos, dos de ellos están en la última fila. Si se suben 7 personas y eligen al azar su asiento: ¿cuál es la probabilidad de que queden vacíos los dos asientos de la última fila? </a:t>
            </a:r>
            <a:endParaRPr lang="en-US" altLang="en-US" sz="2000" dirty="0">
              <a:latin typeface="Arial" panose="020B0604020202020204" pitchFamily="34" charset="0"/>
            </a:endParaRPr>
          </a:p>
        </p:txBody>
      </p:sp>
      <p:sp>
        <p:nvSpPr>
          <p:cNvPr id="6148" name="Text Box 4"/>
          <p:cNvSpPr txBox="1">
            <a:spLocks noChangeArrowheads="1"/>
          </p:cNvSpPr>
          <p:nvPr/>
        </p:nvSpPr>
        <p:spPr bwMode="auto">
          <a:xfrm>
            <a:off x="1430288" y="3625180"/>
            <a:ext cx="21336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s-MX" altLang="en-US" sz="1800">
                <a:latin typeface="Broadway" panose="04040905080B02020502" pitchFamily="82" charset="0"/>
              </a:rPr>
              <a:t>Casos posibles </a:t>
            </a:r>
            <a:endParaRPr lang="en-US" altLang="en-US" sz="1800">
              <a:latin typeface="Broadway" panose="04040905080B02020502" pitchFamily="82" charset="0"/>
            </a:endParaRPr>
          </a:p>
        </p:txBody>
      </p:sp>
      <p:sp>
        <p:nvSpPr>
          <p:cNvPr id="6150" name="Text Box 6"/>
          <p:cNvSpPr txBox="1">
            <a:spLocks noChangeArrowheads="1"/>
          </p:cNvSpPr>
          <p:nvPr/>
        </p:nvSpPr>
        <p:spPr bwMode="auto">
          <a:xfrm>
            <a:off x="1447800" y="4715852"/>
            <a:ext cx="24384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s-MX" altLang="en-US" sz="1800" dirty="0">
                <a:latin typeface="Broadway" panose="04040905080B02020502" pitchFamily="82" charset="0"/>
              </a:rPr>
              <a:t>Casos favorables</a:t>
            </a:r>
            <a:endParaRPr lang="en-US" altLang="en-US" sz="1800" dirty="0">
              <a:latin typeface="Broadway" panose="04040905080B02020502" pitchFamily="82" charset="0"/>
            </a:endParaRPr>
          </a:p>
        </p:txBody>
      </p:sp>
      <mc:AlternateContent xmlns:mc="http://schemas.openxmlformats.org/markup-compatibility/2006" xmlns:a14="http://schemas.microsoft.com/office/drawing/2010/main">
        <mc:Choice Requires="a14">
          <p:sp>
            <p:nvSpPr>
              <p:cNvPr id="6153" name="Object 9"/>
              <p:cNvSpPr txBox="1"/>
              <p:nvPr/>
            </p:nvSpPr>
            <p:spPr bwMode="auto">
              <a:xfrm>
                <a:off x="3419872" y="5547310"/>
                <a:ext cx="2425700" cy="939800"/>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m:rPr>
                          <m:sty m:val="p"/>
                        </m:rPr>
                        <a:rPr lang="es-AR" i="0">
                          <a:solidFill>
                            <a:srgbClr val="000000"/>
                          </a:solidFill>
                          <a:latin typeface="Cambria Math" panose="02040503050406030204" pitchFamily="18" charset="0"/>
                        </a:rPr>
                        <m:t>P</m:t>
                      </m:r>
                      <m:r>
                        <a:rPr lang="es-AR" i="1">
                          <a:solidFill>
                            <a:srgbClr val="000000"/>
                          </a:solidFill>
                          <a:latin typeface="Cambria Math" panose="02040503050406030204" pitchFamily="18" charset="0"/>
                        </a:rPr>
                        <m:t>=</m:t>
                      </m:r>
                      <m:f>
                        <m:fPr>
                          <m:ctrlPr>
                            <a:rPr lang="es-AR" i="1">
                              <a:solidFill>
                                <a:srgbClr val="000000"/>
                              </a:solidFill>
                              <a:latin typeface="Cambria Math" panose="02040503050406030204" pitchFamily="18" charset="0"/>
                            </a:rPr>
                          </m:ctrlPr>
                        </m:fPr>
                        <m:num>
                          <m:r>
                            <a:rPr lang="es-AR" i="1">
                              <a:solidFill>
                                <a:srgbClr val="000000"/>
                              </a:solidFill>
                              <a:latin typeface="Cambria Math" panose="02040503050406030204" pitchFamily="18" charset="0"/>
                            </a:rPr>
                            <m:t>8</m:t>
                          </m:r>
                        </m:num>
                        <m:den>
                          <m:r>
                            <a:rPr lang="es-AR" i="1">
                              <a:solidFill>
                                <a:srgbClr val="000000"/>
                              </a:solidFill>
                              <a:latin typeface="Cambria Math" panose="02040503050406030204" pitchFamily="18" charset="0"/>
                            </a:rPr>
                            <m:t>120</m:t>
                          </m:r>
                        </m:den>
                      </m:f>
                      <m:r>
                        <a:rPr lang="es-AR" i="1">
                          <a:solidFill>
                            <a:srgbClr val="000000"/>
                          </a:solidFill>
                          <a:latin typeface="Cambria Math" panose="02040503050406030204" pitchFamily="18" charset="0"/>
                        </a:rPr>
                        <m:t>≈0.067</m:t>
                      </m:r>
                    </m:oMath>
                  </m:oMathPara>
                </a14:m>
                <a:endParaRPr lang="es-AR" dirty="0"/>
              </a:p>
            </p:txBody>
          </p:sp>
        </mc:Choice>
        <mc:Fallback xmlns="">
          <p:sp>
            <p:nvSpPr>
              <p:cNvPr id="6153" name="Object 9"/>
              <p:cNvSpPr txBox="1">
                <a:spLocks noRot="1" noChangeAspect="1" noMove="1" noResize="1" noEditPoints="1" noAdjustHandles="1" noChangeArrowheads="1" noChangeShapeType="1" noTextEdit="1"/>
              </p:cNvSpPr>
              <p:nvPr/>
            </p:nvSpPr>
            <p:spPr bwMode="auto">
              <a:xfrm>
                <a:off x="3419872" y="5547310"/>
                <a:ext cx="2425700" cy="939800"/>
              </a:xfrm>
              <a:prstGeom prst="rect">
                <a:avLst/>
              </a:prstGeom>
              <a:blipFill>
                <a:blip r:embed="rId2"/>
                <a:stretch>
                  <a:fillRect/>
                </a:stretch>
              </a:blipFill>
              <a:ln>
                <a:noFill/>
              </a:ln>
              <a:effectLst/>
              <a:extLst/>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6155" name="Object 11"/>
              <p:cNvSpPr txBox="1"/>
              <p:nvPr/>
            </p:nvSpPr>
            <p:spPr bwMode="auto">
              <a:xfrm>
                <a:off x="3962400" y="3356992"/>
                <a:ext cx="3489920" cy="9398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d>
                        <m:dPr>
                          <m:ctrlPr>
                            <a:rPr lang="es-AR" i="1" smtClean="0">
                              <a:solidFill>
                                <a:srgbClr val="000000"/>
                              </a:solidFill>
                              <a:latin typeface="Cambria Math" panose="02040503050406030204" pitchFamily="18" charset="0"/>
                            </a:rPr>
                          </m:ctrlPr>
                        </m:dPr>
                        <m:e>
                          <m:m>
                            <m:mPr>
                              <m:mcs>
                                <m:mc>
                                  <m:mcPr>
                                    <m:count m:val="1"/>
                                    <m:mcJc m:val="center"/>
                                  </m:mcPr>
                                </m:mc>
                              </m:mcs>
                              <m:ctrlPr>
                                <a:rPr lang="es-AR" i="1">
                                  <a:solidFill>
                                    <a:srgbClr val="000000"/>
                                  </a:solidFill>
                                  <a:latin typeface="Cambria Math" panose="02040503050406030204" pitchFamily="18" charset="0"/>
                                </a:rPr>
                              </m:ctrlPr>
                            </m:mPr>
                            <m:mr>
                              <m:e>
                                <m:r>
                                  <m:rPr>
                                    <m:brk m:alnAt="7"/>
                                  </m:rPr>
                                  <a:rPr lang="es-AR" i="1">
                                    <a:solidFill>
                                      <a:srgbClr val="000000"/>
                                    </a:solidFill>
                                    <a:latin typeface="Cambria Math" panose="02040503050406030204" pitchFamily="18" charset="0"/>
                                  </a:rPr>
                                  <m:t>1</m:t>
                                </m:r>
                                <m:r>
                                  <a:rPr lang="es-AR" i="1">
                                    <a:solidFill>
                                      <a:srgbClr val="000000"/>
                                    </a:solidFill>
                                    <a:latin typeface="Cambria Math" panose="02040503050406030204" pitchFamily="18" charset="0"/>
                                  </a:rPr>
                                  <m:t>0</m:t>
                                </m:r>
                              </m:e>
                            </m:mr>
                            <m:mr>
                              <m:e>
                                <m:r>
                                  <a:rPr lang="es-AR" i="1">
                                    <a:solidFill>
                                      <a:srgbClr val="000000"/>
                                    </a:solidFill>
                                    <a:latin typeface="Cambria Math" panose="02040503050406030204" pitchFamily="18" charset="0"/>
                                  </a:rPr>
                                  <m:t>7</m:t>
                                </m:r>
                              </m:e>
                            </m:mr>
                          </m:m>
                        </m:e>
                      </m:d>
                      <m:r>
                        <a:rPr lang="es-AR" i="1">
                          <a:solidFill>
                            <a:srgbClr val="000000"/>
                          </a:solidFill>
                          <a:latin typeface="Cambria Math" panose="02040503050406030204" pitchFamily="18" charset="0"/>
                        </a:rPr>
                        <m:t>=</m:t>
                      </m:r>
                      <m:f>
                        <m:fPr>
                          <m:ctrlPr>
                            <a:rPr lang="es-AR" i="1">
                              <a:solidFill>
                                <a:srgbClr val="000000"/>
                              </a:solidFill>
                              <a:latin typeface="Cambria Math" panose="02040503050406030204" pitchFamily="18" charset="0"/>
                            </a:rPr>
                          </m:ctrlPr>
                        </m:fPr>
                        <m:num>
                          <m:r>
                            <a:rPr lang="es-AR" i="1">
                              <a:solidFill>
                                <a:srgbClr val="000000"/>
                              </a:solidFill>
                              <a:latin typeface="Cambria Math" panose="02040503050406030204" pitchFamily="18" charset="0"/>
                            </a:rPr>
                            <m:t>10⋅9⋅8</m:t>
                          </m:r>
                        </m:num>
                        <m:den>
                          <m:r>
                            <a:rPr lang="es-AR" i="1">
                              <a:solidFill>
                                <a:srgbClr val="000000"/>
                              </a:solidFill>
                              <a:latin typeface="Cambria Math" panose="02040503050406030204" pitchFamily="18" charset="0"/>
                            </a:rPr>
                            <m:t>3⋅2⋅1</m:t>
                          </m:r>
                        </m:den>
                      </m:f>
                      <m:r>
                        <a:rPr lang="es-AR" i="1">
                          <a:solidFill>
                            <a:srgbClr val="000000"/>
                          </a:solidFill>
                          <a:latin typeface="Cambria Math" panose="02040503050406030204" pitchFamily="18" charset="0"/>
                        </a:rPr>
                        <m:t>=120</m:t>
                      </m:r>
                    </m:oMath>
                  </m:oMathPara>
                </a14:m>
                <a:endParaRPr lang="es-AR" dirty="0"/>
              </a:p>
            </p:txBody>
          </p:sp>
        </mc:Choice>
        <mc:Fallback xmlns="">
          <p:sp>
            <p:nvSpPr>
              <p:cNvPr id="6155" name="Object 11"/>
              <p:cNvSpPr txBox="1">
                <a:spLocks noRot="1" noChangeAspect="1" noMove="1" noResize="1" noEditPoints="1" noAdjustHandles="1" noChangeArrowheads="1" noChangeShapeType="1" noTextEdit="1"/>
              </p:cNvSpPr>
              <p:nvPr/>
            </p:nvSpPr>
            <p:spPr bwMode="auto">
              <a:xfrm>
                <a:off x="3962400" y="3356992"/>
                <a:ext cx="3489920" cy="939800"/>
              </a:xfrm>
              <a:prstGeom prst="rect">
                <a:avLst/>
              </a:prstGeom>
              <a:blipFill>
                <a:blip r:embed="rId3"/>
                <a:stretch>
                  <a:fillRect/>
                </a:stretch>
              </a:blipFill>
              <a:ln>
                <a:noFill/>
              </a:ln>
              <a:effectLst/>
              <a:extLst/>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6157" name="Object 13"/>
              <p:cNvSpPr txBox="1"/>
              <p:nvPr/>
            </p:nvSpPr>
            <p:spPr bwMode="auto">
              <a:xfrm>
                <a:off x="4038600" y="4535050"/>
                <a:ext cx="1613520" cy="982182"/>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d>
                        <m:dPr>
                          <m:ctrlPr>
                            <a:rPr lang="es-AR" i="1">
                              <a:solidFill>
                                <a:srgbClr val="000000"/>
                              </a:solidFill>
                              <a:latin typeface="Cambria Math" panose="02040503050406030204" pitchFamily="18" charset="0"/>
                            </a:rPr>
                          </m:ctrlPr>
                        </m:dPr>
                        <m:e>
                          <m:eqArr>
                            <m:eqArrPr>
                              <m:ctrlPr>
                                <a:rPr lang="es-AR" i="1">
                                  <a:solidFill>
                                    <a:srgbClr val="000000"/>
                                  </a:solidFill>
                                  <a:latin typeface="Cambria Math" panose="02040503050406030204" pitchFamily="18" charset="0"/>
                                </a:rPr>
                              </m:ctrlPr>
                            </m:eqArrPr>
                            <m:e>
                              <m:r>
                                <a:rPr lang="es-AR" i="1">
                                  <a:solidFill>
                                    <a:srgbClr val="000000"/>
                                  </a:solidFill>
                                  <a:latin typeface="Cambria Math" panose="02040503050406030204" pitchFamily="18" charset="0"/>
                                </a:rPr>
                                <m:t>&amp;8</m:t>
                              </m:r>
                            </m:e>
                            <m:e>
                              <m:r>
                                <a:rPr lang="es-AR" i="1">
                                  <a:solidFill>
                                    <a:srgbClr val="000000"/>
                                  </a:solidFill>
                                  <a:latin typeface="Cambria Math" panose="02040503050406030204" pitchFamily="18" charset="0"/>
                                </a:rPr>
                                <m:t>&amp;7</m:t>
                              </m:r>
                            </m:e>
                          </m:eqArr>
                        </m:e>
                      </m:d>
                      <m:r>
                        <a:rPr lang="es-AR" i="1">
                          <a:solidFill>
                            <a:srgbClr val="000000"/>
                          </a:solidFill>
                          <a:latin typeface="Cambria Math" panose="02040503050406030204" pitchFamily="18" charset="0"/>
                        </a:rPr>
                        <m:t>=8</m:t>
                      </m:r>
                    </m:oMath>
                  </m:oMathPara>
                </a14:m>
                <a:endParaRPr lang="es-AR" dirty="0"/>
              </a:p>
            </p:txBody>
          </p:sp>
        </mc:Choice>
        <mc:Fallback xmlns="">
          <p:sp>
            <p:nvSpPr>
              <p:cNvPr id="6157" name="Object 13"/>
              <p:cNvSpPr txBox="1">
                <a:spLocks noRot="1" noChangeAspect="1" noMove="1" noResize="1" noEditPoints="1" noAdjustHandles="1" noChangeArrowheads="1" noChangeShapeType="1" noTextEdit="1"/>
              </p:cNvSpPr>
              <p:nvPr/>
            </p:nvSpPr>
            <p:spPr bwMode="auto">
              <a:xfrm>
                <a:off x="4038600" y="4535050"/>
                <a:ext cx="1613520" cy="982182"/>
              </a:xfrm>
              <a:prstGeom prst="rect">
                <a:avLst/>
              </a:prstGeom>
              <a:blipFill>
                <a:blip r:embed="rId4"/>
                <a:stretch>
                  <a:fillRect/>
                </a:stretch>
              </a:blipFill>
              <a:ln>
                <a:noFill/>
              </a:ln>
              <a:effectLst/>
              <a:extLst/>
            </p:spPr>
            <p:txBody>
              <a:bodyPr/>
              <a:lstStyle/>
              <a:p>
                <a:r>
                  <a:rPr lang="es-AR">
                    <a:noFill/>
                  </a:rPr>
                  <a:t> </a:t>
                </a:r>
              </a:p>
            </p:txBody>
          </p:sp>
        </mc:Fallback>
      </mc:AlternateContent>
      <p:sp>
        <p:nvSpPr>
          <p:cNvPr id="11" name="Rectangle 2"/>
          <p:cNvSpPr txBox="1">
            <a:spLocks noChangeArrowheads="1"/>
          </p:cNvSpPr>
          <p:nvPr/>
        </p:nvSpPr>
        <p:spPr bwMode="auto">
          <a:xfrm>
            <a:off x="1066800" y="355599"/>
            <a:ext cx="7620000" cy="1216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a:lstStyle>
          <a:p>
            <a:pPr eaLnBrk="1" hangingPunct="1"/>
            <a:r>
              <a:rPr lang="es-MX" altLang="en-US" sz="3200" b="1" dirty="0">
                <a:latin typeface="Broadway" panose="04040905080B02020502" pitchFamily="82" charset="0"/>
              </a:rPr>
              <a:t>Cálculo de probabilidades con la regla de Laplace</a:t>
            </a:r>
            <a:endParaRPr lang="en-US" altLang="en-US" sz="3200" b="1" dirty="0">
              <a:latin typeface="Broadway" panose="04040905080B02020502" pitchFamily="82" charset="0"/>
            </a:endParaRPr>
          </a:p>
        </p:txBody>
      </p:sp>
    </p:spTree>
    <p:extLst>
      <p:ext uri="{BB962C8B-B14F-4D97-AF65-F5344CB8AC3E}">
        <p14:creationId xmlns:p14="http://schemas.microsoft.com/office/powerpoint/2010/main" val="420913527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14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6155"/>
                                        </p:tgtEl>
                                        <p:attrNameLst>
                                          <p:attrName>style.visibility</p:attrName>
                                        </p:attrNameLst>
                                      </p:cBhvr>
                                      <p:to>
                                        <p:strVal val="visible"/>
                                      </p:to>
                                    </p:set>
                                    <p:anim calcmode="lin" valueType="num">
                                      <p:cBhvr additive="base">
                                        <p:cTn id="11" dur="500" fill="hold"/>
                                        <p:tgtEl>
                                          <p:spTgt spid="6155"/>
                                        </p:tgtEl>
                                        <p:attrNameLst>
                                          <p:attrName>ppt_x</p:attrName>
                                        </p:attrNameLst>
                                      </p:cBhvr>
                                      <p:tavLst>
                                        <p:tav tm="0">
                                          <p:val>
                                            <p:strVal val="#ppt_x"/>
                                          </p:val>
                                        </p:tav>
                                        <p:tav tm="100000">
                                          <p:val>
                                            <p:strVal val="#ppt_x"/>
                                          </p:val>
                                        </p:tav>
                                      </p:tavLst>
                                    </p:anim>
                                    <p:anim calcmode="lin" valueType="num">
                                      <p:cBhvr additive="base">
                                        <p:cTn id="12" dur="500" fill="hold"/>
                                        <p:tgtEl>
                                          <p:spTgt spid="6155"/>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615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6157"/>
                                        </p:tgtEl>
                                        <p:attrNameLst>
                                          <p:attrName>style.visibility</p:attrName>
                                        </p:attrNameLst>
                                      </p:cBhvr>
                                      <p:to>
                                        <p:strVal val="visible"/>
                                      </p:to>
                                    </p:set>
                                    <p:anim calcmode="lin" valueType="num">
                                      <p:cBhvr additive="base">
                                        <p:cTn id="21" dur="500" fill="hold"/>
                                        <p:tgtEl>
                                          <p:spTgt spid="6157"/>
                                        </p:tgtEl>
                                        <p:attrNameLst>
                                          <p:attrName>ppt_x</p:attrName>
                                        </p:attrNameLst>
                                      </p:cBhvr>
                                      <p:tavLst>
                                        <p:tav tm="0">
                                          <p:val>
                                            <p:strVal val="#ppt_x"/>
                                          </p:val>
                                        </p:tav>
                                        <p:tav tm="100000">
                                          <p:val>
                                            <p:strVal val="#ppt_x"/>
                                          </p:val>
                                        </p:tav>
                                      </p:tavLst>
                                    </p:anim>
                                    <p:anim calcmode="lin" valueType="num">
                                      <p:cBhvr additive="base">
                                        <p:cTn id="22" dur="500" fill="hold"/>
                                        <p:tgtEl>
                                          <p:spTgt spid="6157"/>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6153"/>
                                        </p:tgtEl>
                                        <p:attrNameLst>
                                          <p:attrName>style.visibility</p:attrName>
                                        </p:attrNameLst>
                                      </p:cBhvr>
                                      <p:to>
                                        <p:strVal val="visible"/>
                                      </p:to>
                                    </p:set>
                                    <p:animEffect transition="in" filter="randombar(horizontal)">
                                      <p:cBhvr>
                                        <p:cTn id="27" dur="500"/>
                                        <p:tgtEl>
                                          <p:spTgt spid="61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8" grpId="0" autoUpdateAnimBg="0"/>
      <p:bldP spid="6150" grpId="0" autoUpdateAnimBg="0"/>
      <p:bldP spid="6153" grpId="0"/>
      <p:bldP spid="6155" grpId="0"/>
      <p:bldP spid="615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Text Box 3"/>
          <p:cNvSpPr txBox="1">
            <a:spLocks noChangeArrowheads="1"/>
          </p:cNvSpPr>
          <p:nvPr/>
        </p:nvSpPr>
        <p:spPr bwMode="auto">
          <a:xfrm>
            <a:off x="1181100" y="1684198"/>
            <a:ext cx="750570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50000"/>
              </a:spcBef>
              <a:buFontTx/>
              <a:buNone/>
            </a:pPr>
            <a:r>
              <a:rPr lang="es-MX" altLang="en-US" sz="2000" dirty="0">
                <a:latin typeface="Arial" panose="020B0604020202020204" pitchFamily="34" charset="0"/>
              </a:rPr>
              <a:t>Se sacan una tras otra (o las dos al tiempo) dos cartas de una baraja española de 40 cartas. ¿Cuál es la probabilidad de que sean un caballo y un tres?</a:t>
            </a:r>
            <a:endParaRPr lang="en-US" altLang="en-US" sz="2000" dirty="0">
              <a:latin typeface="Arial" panose="020B0604020202020204" pitchFamily="34" charset="0"/>
            </a:endParaRPr>
          </a:p>
        </p:txBody>
      </p:sp>
      <p:sp>
        <p:nvSpPr>
          <p:cNvPr id="11268" name="Text Box 4"/>
          <p:cNvSpPr txBox="1">
            <a:spLocks noChangeArrowheads="1"/>
          </p:cNvSpPr>
          <p:nvPr/>
        </p:nvSpPr>
        <p:spPr bwMode="auto">
          <a:xfrm>
            <a:off x="1475656" y="3284984"/>
            <a:ext cx="21336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s-MX" altLang="en-US" sz="1800" dirty="0">
                <a:latin typeface="Broadway" panose="04040905080B02020502" pitchFamily="82" charset="0"/>
              </a:rPr>
              <a:t>Casos posibles </a:t>
            </a:r>
            <a:endParaRPr lang="en-US" altLang="en-US" sz="1800" dirty="0">
              <a:latin typeface="Broadway" panose="04040905080B02020502" pitchFamily="82" charset="0"/>
            </a:endParaRPr>
          </a:p>
        </p:txBody>
      </p:sp>
      <p:sp>
        <p:nvSpPr>
          <p:cNvPr id="11270" name="Text Box 6"/>
          <p:cNvSpPr txBox="1">
            <a:spLocks noChangeArrowheads="1"/>
          </p:cNvSpPr>
          <p:nvPr/>
        </p:nvSpPr>
        <p:spPr bwMode="auto">
          <a:xfrm>
            <a:off x="1447800" y="4571836"/>
            <a:ext cx="24384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s-MX" altLang="en-US" sz="1800" dirty="0">
                <a:latin typeface="Broadway" panose="04040905080B02020502" pitchFamily="82" charset="0"/>
              </a:rPr>
              <a:t>Casos favorables</a:t>
            </a:r>
            <a:endParaRPr lang="en-US" altLang="en-US" sz="1800" dirty="0">
              <a:latin typeface="Broadway" panose="04040905080B02020502" pitchFamily="82" charset="0"/>
            </a:endParaRPr>
          </a:p>
        </p:txBody>
      </p:sp>
      <mc:AlternateContent xmlns:mc="http://schemas.openxmlformats.org/markup-compatibility/2006" xmlns:a14="http://schemas.microsoft.com/office/drawing/2010/main">
        <mc:Choice Requires="a14">
          <p:sp>
            <p:nvSpPr>
              <p:cNvPr id="11272" name="Object 8"/>
              <p:cNvSpPr txBox="1"/>
              <p:nvPr/>
            </p:nvSpPr>
            <p:spPr bwMode="auto">
              <a:xfrm>
                <a:off x="3023685" y="5489576"/>
                <a:ext cx="3821112" cy="1012825"/>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m:rPr>
                          <m:nor/>
                        </m:rPr>
                        <a:rPr lang="es-AR" i="0">
                          <a:solidFill>
                            <a:srgbClr val="000000"/>
                          </a:solidFill>
                          <a:latin typeface="Cambria Math" panose="02040503050406030204" pitchFamily="18" charset="0"/>
                        </a:rPr>
                        <m:t>P</m:t>
                      </m:r>
                      <m:r>
                        <m:rPr>
                          <m:nor/>
                        </m:rPr>
                        <a:rPr lang="es-AR" i="0">
                          <a:solidFill>
                            <a:srgbClr val="000000"/>
                          </a:solidFill>
                          <a:latin typeface="Cambria Math" panose="02040503050406030204" pitchFamily="18" charset="0"/>
                        </a:rPr>
                        <m:t> </m:t>
                      </m:r>
                      <m:r>
                        <a:rPr lang="es-AR" i="1">
                          <a:solidFill>
                            <a:srgbClr val="000000"/>
                          </a:solidFill>
                          <a:latin typeface="Cambria Math" panose="02040503050406030204" pitchFamily="18" charset="0"/>
                        </a:rPr>
                        <m:t>=</m:t>
                      </m:r>
                      <m:f>
                        <m:fPr>
                          <m:ctrlPr>
                            <a:rPr lang="es-AR" i="1">
                              <a:solidFill>
                                <a:srgbClr val="000000"/>
                              </a:solidFill>
                              <a:latin typeface="Cambria Math" panose="02040503050406030204" pitchFamily="18" charset="0"/>
                            </a:rPr>
                          </m:ctrlPr>
                        </m:fPr>
                        <m:num>
                          <m:r>
                            <a:rPr lang="es-AR" i="1">
                              <a:solidFill>
                                <a:srgbClr val="000000"/>
                              </a:solidFill>
                              <a:latin typeface="Cambria Math" panose="02040503050406030204" pitchFamily="18" charset="0"/>
                            </a:rPr>
                            <m:t>16</m:t>
                          </m:r>
                        </m:num>
                        <m:den>
                          <m:r>
                            <a:rPr lang="es-AR" i="1">
                              <a:solidFill>
                                <a:srgbClr val="000000"/>
                              </a:solidFill>
                              <a:latin typeface="Cambria Math" panose="02040503050406030204" pitchFamily="18" charset="0"/>
                            </a:rPr>
                            <m:t>780</m:t>
                          </m:r>
                        </m:den>
                      </m:f>
                      <m:r>
                        <a:rPr lang="es-AR" i="1">
                          <a:solidFill>
                            <a:srgbClr val="000000"/>
                          </a:solidFill>
                          <a:latin typeface="Cambria Math" panose="02040503050406030204" pitchFamily="18" charset="0"/>
                        </a:rPr>
                        <m:t>=</m:t>
                      </m:r>
                      <m:f>
                        <m:fPr>
                          <m:ctrlPr>
                            <a:rPr lang="es-AR" i="1">
                              <a:solidFill>
                                <a:srgbClr val="000000"/>
                              </a:solidFill>
                              <a:latin typeface="Cambria Math" panose="02040503050406030204" pitchFamily="18" charset="0"/>
                            </a:rPr>
                          </m:ctrlPr>
                        </m:fPr>
                        <m:num>
                          <m:r>
                            <a:rPr lang="es-AR" i="1">
                              <a:solidFill>
                                <a:srgbClr val="000000"/>
                              </a:solidFill>
                              <a:latin typeface="Cambria Math" panose="02040503050406030204" pitchFamily="18" charset="0"/>
                            </a:rPr>
                            <m:t>4</m:t>
                          </m:r>
                        </m:num>
                        <m:den>
                          <m:r>
                            <a:rPr lang="es-AR" i="1">
                              <a:solidFill>
                                <a:srgbClr val="000000"/>
                              </a:solidFill>
                              <a:latin typeface="Cambria Math" panose="02040503050406030204" pitchFamily="18" charset="0"/>
                            </a:rPr>
                            <m:t>195</m:t>
                          </m:r>
                        </m:den>
                      </m:f>
                      <m:r>
                        <a:rPr lang="es-AR" i="1">
                          <a:solidFill>
                            <a:srgbClr val="000000"/>
                          </a:solidFill>
                          <a:latin typeface="Cambria Math" panose="02040503050406030204" pitchFamily="18" charset="0"/>
                        </a:rPr>
                        <m:t>≈0.0205</m:t>
                      </m:r>
                    </m:oMath>
                  </m:oMathPara>
                </a14:m>
                <a:endParaRPr lang="es-AR" dirty="0"/>
              </a:p>
            </p:txBody>
          </p:sp>
        </mc:Choice>
        <mc:Fallback xmlns="">
          <p:sp>
            <p:nvSpPr>
              <p:cNvPr id="11272" name="Object 8"/>
              <p:cNvSpPr txBox="1">
                <a:spLocks noRot="1" noChangeAspect="1" noMove="1" noResize="1" noEditPoints="1" noAdjustHandles="1" noChangeArrowheads="1" noChangeShapeType="1" noTextEdit="1"/>
              </p:cNvSpPr>
              <p:nvPr/>
            </p:nvSpPr>
            <p:spPr bwMode="auto">
              <a:xfrm>
                <a:off x="3023685" y="5489576"/>
                <a:ext cx="3821112" cy="1012825"/>
              </a:xfrm>
              <a:prstGeom prst="rect">
                <a:avLst/>
              </a:prstGeom>
              <a:blipFill>
                <a:blip r:embed="rId2"/>
                <a:stretch>
                  <a:fillRect/>
                </a:stretch>
              </a:blipFill>
              <a:ln>
                <a:noFill/>
              </a:ln>
              <a:effectLst/>
              <a:extLst/>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1273" name="Object 9"/>
              <p:cNvSpPr txBox="1"/>
              <p:nvPr/>
            </p:nvSpPr>
            <p:spPr bwMode="auto">
              <a:xfrm>
                <a:off x="3815816" y="3068960"/>
                <a:ext cx="3060440" cy="960581"/>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d>
                        <m:dPr>
                          <m:ctrlPr>
                            <a:rPr lang="es-AR" i="1" smtClean="0">
                              <a:solidFill>
                                <a:srgbClr val="000000"/>
                              </a:solidFill>
                              <a:latin typeface="Cambria Math" panose="02040503050406030204" pitchFamily="18" charset="0"/>
                            </a:rPr>
                          </m:ctrlPr>
                        </m:dPr>
                        <m:e>
                          <m:m>
                            <m:mPr>
                              <m:mcs>
                                <m:mc>
                                  <m:mcPr>
                                    <m:count m:val="1"/>
                                    <m:mcJc m:val="center"/>
                                  </m:mcPr>
                                </m:mc>
                              </m:mcs>
                              <m:ctrlPr>
                                <a:rPr lang="es-AR" i="1" smtClean="0">
                                  <a:solidFill>
                                    <a:srgbClr val="000000"/>
                                  </a:solidFill>
                                  <a:latin typeface="Cambria Math" panose="02040503050406030204" pitchFamily="18" charset="0"/>
                                </a:rPr>
                              </m:ctrlPr>
                            </m:mPr>
                            <m:mr>
                              <m:e>
                                <m:r>
                                  <m:rPr>
                                    <m:brk m:alnAt="7"/>
                                  </m:rPr>
                                  <a:rPr lang="es-AR" b="0" i="1" smtClean="0">
                                    <a:solidFill>
                                      <a:srgbClr val="000000"/>
                                    </a:solidFill>
                                    <a:latin typeface="Cambria Math" panose="02040503050406030204" pitchFamily="18" charset="0"/>
                                  </a:rPr>
                                  <m:t>4</m:t>
                                </m:r>
                                <m:r>
                                  <a:rPr lang="es-AR" b="0" i="1" smtClean="0">
                                    <a:solidFill>
                                      <a:srgbClr val="000000"/>
                                    </a:solidFill>
                                    <a:latin typeface="Cambria Math" panose="02040503050406030204" pitchFamily="18" charset="0"/>
                                  </a:rPr>
                                  <m:t>0</m:t>
                                </m:r>
                              </m:e>
                            </m:mr>
                            <m:mr>
                              <m:e>
                                <m:r>
                                  <a:rPr lang="es-AR" b="0" i="1" smtClean="0">
                                    <a:solidFill>
                                      <a:srgbClr val="000000"/>
                                    </a:solidFill>
                                    <a:latin typeface="Cambria Math" panose="02040503050406030204" pitchFamily="18" charset="0"/>
                                  </a:rPr>
                                  <m:t>2</m:t>
                                </m:r>
                              </m:e>
                            </m:mr>
                          </m:m>
                        </m:e>
                      </m:d>
                      <m:r>
                        <a:rPr lang="es-AR" i="1">
                          <a:solidFill>
                            <a:srgbClr val="000000"/>
                          </a:solidFill>
                          <a:latin typeface="Cambria Math" panose="02040503050406030204" pitchFamily="18" charset="0"/>
                        </a:rPr>
                        <m:t>=</m:t>
                      </m:r>
                      <m:f>
                        <m:fPr>
                          <m:ctrlPr>
                            <a:rPr lang="es-AR" i="1">
                              <a:solidFill>
                                <a:srgbClr val="000000"/>
                              </a:solidFill>
                              <a:latin typeface="Cambria Math" panose="02040503050406030204" pitchFamily="18" charset="0"/>
                            </a:rPr>
                          </m:ctrlPr>
                        </m:fPr>
                        <m:num>
                          <m:r>
                            <a:rPr lang="es-AR" i="1">
                              <a:solidFill>
                                <a:srgbClr val="000000"/>
                              </a:solidFill>
                              <a:latin typeface="Cambria Math" panose="02040503050406030204" pitchFamily="18" charset="0"/>
                            </a:rPr>
                            <m:t>40⋅39</m:t>
                          </m:r>
                        </m:num>
                        <m:den>
                          <m:r>
                            <a:rPr lang="es-AR" i="1">
                              <a:solidFill>
                                <a:srgbClr val="000000"/>
                              </a:solidFill>
                              <a:latin typeface="Cambria Math" panose="02040503050406030204" pitchFamily="18" charset="0"/>
                            </a:rPr>
                            <m:t>2</m:t>
                          </m:r>
                        </m:den>
                      </m:f>
                      <m:r>
                        <a:rPr lang="es-AR" i="1">
                          <a:solidFill>
                            <a:srgbClr val="000000"/>
                          </a:solidFill>
                          <a:latin typeface="Cambria Math" panose="02040503050406030204" pitchFamily="18" charset="0"/>
                        </a:rPr>
                        <m:t>=780</m:t>
                      </m:r>
                    </m:oMath>
                  </m:oMathPara>
                </a14:m>
                <a:endParaRPr lang="es-AR" dirty="0"/>
              </a:p>
            </p:txBody>
          </p:sp>
        </mc:Choice>
        <mc:Fallback xmlns="">
          <p:sp>
            <p:nvSpPr>
              <p:cNvPr id="11273" name="Object 9"/>
              <p:cNvSpPr txBox="1">
                <a:spLocks noRot="1" noChangeAspect="1" noMove="1" noResize="1" noEditPoints="1" noAdjustHandles="1" noChangeArrowheads="1" noChangeShapeType="1" noTextEdit="1"/>
              </p:cNvSpPr>
              <p:nvPr/>
            </p:nvSpPr>
            <p:spPr bwMode="auto">
              <a:xfrm>
                <a:off x="3815816" y="3068960"/>
                <a:ext cx="3060440" cy="960581"/>
              </a:xfrm>
              <a:prstGeom prst="rect">
                <a:avLst/>
              </a:prstGeom>
              <a:blipFill>
                <a:blip r:embed="rId3"/>
                <a:stretch>
                  <a:fillRect/>
                </a:stretch>
              </a:blipFill>
              <a:ln>
                <a:noFill/>
              </a:ln>
              <a:effectLst/>
              <a:extLst/>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1275" name="Object 11"/>
              <p:cNvSpPr txBox="1"/>
              <p:nvPr/>
            </p:nvSpPr>
            <p:spPr bwMode="auto">
              <a:xfrm>
                <a:off x="3801297" y="4382616"/>
                <a:ext cx="3426297" cy="990600"/>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d>
                        <m:dPr>
                          <m:ctrlPr>
                            <a:rPr lang="es-AR" i="1">
                              <a:solidFill>
                                <a:srgbClr val="000000"/>
                              </a:solidFill>
                              <a:latin typeface="Cambria Math" panose="02040503050406030204" pitchFamily="18" charset="0"/>
                            </a:rPr>
                          </m:ctrlPr>
                        </m:dPr>
                        <m:e>
                          <m:eqArr>
                            <m:eqArrPr>
                              <m:ctrlPr>
                                <a:rPr lang="es-AR" i="1">
                                  <a:solidFill>
                                    <a:srgbClr val="000000"/>
                                  </a:solidFill>
                                  <a:latin typeface="Cambria Math" panose="02040503050406030204" pitchFamily="18" charset="0"/>
                                </a:rPr>
                              </m:ctrlPr>
                            </m:eqArrPr>
                            <m:e>
                              <m:r>
                                <a:rPr lang="es-AR" i="1">
                                  <a:solidFill>
                                    <a:srgbClr val="000000"/>
                                  </a:solidFill>
                                  <a:latin typeface="Cambria Math" panose="02040503050406030204" pitchFamily="18" charset="0"/>
                                </a:rPr>
                                <m:t>&amp;4</m:t>
                              </m:r>
                            </m:e>
                            <m:e>
                              <m:r>
                                <a:rPr lang="es-AR" i="1">
                                  <a:solidFill>
                                    <a:srgbClr val="000000"/>
                                  </a:solidFill>
                                  <a:latin typeface="Cambria Math" panose="02040503050406030204" pitchFamily="18" charset="0"/>
                                </a:rPr>
                                <m:t>&amp;1</m:t>
                              </m:r>
                            </m:e>
                          </m:eqArr>
                        </m:e>
                      </m:d>
                      <m:r>
                        <a:rPr lang="es-AR" i="1">
                          <a:solidFill>
                            <a:srgbClr val="000000"/>
                          </a:solidFill>
                          <a:latin typeface="Cambria Math" panose="02040503050406030204" pitchFamily="18" charset="0"/>
                        </a:rPr>
                        <m:t>⋅</m:t>
                      </m:r>
                      <m:d>
                        <m:dPr>
                          <m:ctrlPr>
                            <a:rPr lang="es-AR" i="1">
                              <a:solidFill>
                                <a:srgbClr val="000000"/>
                              </a:solidFill>
                              <a:latin typeface="Cambria Math" panose="02040503050406030204" pitchFamily="18" charset="0"/>
                            </a:rPr>
                          </m:ctrlPr>
                        </m:dPr>
                        <m:e>
                          <m:eqArr>
                            <m:eqArrPr>
                              <m:ctrlPr>
                                <a:rPr lang="es-AR" i="1">
                                  <a:solidFill>
                                    <a:srgbClr val="000000"/>
                                  </a:solidFill>
                                  <a:latin typeface="Cambria Math" panose="02040503050406030204" pitchFamily="18" charset="0"/>
                                </a:rPr>
                              </m:ctrlPr>
                            </m:eqArrPr>
                            <m:e>
                              <m:r>
                                <a:rPr lang="es-AR" i="1">
                                  <a:solidFill>
                                    <a:srgbClr val="000000"/>
                                  </a:solidFill>
                                  <a:latin typeface="Cambria Math" panose="02040503050406030204" pitchFamily="18" charset="0"/>
                                </a:rPr>
                                <m:t>&amp;4</m:t>
                              </m:r>
                            </m:e>
                            <m:e>
                              <m:r>
                                <a:rPr lang="es-AR" i="1">
                                  <a:solidFill>
                                    <a:srgbClr val="000000"/>
                                  </a:solidFill>
                                  <a:latin typeface="Cambria Math" panose="02040503050406030204" pitchFamily="18" charset="0"/>
                                </a:rPr>
                                <m:t>&amp;1</m:t>
                              </m:r>
                            </m:e>
                          </m:eqArr>
                        </m:e>
                      </m:d>
                      <m:r>
                        <a:rPr lang="es-AR" i="1">
                          <a:solidFill>
                            <a:srgbClr val="000000"/>
                          </a:solidFill>
                          <a:latin typeface="Cambria Math" panose="02040503050406030204" pitchFamily="18" charset="0"/>
                        </a:rPr>
                        <m:t>=4⋅4=16</m:t>
                      </m:r>
                    </m:oMath>
                  </m:oMathPara>
                </a14:m>
                <a:endParaRPr lang="es-AR" dirty="0"/>
              </a:p>
            </p:txBody>
          </p:sp>
        </mc:Choice>
        <mc:Fallback xmlns="">
          <p:sp>
            <p:nvSpPr>
              <p:cNvPr id="11275" name="Object 11"/>
              <p:cNvSpPr txBox="1">
                <a:spLocks noRot="1" noChangeAspect="1" noMove="1" noResize="1" noEditPoints="1" noAdjustHandles="1" noChangeArrowheads="1" noChangeShapeType="1" noTextEdit="1"/>
              </p:cNvSpPr>
              <p:nvPr/>
            </p:nvSpPr>
            <p:spPr bwMode="auto">
              <a:xfrm>
                <a:off x="3801297" y="4382616"/>
                <a:ext cx="3426297" cy="990600"/>
              </a:xfrm>
              <a:prstGeom prst="rect">
                <a:avLst/>
              </a:prstGeom>
              <a:blipFill>
                <a:blip r:embed="rId4"/>
                <a:stretch>
                  <a:fillRect/>
                </a:stretch>
              </a:blipFill>
              <a:ln>
                <a:noFill/>
              </a:ln>
              <a:effectLst/>
              <a:extLst/>
            </p:spPr>
            <p:txBody>
              <a:bodyPr/>
              <a:lstStyle/>
              <a:p>
                <a:r>
                  <a:rPr lang="es-AR">
                    <a:noFill/>
                  </a:rPr>
                  <a:t> </a:t>
                </a:r>
              </a:p>
            </p:txBody>
          </p:sp>
        </mc:Fallback>
      </mc:AlternateContent>
      <p:sp>
        <p:nvSpPr>
          <p:cNvPr id="12" name="Rectangle 2"/>
          <p:cNvSpPr txBox="1">
            <a:spLocks noChangeArrowheads="1"/>
          </p:cNvSpPr>
          <p:nvPr/>
        </p:nvSpPr>
        <p:spPr bwMode="auto">
          <a:xfrm>
            <a:off x="1066800" y="355599"/>
            <a:ext cx="7620000" cy="1216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a:lstStyle>
          <a:p>
            <a:pPr eaLnBrk="1" hangingPunct="1"/>
            <a:r>
              <a:rPr lang="es-MX" altLang="en-US" sz="3200" b="1" dirty="0">
                <a:latin typeface="Broadway" panose="04040905080B02020502" pitchFamily="82" charset="0"/>
              </a:rPr>
              <a:t>Cálculo de probabilidades con la regla de Laplace</a:t>
            </a:r>
            <a:endParaRPr lang="en-US" altLang="en-US" sz="3200" b="1" dirty="0">
              <a:latin typeface="Broadway" panose="04040905080B02020502" pitchFamily="82"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126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11273"/>
                                        </p:tgtEl>
                                        <p:attrNameLst>
                                          <p:attrName>style.visibility</p:attrName>
                                        </p:attrNameLst>
                                      </p:cBhvr>
                                      <p:to>
                                        <p:strVal val="visible"/>
                                      </p:to>
                                    </p:set>
                                    <p:anim calcmode="lin" valueType="num">
                                      <p:cBhvr additive="base">
                                        <p:cTn id="11" dur="500" fill="hold"/>
                                        <p:tgtEl>
                                          <p:spTgt spid="11273"/>
                                        </p:tgtEl>
                                        <p:attrNameLst>
                                          <p:attrName>ppt_x</p:attrName>
                                        </p:attrNameLst>
                                      </p:cBhvr>
                                      <p:tavLst>
                                        <p:tav tm="0">
                                          <p:val>
                                            <p:strVal val="#ppt_x"/>
                                          </p:val>
                                        </p:tav>
                                        <p:tav tm="100000">
                                          <p:val>
                                            <p:strVal val="#ppt_x"/>
                                          </p:val>
                                        </p:tav>
                                      </p:tavLst>
                                    </p:anim>
                                    <p:anim calcmode="lin" valueType="num">
                                      <p:cBhvr additive="base">
                                        <p:cTn id="12" dur="500" fill="hold"/>
                                        <p:tgtEl>
                                          <p:spTgt spid="11273"/>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1127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11275"/>
                                        </p:tgtEl>
                                        <p:attrNameLst>
                                          <p:attrName>style.visibility</p:attrName>
                                        </p:attrNameLst>
                                      </p:cBhvr>
                                      <p:to>
                                        <p:strVal val="visible"/>
                                      </p:to>
                                    </p:set>
                                    <p:anim calcmode="lin" valueType="num">
                                      <p:cBhvr additive="base">
                                        <p:cTn id="21" dur="500" fill="hold"/>
                                        <p:tgtEl>
                                          <p:spTgt spid="11275"/>
                                        </p:tgtEl>
                                        <p:attrNameLst>
                                          <p:attrName>ppt_x</p:attrName>
                                        </p:attrNameLst>
                                      </p:cBhvr>
                                      <p:tavLst>
                                        <p:tav tm="0">
                                          <p:val>
                                            <p:strVal val="#ppt_x"/>
                                          </p:val>
                                        </p:tav>
                                        <p:tav tm="100000">
                                          <p:val>
                                            <p:strVal val="#ppt_x"/>
                                          </p:val>
                                        </p:tav>
                                      </p:tavLst>
                                    </p:anim>
                                    <p:anim calcmode="lin" valueType="num">
                                      <p:cBhvr additive="base">
                                        <p:cTn id="22" dur="500" fill="hold"/>
                                        <p:tgtEl>
                                          <p:spTgt spid="11275"/>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11272"/>
                                        </p:tgtEl>
                                        <p:attrNameLst>
                                          <p:attrName>style.visibility</p:attrName>
                                        </p:attrNameLst>
                                      </p:cBhvr>
                                      <p:to>
                                        <p:strVal val="visible"/>
                                      </p:to>
                                    </p:set>
                                    <p:animEffect transition="in" filter="randombar(horizontal)">
                                      <p:cBhvr>
                                        <p:cTn id="27" dur="500"/>
                                        <p:tgtEl>
                                          <p:spTgt spid="112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8" grpId="0" autoUpdateAnimBg="0"/>
      <p:bldP spid="11270" grpId="0" autoUpdateAnimBg="0"/>
      <p:bldP spid="11272" grpId="0"/>
      <p:bldP spid="11273" grpId="0"/>
      <p:bldP spid="1127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Text Box 3"/>
          <p:cNvSpPr txBox="1">
            <a:spLocks noChangeArrowheads="1"/>
          </p:cNvSpPr>
          <p:nvPr/>
        </p:nvSpPr>
        <p:spPr bwMode="auto">
          <a:xfrm>
            <a:off x="1257077" y="1657518"/>
            <a:ext cx="739140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50000"/>
              </a:spcBef>
              <a:buFontTx/>
              <a:buNone/>
            </a:pPr>
            <a:r>
              <a:rPr lang="es-MX" altLang="en-US" sz="2000" dirty="0">
                <a:latin typeface="Arial" panose="020B0604020202020204" pitchFamily="34" charset="0"/>
              </a:rPr>
              <a:t>A un congreso asisten 80 personas. De ellos 70 hablan inglés y 50 francés. Se eligen dos de ellos al azar. ¿cuál es la probabilidad de que se entiendan sin necesidad de intérprete?</a:t>
            </a:r>
            <a:endParaRPr lang="en-US" altLang="en-US" sz="2000" dirty="0">
              <a:latin typeface="Arial" panose="020B0604020202020204" pitchFamily="34" charset="0"/>
            </a:endParaRPr>
          </a:p>
        </p:txBody>
      </p:sp>
      <p:sp>
        <p:nvSpPr>
          <p:cNvPr id="12292" name="Text Box 4"/>
          <p:cNvSpPr txBox="1">
            <a:spLocks noChangeArrowheads="1"/>
          </p:cNvSpPr>
          <p:nvPr/>
        </p:nvSpPr>
        <p:spPr bwMode="auto">
          <a:xfrm>
            <a:off x="1447800" y="2909104"/>
            <a:ext cx="21336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s-MX" altLang="en-US" sz="1600" dirty="0">
                <a:latin typeface="Broadway" panose="04040905080B02020502" pitchFamily="82" charset="0"/>
              </a:rPr>
              <a:t>Casos posibles </a:t>
            </a:r>
            <a:endParaRPr lang="en-US" altLang="en-US" sz="1600" dirty="0">
              <a:latin typeface="Broadway" panose="04040905080B02020502" pitchFamily="82" charset="0"/>
            </a:endParaRPr>
          </a:p>
        </p:txBody>
      </p:sp>
      <p:sp>
        <p:nvSpPr>
          <p:cNvPr id="12293" name="Text Box 5"/>
          <p:cNvSpPr txBox="1">
            <a:spLocks noChangeArrowheads="1"/>
          </p:cNvSpPr>
          <p:nvPr/>
        </p:nvSpPr>
        <p:spPr bwMode="auto">
          <a:xfrm>
            <a:off x="4343400" y="2819400"/>
            <a:ext cx="2057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endParaRPr lang="es-ES" altLang="en-US" sz="2400"/>
          </a:p>
        </p:txBody>
      </p:sp>
      <p:sp>
        <p:nvSpPr>
          <p:cNvPr id="12294" name="Text Box 6"/>
          <p:cNvSpPr txBox="1">
            <a:spLocks noChangeArrowheads="1"/>
          </p:cNvSpPr>
          <p:nvPr/>
        </p:nvSpPr>
        <p:spPr bwMode="auto">
          <a:xfrm>
            <a:off x="1371600" y="4572000"/>
            <a:ext cx="24384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s-MX" altLang="en-US" sz="1600" dirty="0">
                <a:latin typeface="Broadway" panose="04040905080B02020502" pitchFamily="82" charset="0"/>
              </a:rPr>
              <a:t>Casos favorables</a:t>
            </a:r>
            <a:endParaRPr lang="en-US" altLang="en-US" sz="1600" dirty="0">
              <a:latin typeface="Broadway" panose="04040905080B02020502" pitchFamily="82" charset="0"/>
            </a:endParaRPr>
          </a:p>
        </p:txBody>
      </p:sp>
      <mc:AlternateContent xmlns:mc="http://schemas.openxmlformats.org/markup-compatibility/2006" xmlns:a14="http://schemas.microsoft.com/office/drawing/2010/main">
        <mc:Choice Requires="a14">
          <p:sp>
            <p:nvSpPr>
              <p:cNvPr id="12296" name="Object 8"/>
              <p:cNvSpPr txBox="1"/>
              <p:nvPr/>
            </p:nvSpPr>
            <p:spPr bwMode="auto">
              <a:xfrm>
                <a:off x="3203848" y="5587663"/>
                <a:ext cx="3032447" cy="7239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m:rPr>
                          <m:sty m:val="p"/>
                        </m:rPr>
                        <a:rPr lang="es-AR" sz="2000" i="0">
                          <a:solidFill>
                            <a:srgbClr val="000000"/>
                          </a:solidFill>
                          <a:latin typeface="Cambria Math" panose="02040503050406030204" pitchFamily="18" charset="0"/>
                        </a:rPr>
                        <m:t>P</m:t>
                      </m:r>
                      <m:r>
                        <a:rPr lang="es-AR" sz="2000" i="1">
                          <a:solidFill>
                            <a:srgbClr val="000000"/>
                          </a:solidFill>
                          <a:latin typeface="Cambria Math" panose="02040503050406030204" pitchFamily="18" charset="0"/>
                        </a:rPr>
                        <m:t>=</m:t>
                      </m:r>
                      <m:f>
                        <m:fPr>
                          <m:ctrlPr>
                            <a:rPr lang="es-AR" sz="2000" i="1">
                              <a:solidFill>
                                <a:srgbClr val="000000"/>
                              </a:solidFill>
                              <a:latin typeface="Cambria Math" panose="02040503050406030204" pitchFamily="18" charset="0"/>
                            </a:rPr>
                          </m:ctrlPr>
                        </m:fPr>
                        <m:num>
                          <m:r>
                            <a:rPr lang="es-AR" sz="2000" i="1">
                              <a:solidFill>
                                <a:srgbClr val="000000"/>
                              </a:solidFill>
                              <a:latin typeface="Cambria Math" panose="02040503050406030204" pitchFamily="18" charset="0"/>
                            </a:rPr>
                            <m:t>2860</m:t>
                          </m:r>
                        </m:num>
                        <m:den>
                          <m:r>
                            <a:rPr lang="es-AR" sz="2000" i="1">
                              <a:solidFill>
                                <a:srgbClr val="000000"/>
                              </a:solidFill>
                              <a:latin typeface="Cambria Math" panose="02040503050406030204" pitchFamily="18" charset="0"/>
                            </a:rPr>
                            <m:t>3160</m:t>
                          </m:r>
                        </m:den>
                      </m:f>
                      <m:r>
                        <a:rPr lang="es-AR" sz="2000" i="1">
                          <a:solidFill>
                            <a:srgbClr val="000000"/>
                          </a:solidFill>
                          <a:latin typeface="Cambria Math" panose="02040503050406030204" pitchFamily="18" charset="0"/>
                        </a:rPr>
                        <m:t>=</m:t>
                      </m:r>
                      <m:f>
                        <m:fPr>
                          <m:ctrlPr>
                            <a:rPr lang="es-AR" sz="2000" i="1">
                              <a:solidFill>
                                <a:srgbClr val="000000"/>
                              </a:solidFill>
                              <a:latin typeface="Cambria Math" panose="02040503050406030204" pitchFamily="18" charset="0"/>
                            </a:rPr>
                          </m:ctrlPr>
                        </m:fPr>
                        <m:num>
                          <m:r>
                            <a:rPr lang="es-AR" sz="2000" i="1">
                              <a:solidFill>
                                <a:srgbClr val="000000"/>
                              </a:solidFill>
                              <a:latin typeface="Cambria Math" panose="02040503050406030204" pitchFamily="18" charset="0"/>
                            </a:rPr>
                            <m:t>143</m:t>
                          </m:r>
                        </m:num>
                        <m:den>
                          <m:r>
                            <a:rPr lang="es-AR" sz="2000" i="1">
                              <a:solidFill>
                                <a:srgbClr val="000000"/>
                              </a:solidFill>
                              <a:latin typeface="Cambria Math" panose="02040503050406030204" pitchFamily="18" charset="0"/>
                            </a:rPr>
                            <m:t>158</m:t>
                          </m:r>
                        </m:den>
                      </m:f>
                      <m:r>
                        <a:rPr lang="es-AR" sz="2000" i="1">
                          <a:solidFill>
                            <a:srgbClr val="000000"/>
                          </a:solidFill>
                          <a:latin typeface="Cambria Math" panose="02040503050406030204" pitchFamily="18" charset="0"/>
                        </a:rPr>
                        <m:t>≈0.905</m:t>
                      </m:r>
                    </m:oMath>
                  </m:oMathPara>
                </a14:m>
                <a:endParaRPr lang="es-AR" sz="2000" dirty="0"/>
              </a:p>
            </p:txBody>
          </p:sp>
        </mc:Choice>
        <mc:Fallback xmlns="">
          <p:sp>
            <p:nvSpPr>
              <p:cNvPr id="12296" name="Object 8"/>
              <p:cNvSpPr txBox="1">
                <a:spLocks noRot="1" noChangeAspect="1" noMove="1" noResize="1" noEditPoints="1" noAdjustHandles="1" noChangeArrowheads="1" noChangeShapeType="1" noTextEdit="1"/>
              </p:cNvSpPr>
              <p:nvPr/>
            </p:nvSpPr>
            <p:spPr bwMode="auto">
              <a:xfrm>
                <a:off x="3203848" y="5587663"/>
                <a:ext cx="3032447" cy="723900"/>
              </a:xfrm>
              <a:prstGeom prst="rect">
                <a:avLst/>
              </a:prstGeom>
              <a:blipFill>
                <a:blip r:embed="rId2"/>
                <a:stretch>
                  <a:fillRect/>
                </a:stretch>
              </a:blipFill>
              <a:ln>
                <a:noFill/>
              </a:ln>
              <a:effectLst/>
              <a:extLst/>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2297" name="Object 9"/>
              <p:cNvSpPr txBox="1"/>
              <p:nvPr/>
            </p:nvSpPr>
            <p:spPr bwMode="auto">
              <a:xfrm>
                <a:off x="3733800" y="2667000"/>
                <a:ext cx="3070448" cy="792163"/>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d>
                        <m:dPr>
                          <m:ctrlPr>
                            <a:rPr lang="es-AR" sz="2000" i="1" smtClean="0">
                              <a:solidFill>
                                <a:srgbClr val="000000"/>
                              </a:solidFill>
                              <a:latin typeface="Cambria Math" panose="02040503050406030204" pitchFamily="18" charset="0"/>
                            </a:rPr>
                          </m:ctrlPr>
                        </m:dPr>
                        <m:e>
                          <m:m>
                            <m:mPr>
                              <m:mcs>
                                <m:mc>
                                  <m:mcPr>
                                    <m:count m:val="1"/>
                                    <m:mcJc m:val="center"/>
                                  </m:mcPr>
                                </m:mc>
                              </m:mcs>
                              <m:ctrlPr>
                                <a:rPr lang="es-AR" sz="2000" i="1" smtClean="0">
                                  <a:solidFill>
                                    <a:srgbClr val="000000"/>
                                  </a:solidFill>
                                  <a:latin typeface="Cambria Math" panose="02040503050406030204" pitchFamily="18" charset="0"/>
                                </a:rPr>
                              </m:ctrlPr>
                            </m:mPr>
                            <m:mr>
                              <m:e>
                                <m:r>
                                  <m:rPr>
                                    <m:brk m:alnAt="7"/>
                                  </m:rPr>
                                  <a:rPr lang="es-AR" sz="2000" b="0" i="1" smtClean="0">
                                    <a:solidFill>
                                      <a:srgbClr val="000000"/>
                                    </a:solidFill>
                                    <a:latin typeface="Cambria Math" panose="02040503050406030204" pitchFamily="18" charset="0"/>
                                  </a:rPr>
                                  <m:t>8</m:t>
                                </m:r>
                                <m:r>
                                  <a:rPr lang="es-AR" sz="2000" b="0" i="1" smtClean="0">
                                    <a:solidFill>
                                      <a:srgbClr val="000000"/>
                                    </a:solidFill>
                                    <a:latin typeface="Cambria Math" panose="02040503050406030204" pitchFamily="18" charset="0"/>
                                  </a:rPr>
                                  <m:t>0</m:t>
                                </m:r>
                              </m:e>
                            </m:mr>
                            <m:mr>
                              <m:e>
                                <m:r>
                                  <a:rPr lang="es-AR" sz="2000" b="0" i="1" smtClean="0">
                                    <a:solidFill>
                                      <a:srgbClr val="000000"/>
                                    </a:solidFill>
                                    <a:latin typeface="Cambria Math" panose="02040503050406030204" pitchFamily="18" charset="0"/>
                                  </a:rPr>
                                  <m:t>2</m:t>
                                </m:r>
                              </m:e>
                            </m:mr>
                          </m:m>
                        </m:e>
                      </m:d>
                      <m:r>
                        <a:rPr lang="es-AR" sz="2000" i="1">
                          <a:solidFill>
                            <a:srgbClr val="000000"/>
                          </a:solidFill>
                          <a:latin typeface="Cambria Math" panose="02040503050406030204" pitchFamily="18" charset="0"/>
                        </a:rPr>
                        <m:t>=</m:t>
                      </m:r>
                      <m:f>
                        <m:fPr>
                          <m:ctrlPr>
                            <a:rPr lang="es-AR" sz="2000" i="1">
                              <a:solidFill>
                                <a:srgbClr val="000000"/>
                              </a:solidFill>
                              <a:latin typeface="Cambria Math" panose="02040503050406030204" pitchFamily="18" charset="0"/>
                            </a:rPr>
                          </m:ctrlPr>
                        </m:fPr>
                        <m:num>
                          <m:r>
                            <a:rPr lang="es-AR" sz="2000" i="1">
                              <a:solidFill>
                                <a:srgbClr val="000000"/>
                              </a:solidFill>
                              <a:latin typeface="Cambria Math" panose="02040503050406030204" pitchFamily="18" charset="0"/>
                            </a:rPr>
                            <m:t>80⋅79</m:t>
                          </m:r>
                        </m:num>
                        <m:den>
                          <m:r>
                            <a:rPr lang="es-AR" sz="2000" i="1">
                              <a:solidFill>
                                <a:srgbClr val="000000"/>
                              </a:solidFill>
                              <a:latin typeface="Cambria Math" panose="02040503050406030204" pitchFamily="18" charset="0"/>
                            </a:rPr>
                            <m:t>2</m:t>
                          </m:r>
                        </m:den>
                      </m:f>
                      <m:r>
                        <a:rPr lang="es-AR" sz="2000" i="1">
                          <a:solidFill>
                            <a:srgbClr val="000000"/>
                          </a:solidFill>
                          <a:latin typeface="Cambria Math" panose="02040503050406030204" pitchFamily="18" charset="0"/>
                        </a:rPr>
                        <m:t>=3160</m:t>
                      </m:r>
                    </m:oMath>
                  </m:oMathPara>
                </a14:m>
                <a:endParaRPr lang="es-AR" sz="2000" dirty="0"/>
              </a:p>
            </p:txBody>
          </p:sp>
        </mc:Choice>
        <mc:Fallback xmlns="">
          <p:sp>
            <p:nvSpPr>
              <p:cNvPr id="12297" name="Object 9"/>
              <p:cNvSpPr txBox="1">
                <a:spLocks noRot="1" noChangeAspect="1" noMove="1" noResize="1" noEditPoints="1" noAdjustHandles="1" noChangeArrowheads="1" noChangeShapeType="1" noTextEdit="1"/>
              </p:cNvSpPr>
              <p:nvPr/>
            </p:nvSpPr>
            <p:spPr bwMode="auto">
              <a:xfrm>
                <a:off x="3733800" y="2667000"/>
                <a:ext cx="3070448" cy="792163"/>
              </a:xfrm>
              <a:prstGeom prst="rect">
                <a:avLst/>
              </a:prstGeom>
              <a:blipFill>
                <a:blip r:embed="rId3"/>
                <a:stretch>
                  <a:fillRect/>
                </a:stretch>
              </a:blipFill>
              <a:ln>
                <a:noFill/>
              </a:ln>
              <a:effectLst/>
              <a:extLst/>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2298" name="Object 10"/>
              <p:cNvSpPr txBox="1"/>
              <p:nvPr/>
            </p:nvSpPr>
            <p:spPr bwMode="auto">
              <a:xfrm>
                <a:off x="3635896" y="4386262"/>
                <a:ext cx="5239072" cy="1015663"/>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d>
                        <m:dPr>
                          <m:ctrlPr>
                            <a:rPr lang="es-AR" sz="2000" i="1" smtClean="0">
                              <a:solidFill>
                                <a:srgbClr val="000000"/>
                              </a:solidFill>
                              <a:latin typeface="Cambria Math" panose="02040503050406030204" pitchFamily="18" charset="0"/>
                            </a:rPr>
                          </m:ctrlPr>
                        </m:dPr>
                        <m:e>
                          <m:m>
                            <m:mPr>
                              <m:mcs>
                                <m:mc>
                                  <m:mcPr>
                                    <m:count m:val="1"/>
                                    <m:mcJc m:val="center"/>
                                  </m:mcPr>
                                </m:mc>
                              </m:mcs>
                              <m:ctrlPr>
                                <a:rPr lang="es-AR" sz="2000" i="1" smtClean="0">
                                  <a:solidFill>
                                    <a:srgbClr val="000000"/>
                                  </a:solidFill>
                                  <a:latin typeface="Cambria Math" panose="02040503050406030204" pitchFamily="18" charset="0"/>
                                </a:rPr>
                              </m:ctrlPr>
                            </m:mPr>
                            <m:mr>
                              <m:e>
                                <m:r>
                                  <m:rPr>
                                    <m:brk m:alnAt="7"/>
                                  </m:rPr>
                                  <a:rPr lang="es-AR" sz="2000" b="0" i="1" smtClean="0">
                                    <a:solidFill>
                                      <a:srgbClr val="000000"/>
                                    </a:solidFill>
                                    <a:latin typeface="Cambria Math" panose="02040503050406030204" pitchFamily="18" charset="0"/>
                                  </a:rPr>
                                  <m:t>3</m:t>
                                </m:r>
                                <m:r>
                                  <a:rPr lang="es-AR" sz="2000" b="0" i="1" smtClean="0">
                                    <a:solidFill>
                                      <a:srgbClr val="000000"/>
                                    </a:solidFill>
                                    <a:latin typeface="Cambria Math" panose="02040503050406030204" pitchFamily="18" charset="0"/>
                                  </a:rPr>
                                  <m:t>0</m:t>
                                </m:r>
                              </m:e>
                            </m:mr>
                            <m:mr>
                              <m:e>
                                <m:r>
                                  <a:rPr lang="es-AR" sz="2000" b="0" i="1" smtClean="0">
                                    <a:solidFill>
                                      <a:srgbClr val="000000"/>
                                    </a:solidFill>
                                    <a:latin typeface="Cambria Math" panose="02040503050406030204" pitchFamily="18" charset="0"/>
                                  </a:rPr>
                                  <m:t>2</m:t>
                                </m:r>
                              </m:e>
                            </m:mr>
                          </m:m>
                        </m:e>
                      </m:d>
                      <m:r>
                        <a:rPr lang="es-AR" sz="2000" i="1">
                          <a:solidFill>
                            <a:srgbClr val="000000"/>
                          </a:solidFill>
                          <a:latin typeface="Cambria Math" panose="02040503050406030204" pitchFamily="18" charset="0"/>
                        </a:rPr>
                        <m:t>+</m:t>
                      </m:r>
                      <m:d>
                        <m:dPr>
                          <m:ctrlPr>
                            <a:rPr lang="es-AR" sz="2000" i="1">
                              <a:solidFill>
                                <a:srgbClr val="000000"/>
                              </a:solidFill>
                              <a:latin typeface="Cambria Math" panose="02040503050406030204" pitchFamily="18" charset="0"/>
                            </a:rPr>
                          </m:ctrlPr>
                        </m:dPr>
                        <m:e>
                          <m:m>
                            <m:mPr>
                              <m:mcs>
                                <m:mc>
                                  <m:mcPr>
                                    <m:count m:val="1"/>
                                    <m:mcJc m:val="center"/>
                                  </m:mcPr>
                                </m:mc>
                              </m:mcs>
                              <m:ctrlPr>
                                <a:rPr lang="es-AR" sz="2000" i="1">
                                  <a:solidFill>
                                    <a:srgbClr val="000000"/>
                                  </a:solidFill>
                                  <a:latin typeface="Cambria Math" panose="02040503050406030204" pitchFamily="18" charset="0"/>
                                </a:rPr>
                              </m:ctrlPr>
                            </m:mPr>
                            <m:mr>
                              <m:e>
                                <m:r>
                                  <m:rPr>
                                    <m:brk m:alnAt="7"/>
                                  </m:rPr>
                                  <a:rPr lang="es-AR" sz="2000" b="0" i="1" smtClean="0">
                                    <a:solidFill>
                                      <a:srgbClr val="000000"/>
                                    </a:solidFill>
                                    <a:latin typeface="Cambria Math" panose="02040503050406030204" pitchFamily="18" charset="0"/>
                                  </a:rPr>
                                  <m:t>4</m:t>
                                </m:r>
                                <m:r>
                                  <a:rPr lang="es-AR" sz="2000" i="1">
                                    <a:solidFill>
                                      <a:srgbClr val="000000"/>
                                    </a:solidFill>
                                    <a:latin typeface="Cambria Math" panose="02040503050406030204" pitchFamily="18" charset="0"/>
                                  </a:rPr>
                                  <m:t>0</m:t>
                                </m:r>
                              </m:e>
                            </m:mr>
                            <m:mr>
                              <m:e>
                                <m:r>
                                  <a:rPr lang="es-AR" sz="2000" i="1">
                                    <a:solidFill>
                                      <a:srgbClr val="000000"/>
                                    </a:solidFill>
                                    <a:latin typeface="Cambria Math" panose="02040503050406030204" pitchFamily="18" charset="0"/>
                                  </a:rPr>
                                  <m:t>2</m:t>
                                </m:r>
                              </m:e>
                            </m:mr>
                          </m:m>
                        </m:e>
                      </m:d>
                      <m:r>
                        <a:rPr lang="es-AR" sz="2000" i="1">
                          <a:solidFill>
                            <a:srgbClr val="000000"/>
                          </a:solidFill>
                          <a:latin typeface="Cambria Math" panose="02040503050406030204" pitchFamily="18" charset="0"/>
                        </a:rPr>
                        <m:t>+</m:t>
                      </m:r>
                      <m:d>
                        <m:dPr>
                          <m:ctrlPr>
                            <a:rPr lang="es-AR" sz="2000" i="1">
                              <a:solidFill>
                                <a:srgbClr val="000000"/>
                              </a:solidFill>
                              <a:latin typeface="Cambria Math" panose="02040503050406030204" pitchFamily="18" charset="0"/>
                            </a:rPr>
                          </m:ctrlPr>
                        </m:dPr>
                        <m:e>
                          <m:m>
                            <m:mPr>
                              <m:mcs>
                                <m:mc>
                                  <m:mcPr>
                                    <m:count m:val="1"/>
                                    <m:mcJc m:val="center"/>
                                  </m:mcPr>
                                </m:mc>
                              </m:mcs>
                              <m:ctrlPr>
                                <a:rPr lang="es-AR" sz="2000" i="1">
                                  <a:solidFill>
                                    <a:srgbClr val="000000"/>
                                  </a:solidFill>
                                  <a:latin typeface="Cambria Math" panose="02040503050406030204" pitchFamily="18" charset="0"/>
                                </a:rPr>
                              </m:ctrlPr>
                            </m:mPr>
                            <m:mr>
                              <m:e>
                                <m:r>
                                  <m:rPr>
                                    <m:brk m:alnAt="7"/>
                                  </m:rPr>
                                  <a:rPr lang="es-AR" sz="2000" b="0" i="1" smtClean="0">
                                    <a:solidFill>
                                      <a:srgbClr val="000000"/>
                                    </a:solidFill>
                                    <a:latin typeface="Cambria Math" panose="02040503050406030204" pitchFamily="18" charset="0"/>
                                  </a:rPr>
                                  <m:t>1</m:t>
                                </m:r>
                                <m:r>
                                  <a:rPr lang="es-AR" sz="2000" i="1">
                                    <a:solidFill>
                                      <a:srgbClr val="000000"/>
                                    </a:solidFill>
                                    <a:latin typeface="Cambria Math" panose="02040503050406030204" pitchFamily="18" charset="0"/>
                                  </a:rPr>
                                  <m:t>0</m:t>
                                </m:r>
                              </m:e>
                            </m:mr>
                            <m:mr>
                              <m:e>
                                <m:r>
                                  <a:rPr lang="es-AR" sz="2000" i="1">
                                    <a:solidFill>
                                      <a:srgbClr val="000000"/>
                                    </a:solidFill>
                                    <a:latin typeface="Cambria Math" panose="02040503050406030204" pitchFamily="18" charset="0"/>
                                  </a:rPr>
                                  <m:t>2</m:t>
                                </m:r>
                              </m:e>
                            </m:mr>
                          </m:m>
                        </m:e>
                      </m:d>
                      <m:r>
                        <a:rPr lang="es-AR" sz="2000" i="1">
                          <a:solidFill>
                            <a:srgbClr val="000000"/>
                          </a:solidFill>
                          <a:latin typeface="Cambria Math" panose="02040503050406030204" pitchFamily="18" charset="0"/>
                        </a:rPr>
                        <m:t>+</m:t>
                      </m:r>
                      <m:d>
                        <m:dPr>
                          <m:ctrlPr>
                            <a:rPr lang="es-AR" sz="2000" i="1">
                              <a:solidFill>
                                <a:srgbClr val="000000"/>
                              </a:solidFill>
                              <a:latin typeface="Cambria Math" panose="02040503050406030204" pitchFamily="18" charset="0"/>
                            </a:rPr>
                          </m:ctrlPr>
                        </m:dPr>
                        <m:e>
                          <m:m>
                            <m:mPr>
                              <m:mcs>
                                <m:mc>
                                  <m:mcPr>
                                    <m:count m:val="1"/>
                                    <m:mcJc m:val="center"/>
                                  </m:mcPr>
                                </m:mc>
                              </m:mcs>
                              <m:ctrlPr>
                                <a:rPr lang="es-AR" sz="2000" i="1">
                                  <a:solidFill>
                                    <a:srgbClr val="000000"/>
                                  </a:solidFill>
                                  <a:latin typeface="Cambria Math" panose="02040503050406030204" pitchFamily="18" charset="0"/>
                                </a:rPr>
                              </m:ctrlPr>
                            </m:mPr>
                            <m:mr>
                              <m:e>
                                <m:r>
                                  <m:rPr>
                                    <m:brk m:alnAt="7"/>
                                  </m:rPr>
                                  <a:rPr lang="es-AR" sz="2000" b="0" i="1" smtClean="0">
                                    <a:solidFill>
                                      <a:srgbClr val="000000"/>
                                    </a:solidFill>
                                    <a:latin typeface="Cambria Math" panose="02040503050406030204" pitchFamily="18" charset="0"/>
                                  </a:rPr>
                                  <m:t>4</m:t>
                                </m:r>
                                <m:r>
                                  <a:rPr lang="es-AR" sz="2000" i="1">
                                    <a:solidFill>
                                      <a:srgbClr val="000000"/>
                                    </a:solidFill>
                                    <a:latin typeface="Cambria Math" panose="02040503050406030204" pitchFamily="18" charset="0"/>
                                  </a:rPr>
                                  <m:t>0</m:t>
                                </m:r>
                              </m:e>
                            </m:mr>
                            <m:mr>
                              <m:e>
                                <m:r>
                                  <a:rPr lang="es-AR" sz="2000" b="0" i="1" smtClean="0">
                                    <a:solidFill>
                                      <a:srgbClr val="000000"/>
                                    </a:solidFill>
                                    <a:latin typeface="Cambria Math" panose="02040503050406030204" pitchFamily="18" charset="0"/>
                                  </a:rPr>
                                  <m:t>1</m:t>
                                </m:r>
                              </m:e>
                            </m:mr>
                          </m:m>
                        </m:e>
                      </m:d>
                      <m:d>
                        <m:dPr>
                          <m:ctrlPr>
                            <a:rPr lang="es-AR" sz="2000" i="1">
                              <a:solidFill>
                                <a:srgbClr val="000000"/>
                              </a:solidFill>
                              <a:latin typeface="Cambria Math" panose="02040503050406030204" pitchFamily="18" charset="0"/>
                            </a:rPr>
                          </m:ctrlPr>
                        </m:dPr>
                        <m:e>
                          <m:m>
                            <m:mPr>
                              <m:mcs>
                                <m:mc>
                                  <m:mcPr>
                                    <m:count m:val="1"/>
                                    <m:mcJc m:val="center"/>
                                  </m:mcPr>
                                </m:mc>
                              </m:mcs>
                              <m:ctrlPr>
                                <a:rPr lang="es-AR" sz="2000" i="1">
                                  <a:solidFill>
                                    <a:srgbClr val="000000"/>
                                  </a:solidFill>
                                  <a:latin typeface="Cambria Math" panose="02040503050406030204" pitchFamily="18" charset="0"/>
                                </a:rPr>
                              </m:ctrlPr>
                            </m:mPr>
                            <m:mr>
                              <m:e>
                                <m:r>
                                  <m:rPr>
                                    <m:brk m:alnAt="7"/>
                                  </m:rPr>
                                  <a:rPr lang="es-AR" sz="2000" i="1">
                                    <a:solidFill>
                                      <a:srgbClr val="000000"/>
                                    </a:solidFill>
                                    <a:latin typeface="Cambria Math" panose="02040503050406030204" pitchFamily="18" charset="0"/>
                                  </a:rPr>
                                  <m:t>3</m:t>
                                </m:r>
                                <m:r>
                                  <a:rPr lang="es-AR" sz="2000" i="1">
                                    <a:solidFill>
                                      <a:srgbClr val="000000"/>
                                    </a:solidFill>
                                    <a:latin typeface="Cambria Math" panose="02040503050406030204" pitchFamily="18" charset="0"/>
                                  </a:rPr>
                                  <m:t>0</m:t>
                                </m:r>
                              </m:e>
                            </m:mr>
                            <m:mr>
                              <m:e>
                                <m:r>
                                  <a:rPr lang="es-AR" sz="2000" b="0" i="1" smtClean="0">
                                    <a:solidFill>
                                      <a:srgbClr val="000000"/>
                                    </a:solidFill>
                                    <a:latin typeface="Cambria Math" panose="02040503050406030204" pitchFamily="18" charset="0"/>
                                  </a:rPr>
                                  <m:t>1</m:t>
                                </m:r>
                              </m:e>
                            </m:mr>
                          </m:m>
                        </m:e>
                      </m:d>
                      <m:r>
                        <a:rPr lang="es-AR" sz="2000" i="1">
                          <a:solidFill>
                            <a:srgbClr val="000000"/>
                          </a:solidFill>
                          <a:latin typeface="Cambria Math" panose="02040503050406030204" pitchFamily="18" charset="0"/>
                        </a:rPr>
                        <m:t>+</m:t>
                      </m:r>
                      <m:d>
                        <m:dPr>
                          <m:ctrlPr>
                            <a:rPr lang="es-AR" sz="2000" i="1">
                              <a:solidFill>
                                <a:srgbClr val="000000"/>
                              </a:solidFill>
                              <a:latin typeface="Cambria Math" panose="02040503050406030204" pitchFamily="18" charset="0"/>
                            </a:rPr>
                          </m:ctrlPr>
                        </m:dPr>
                        <m:e>
                          <m:m>
                            <m:mPr>
                              <m:mcs>
                                <m:mc>
                                  <m:mcPr>
                                    <m:count m:val="1"/>
                                    <m:mcJc m:val="center"/>
                                  </m:mcPr>
                                </m:mc>
                              </m:mcs>
                              <m:ctrlPr>
                                <a:rPr lang="es-AR" sz="2000" i="1">
                                  <a:solidFill>
                                    <a:srgbClr val="000000"/>
                                  </a:solidFill>
                                  <a:latin typeface="Cambria Math" panose="02040503050406030204" pitchFamily="18" charset="0"/>
                                </a:rPr>
                              </m:ctrlPr>
                            </m:mPr>
                            <m:mr>
                              <m:e>
                                <m:r>
                                  <m:rPr>
                                    <m:brk m:alnAt="7"/>
                                  </m:rPr>
                                  <a:rPr lang="es-AR" sz="2000" i="1">
                                    <a:solidFill>
                                      <a:srgbClr val="000000"/>
                                    </a:solidFill>
                                    <a:latin typeface="Cambria Math" panose="02040503050406030204" pitchFamily="18" charset="0"/>
                                  </a:rPr>
                                  <m:t>4</m:t>
                                </m:r>
                                <m:r>
                                  <a:rPr lang="es-AR" sz="2000" i="1">
                                    <a:solidFill>
                                      <a:srgbClr val="000000"/>
                                    </a:solidFill>
                                    <a:latin typeface="Cambria Math" panose="02040503050406030204" pitchFamily="18" charset="0"/>
                                  </a:rPr>
                                  <m:t>0</m:t>
                                </m:r>
                              </m:e>
                            </m:mr>
                            <m:mr>
                              <m:e>
                                <m:r>
                                  <a:rPr lang="es-AR" sz="2000" i="1">
                                    <a:solidFill>
                                      <a:srgbClr val="000000"/>
                                    </a:solidFill>
                                    <a:latin typeface="Cambria Math" panose="02040503050406030204" pitchFamily="18" charset="0"/>
                                  </a:rPr>
                                  <m:t>1</m:t>
                                </m:r>
                              </m:e>
                            </m:mr>
                          </m:m>
                        </m:e>
                      </m:d>
                      <m:d>
                        <m:dPr>
                          <m:ctrlPr>
                            <a:rPr lang="es-AR" sz="2000" i="1">
                              <a:solidFill>
                                <a:srgbClr val="000000"/>
                              </a:solidFill>
                              <a:latin typeface="Cambria Math" panose="02040503050406030204" pitchFamily="18" charset="0"/>
                            </a:rPr>
                          </m:ctrlPr>
                        </m:dPr>
                        <m:e>
                          <m:m>
                            <m:mPr>
                              <m:mcs>
                                <m:mc>
                                  <m:mcPr>
                                    <m:count m:val="1"/>
                                    <m:mcJc m:val="center"/>
                                  </m:mcPr>
                                </m:mc>
                              </m:mcs>
                              <m:ctrlPr>
                                <a:rPr lang="es-AR" sz="2000" i="1">
                                  <a:solidFill>
                                    <a:srgbClr val="000000"/>
                                  </a:solidFill>
                                  <a:latin typeface="Cambria Math" panose="02040503050406030204" pitchFamily="18" charset="0"/>
                                </a:rPr>
                              </m:ctrlPr>
                            </m:mPr>
                            <m:mr>
                              <m:e>
                                <m:r>
                                  <m:rPr>
                                    <m:brk m:alnAt="7"/>
                                  </m:rPr>
                                  <a:rPr lang="es-AR" sz="2000" b="0" i="1" smtClean="0">
                                    <a:solidFill>
                                      <a:srgbClr val="000000"/>
                                    </a:solidFill>
                                    <a:latin typeface="Cambria Math" panose="02040503050406030204" pitchFamily="18" charset="0"/>
                                  </a:rPr>
                                  <m:t>1</m:t>
                                </m:r>
                                <m:r>
                                  <a:rPr lang="es-AR" sz="2000" i="1">
                                    <a:solidFill>
                                      <a:srgbClr val="000000"/>
                                    </a:solidFill>
                                    <a:latin typeface="Cambria Math" panose="02040503050406030204" pitchFamily="18" charset="0"/>
                                  </a:rPr>
                                  <m:t>0</m:t>
                                </m:r>
                              </m:e>
                            </m:mr>
                            <m:mr>
                              <m:e>
                                <m:r>
                                  <a:rPr lang="es-AR" sz="2000" i="1">
                                    <a:solidFill>
                                      <a:srgbClr val="000000"/>
                                    </a:solidFill>
                                    <a:latin typeface="Cambria Math" panose="02040503050406030204" pitchFamily="18" charset="0"/>
                                  </a:rPr>
                                  <m:t>1</m:t>
                                </m:r>
                              </m:e>
                            </m:mr>
                          </m:m>
                        </m:e>
                      </m:d>
                      <m:r>
                        <a:rPr lang="es-AR" sz="2000" i="1">
                          <a:solidFill>
                            <a:srgbClr val="000000"/>
                          </a:solidFill>
                          <a:latin typeface="Cambria Math" panose="02040503050406030204" pitchFamily="18" charset="0"/>
                        </a:rPr>
                        <m:t>=2860</m:t>
                      </m:r>
                    </m:oMath>
                  </m:oMathPara>
                </a14:m>
                <a:endParaRPr lang="es-AR" sz="2000" dirty="0"/>
              </a:p>
            </p:txBody>
          </p:sp>
        </mc:Choice>
        <mc:Fallback xmlns="">
          <p:sp>
            <p:nvSpPr>
              <p:cNvPr id="12298" name="Object 10"/>
              <p:cNvSpPr txBox="1">
                <a:spLocks noRot="1" noChangeAspect="1" noMove="1" noResize="1" noEditPoints="1" noAdjustHandles="1" noChangeArrowheads="1" noChangeShapeType="1" noTextEdit="1"/>
              </p:cNvSpPr>
              <p:nvPr/>
            </p:nvSpPr>
            <p:spPr bwMode="auto">
              <a:xfrm>
                <a:off x="3635896" y="4386262"/>
                <a:ext cx="5239072" cy="1015663"/>
              </a:xfrm>
              <a:prstGeom prst="rect">
                <a:avLst/>
              </a:prstGeom>
              <a:blipFill>
                <a:blip r:embed="rId4"/>
                <a:stretch>
                  <a:fillRect/>
                </a:stretch>
              </a:blipFill>
              <a:ln>
                <a:noFill/>
              </a:ln>
              <a:effectLst/>
              <a:extLst/>
            </p:spPr>
            <p:txBody>
              <a:bodyPr/>
              <a:lstStyle/>
              <a:p>
                <a:r>
                  <a:rPr lang="es-AR">
                    <a:noFill/>
                  </a:rPr>
                  <a:t> </a:t>
                </a:r>
              </a:p>
            </p:txBody>
          </p:sp>
        </mc:Fallback>
      </mc:AlternateContent>
      <p:sp>
        <p:nvSpPr>
          <p:cNvPr id="12299" name="Text Box 11"/>
          <p:cNvSpPr txBox="1">
            <a:spLocks noChangeArrowheads="1"/>
          </p:cNvSpPr>
          <p:nvPr/>
        </p:nvSpPr>
        <p:spPr bwMode="auto">
          <a:xfrm>
            <a:off x="1447800" y="3429000"/>
            <a:ext cx="7010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endParaRPr lang="es-ES" altLang="en-US" sz="1400"/>
          </a:p>
        </p:txBody>
      </p:sp>
      <p:sp>
        <p:nvSpPr>
          <p:cNvPr id="12301" name="Text Box 13"/>
          <p:cNvSpPr txBox="1">
            <a:spLocks noChangeArrowheads="1"/>
          </p:cNvSpPr>
          <p:nvPr/>
        </p:nvSpPr>
        <p:spPr bwMode="auto">
          <a:xfrm>
            <a:off x="1447800" y="3505200"/>
            <a:ext cx="7162800"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50000"/>
              </a:spcBef>
              <a:buFontTx/>
              <a:buNone/>
            </a:pPr>
            <a:r>
              <a:rPr lang="es-MX" altLang="en-US" sz="1400" dirty="0">
                <a:latin typeface="Arial" panose="020B0604020202020204" pitchFamily="34" charset="0"/>
              </a:rPr>
              <a:t>Con los datos disponibles resulta que hay 30 que hablan sólo inglés, 10 que hablan sólo francés y 40 congresistas que hablan ambos idiomas.</a:t>
            </a:r>
            <a:endParaRPr lang="en-US" altLang="en-US" sz="1400" dirty="0">
              <a:latin typeface="Arial" panose="020B0604020202020204" pitchFamily="34" charset="0"/>
            </a:endParaRPr>
          </a:p>
        </p:txBody>
      </p:sp>
      <p:sp>
        <p:nvSpPr>
          <p:cNvPr id="14" name="Rectangle 2"/>
          <p:cNvSpPr txBox="1">
            <a:spLocks noChangeArrowheads="1"/>
          </p:cNvSpPr>
          <p:nvPr/>
        </p:nvSpPr>
        <p:spPr bwMode="auto">
          <a:xfrm>
            <a:off x="1066800" y="355599"/>
            <a:ext cx="7620000" cy="1216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a:lstStyle>
          <a:p>
            <a:pPr eaLnBrk="1" hangingPunct="1"/>
            <a:r>
              <a:rPr lang="es-MX" altLang="en-US" sz="3200" b="1" dirty="0">
                <a:latin typeface="Broadway" panose="04040905080B02020502" pitchFamily="82" charset="0"/>
              </a:rPr>
              <a:t>Cálculo de probabilidades con la regla de Laplace</a:t>
            </a:r>
            <a:endParaRPr lang="en-US" altLang="en-US" sz="3200" b="1" dirty="0">
              <a:latin typeface="Broadway" panose="04040905080B02020502" pitchFamily="82"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229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12297"/>
                                        </p:tgtEl>
                                        <p:attrNameLst>
                                          <p:attrName>style.visibility</p:attrName>
                                        </p:attrNameLst>
                                      </p:cBhvr>
                                      <p:to>
                                        <p:strVal val="visible"/>
                                      </p:to>
                                    </p:set>
                                    <p:anim calcmode="lin" valueType="num">
                                      <p:cBhvr additive="base">
                                        <p:cTn id="11" dur="500" fill="hold"/>
                                        <p:tgtEl>
                                          <p:spTgt spid="12297"/>
                                        </p:tgtEl>
                                        <p:attrNameLst>
                                          <p:attrName>ppt_x</p:attrName>
                                        </p:attrNameLst>
                                      </p:cBhvr>
                                      <p:tavLst>
                                        <p:tav tm="0">
                                          <p:val>
                                            <p:strVal val="#ppt_x"/>
                                          </p:val>
                                        </p:tav>
                                        <p:tav tm="100000">
                                          <p:val>
                                            <p:strVal val="#ppt_x"/>
                                          </p:val>
                                        </p:tav>
                                      </p:tavLst>
                                    </p:anim>
                                    <p:anim calcmode="lin" valueType="num">
                                      <p:cBhvr additive="base">
                                        <p:cTn id="12" dur="500" fill="hold"/>
                                        <p:tgtEl>
                                          <p:spTgt spid="12297"/>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12301"/>
                                        </p:tgtEl>
                                        <p:attrNameLst>
                                          <p:attrName>style.visibility</p:attrName>
                                        </p:attrNameLst>
                                      </p:cBhvr>
                                      <p:to>
                                        <p:strVal val="visible"/>
                                      </p:to>
                                    </p:set>
                                    <p:anim calcmode="lin" valueType="num">
                                      <p:cBhvr additive="base">
                                        <p:cTn id="17" dur="500" fill="hold"/>
                                        <p:tgtEl>
                                          <p:spTgt spid="12301"/>
                                        </p:tgtEl>
                                        <p:attrNameLst>
                                          <p:attrName>ppt_x</p:attrName>
                                        </p:attrNameLst>
                                      </p:cBhvr>
                                      <p:tavLst>
                                        <p:tav tm="0">
                                          <p:val>
                                            <p:strVal val="1+#ppt_w/2"/>
                                          </p:val>
                                        </p:tav>
                                        <p:tav tm="100000">
                                          <p:val>
                                            <p:strVal val="#ppt_x"/>
                                          </p:val>
                                        </p:tav>
                                      </p:tavLst>
                                    </p:anim>
                                    <p:anim calcmode="lin" valueType="num">
                                      <p:cBhvr additive="base">
                                        <p:cTn id="18" dur="500" fill="hold"/>
                                        <p:tgtEl>
                                          <p:spTgt spid="12301"/>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229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2298"/>
                                        </p:tgtEl>
                                        <p:attrNameLst>
                                          <p:attrName>style.visibility</p:attrName>
                                        </p:attrNameLst>
                                      </p:cBhvr>
                                      <p:to>
                                        <p:strVal val="visible"/>
                                      </p:to>
                                    </p:set>
                                    <p:anim calcmode="lin" valueType="num">
                                      <p:cBhvr additive="base">
                                        <p:cTn id="27" dur="500" fill="hold"/>
                                        <p:tgtEl>
                                          <p:spTgt spid="12298"/>
                                        </p:tgtEl>
                                        <p:attrNameLst>
                                          <p:attrName>ppt_x</p:attrName>
                                        </p:attrNameLst>
                                      </p:cBhvr>
                                      <p:tavLst>
                                        <p:tav tm="0">
                                          <p:val>
                                            <p:strVal val="#ppt_x"/>
                                          </p:val>
                                        </p:tav>
                                        <p:tav tm="100000">
                                          <p:val>
                                            <p:strVal val="#ppt_x"/>
                                          </p:val>
                                        </p:tav>
                                      </p:tavLst>
                                    </p:anim>
                                    <p:anim calcmode="lin" valueType="num">
                                      <p:cBhvr additive="base">
                                        <p:cTn id="28" dur="500" fill="hold"/>
                                        <p:tgtEl>
                                          <p:spTgt spid="12298"/>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4" presetClass="entr" presetSubtype="10" fill="hold" grpId="0" nodeType="clickEffect">
                                  <p:stCondLst>
                                    <p:cond delay="0"/>
                                  </p:stCondLst>
                                  <p:childTnLst>
                                    <p:set>
                                      <p:cBhvr>
                                        <p:cTn id="32" dur="1" fill="hold">
                                          <p:stCondLst>
                                            <p:cond delay="0"/>
                                          </p:stCondLst>
                                        </p:cTn>
                                        <p:tgtEl>
                                          <p:spTgt spid="12296"/>
                                        </p:tgtEl>
                                        <p:attrNameLst>
                                          <p:attrName>style.visibility</p:attrName>
                                        </p:attrNameLst>
                                      </p:cBhvr>
                                      <p:to>
                                        <p:strVal val="visible"/>
                                      </p:to>
                                    </p:set>
                                    <p:animEffect transition="in" filter="randombar(horizontal)">
                                      <p:cBhvr>
                                        <p:cTn id="33" dur="500"/>
                                        <p:tgtEl>
                                          <p:spTgt spid="122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2" grpId="0" autoUpdateAnimBg="0"/>
      <p:bldP spid="12294" grpId="0" autoUpdateAnimBg="0"/>
      <p:bldP spid="12296" grpId="0"/>
      <p:bldP spid="12297" grpId="0"/>
      <p:bldP spid="12298" grpId="0"/>
      <p:bldP spid="12301"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Text Box 3"/>
          <p:cNvSpPr txBox="1">
            <a:spLocks noChangeArrowheads="1"/>
          </p:cNvSpPr>
          <p:nvPr/>
        </p:nvSpPr>
        <p:spPr bwMode="auto">
          <a:xfrm>
            <a:off x="1257077" y="1657518"/>
            <a:ext cx="739140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50000"/>
              </a:spcBef>
              <a:buFontTx/>
              <a:buNone/>
            </a:pPr>
            <a:r>
              <a:rPr lang="es-MX" altLang="en-US" sz="2000" dirty="0">
                <a:latin typeface="Arial" panose="020B0604020202020204" pitchFamily="34" charset="0"/>
              </a:rPr>
              <a:t>A un congreso asisten 80 personas. De ellos 70 hablan inglés y 50 francés. Se eligen dos de ellos al azar. ¿cuál es la probabilidad de que se entiendan sin necesidad de intérprete?</a:t>
            </a:r>
            <a:endParaRPr lang="en-US" altLang="en-US" sz="2000" dirty="0">
              <a:latin typeface="Arial" panose="020B0604020202020204" pitchFamily="34" charset="0"/>
            </a:endParaRPr>
          </a:p>
        </p:txBody>
      </p:sp>
      <p:sp>
        <p:nvSpPr>
          <p:cNvPr id="12292" name="Text Box 4"/>
          <p:cNvSpPr txBox="1">
            <a:spLocks noChangeArrowheads="1"/>
          </p:cNvSpPr>
          <p:nvPr/>
        </p:nvSpPr>
        <p:spPr bwMode="auto">
          <a:xfrm>
            <a:off x="1447800" y="2909104"/>
            <a:ext cx="21336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s-MX" altLang="en-US" sz="1600" dirty="0">
                <a:latin typeface="Broadway" panose="04040905080B02020502" pitchFamily="82" charset="0"/>
              </a:rPr>
              <a:t>Casos posibles </a:t>
            </a:r>
            <a:endParaRPr lang="en-US" altLang="en-US" sz="1600" dirty="0">
              <a:latin typeface="Broadway" panose="04040905080B02020502" pitchFamily="82" charset="0"/>
            </a:endParaRPr>
          </a:p>
        </p:txBody>
      </p:sp>
      <p:sp>
        <p:nvSpPr>
          <p:cNvPr id="12293" name="Text Box 5"/>
          <p:cNvSpPr txBox="1">
            <a:spLocks noChangeArrowheads="1"/>
          </p:cNvSpPr>
          <p:nvPr/>
        </p:nvSpPr>
        <p:spPr bwMode="auto">
          <a:xfrm>
            <a:off x="4343400" y="2819400"/>
            <a:ext cx="2057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endParaRPr lang="es-ES" altLang="en-US" sz="2400"/>
          </a:p>
        </p:txBody>
      </p:sp>
      <p:sp>
        <p:nvSpPr>
          <p:cNvPr id="12294" name="Text Box 6"/>
          <p:cNvSpPr txBox="1">
            <a:spLocks noChangeArrowheads="1"/>
          </p:cNvSpPr>
          <p:nvPr/>
        </p:nvSpPr>
        <p:spPr bwMode="auto">
          <a:xfrm>
            <a:off x="1371600" y="4572000"/>
            <a:ext cx="2624336"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s-MX" altLang="en-US" sz="1600" dirty="0">
                <a:latin typeface="Broadway" panose="04040905080B02020502" pitchFamily="82" charset="0"/>
              </a:rPr>
              <a:t>Casos (des)favorables</a:t>
            </a:r>
            <a:endParaRPr lang="en-US" altLang="en-US" sz="1600" dirty="0">
              <a:latin typeface="Broadway" panose="04040905080B02020502" pitchFamily="82" charset="0"/>
            </a:endParaRPr>
          </a:p>
        </p:txBody>
      </p:sp>
      <mc:AlternateContent xmlns:mc="http://schemas.openxmlformats.org/markup-compatibility/2006" xmlns:a14="http://schemas.microsoft.com/office/drawing/2010/main">
        <mc:Choice Requires="a14">
          <p:sp>
            <p:nvSpPr>
              <p:cNvPr id="12297" name="Object 9"/>
              <p:cNvSpPr txBox="1"/>
              <p:nvPr/>
            </p:nvSpPr>
            <p:spPr bwMode="auto">
              <a:xfrm>
                <a:off x="4093840" y="2667000"/>
                <a:ext cx="3070448" cy="792163"/>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d>
                        <m:dPr>
                          <m:ctrlPr>
                            <a:rPr lang="es-AR" sz="2000" i="1" smtClean="0">
                              <a:solidFill>
                                <a:srgbClr val="000000"/>
                              </a:solidFill>
                              <a:latin typeface="Cambria Math" panose="02040503050406030204" pitchFamily="18" charset="0"/>
                            </a:rPr>
                          </m:ctrlPr>
                        </m:dPr>
                        <m:e>
                          <m:m>
                            <m:mPr>
                              <m:mcs>
                                <m:mc>
                                  <m:mcPr>
                                    <m:count m:val="1"/>
                                    <m:mcJc m:val="center"/>
                                  </m:mcPr>
                                </m:mc>
                              </m:mcs>
                              <m:ctrlPr>
                                <a:rPr lang="es-AR" sz="2000" i="1" smtClean="0">
                                  <a:solidFill>
                                    <a:srgbClr val="000000"/>
                                  </a:solidFill>
                                  <a:latin typeface="Cambria Math" panose="02040503050406030204" pitchFamily="18" charset="0"/>
                                </a:rPr>
                              </m:ctrlPr>
                            </m:mPr>
                            <m:mr>
                              <m:e>
                                <m:r>
                                  <m:rPr>
                                    <m:brk m:alnAt="7"/>
                                  </m:rPr>
                                  <a:rPr lang="es-AR" sz="2000" b="0" i="1" smtClean="0">
                                    <a:solidFill>
                                      <a:srgbClr val="000000"/>
                                    </a:solidFill>
                                    <a:latin typeface="Cambria Math" panose="02040503050406030204" pitchFamily="18" charset="0"/>
                                  </a:rPr>
                                  <m:t>8</m:t>
                                </m:r>
                                <m:r>
                                  <a:rPr lang="es-AR" sz="2000" b="0" i="1" smtClean="0">
                                    <a:solidFill>
                                      <a:srgbClr val="000000"/>
                                    </a:solidFill>
                                    <a:latin typeface="Cambria Math" panose="02040503050406030204" pitchFamily="18" charset="0"/>
                                  </a:rPr>
                                  <m:t>0</m:t>
                                </m:r>
                              </m:e>
                            </m:mr>
                            <m:mr>
                              <m:e>
                                <m:r>
                                  <a:rPr lang="es-AR" sz="2000" b="0" i="1" smtClean="0">
                                    <a:solidFill>
                                      <a:srgbClr val="000000"/>
                                    </a:solidFill>
                                    <a:latin typeface="Cambria Math" panose="02040503050406030204" pitchFamily="18" charset="0"/>
                                  </a:rPr>
                                  <m:t>2</m:t>
                                </m:r>
                              </m:e>
                            </m:mr>
                          </m:m>
                        </m:e>
                      </m:d>
                      <m:r>
                        <a:rPr lang="es-AR" sz="2000" i="1">
                          <a:solidFill>
                            <a:srgbClr val="000000"/>
                          </a:solidFill>
                          <a:latin typeface="Cambria Math" panose="02040503050406030204" pitchFamily="18" charset="0"/>
                        </a:rPr>
                        <m:t>=</m:t>
                      </m:r>
                      <m:f>
                        <m:fPr>
                          <m:ctrlPr>
                            <a:rPr lang="es-AR" sz="2000" i="1">
                              <a:solidFill>
                                <a:srgbClr val="000000"/>
                              </a:solidFill>
                              <a:latin typeface="Cambria Math" panose="02040503050406030204" pitchFamily="18" charset="0"/>
                            </a:rPr>
                          </m:ctrlPr>
                        </m:fPr>
                        <m:num>
                          <m:r>
                            <a:rPr lang="es-AR" sz="2000" i="1">
                              <a:solidFill>
                                <a:srgbClr val="000000"/>
                              </a:solidFill>
                              <a:latin typeface="Cambria Math" panose="02040503050406030204" pitchFamily="18" charset="0"/>
                            </a:rPr>
                            <m:t>80⋅79</m:t>
                          </m:r>
                        </m:num>
                        <m:den>
                          <m:r>
                            <a:rPr lang="es-AR" sz="2000" i="1">
                              <a:solidFill>
                                <a:srgbClr val="000000"/>
                              </a:solidFill>
                              <a:latin typeface="Cambria Math" panose="02040503050406030204" pitchFamily="18" charset="0"/>
                            </a:rPr>
                            <m:t>2</m:t>
                          </m:r>
                        </m:den>
                      </m:f>
                      <m:r>
                        <a:rPr lang="es-AR" sz="2000" i="1">
                          <a:solidFill>
                            <a:srgbClr val="000000"/>
                          </a:solidFill>
                          <a:latin typeface="Cambria Math" panose="02040503050406030204" pitchFamily="18" charset="0"/>
                        </a:rPr>
                        <m:t>=3160</m:t>
                      </m:r>
                    </m:oMath>
                  </m:oMathPara>
                </a14:m>
                <a:endParaRPr lang="es-AR" sz="2000" dirty="0"/>
              </a:p>
            </p:txBody>
          </p:sp>
        </mc:Choice>
        <mc:Fallback xmlns="">
          <p:sp>
            <p:nvSpPr>
              <p:cNvPr id="12297" name="Object 9"/>
              <p:cNvSpPr txBox="1">
                <a:spLocks noRot="1" noChangeAspect="1" noMove="1" noResize="1" noEditPoints="1" noAdjustHandles="1" noChangeArrowheads="1" noChangeShapeType="1" noTextEdit="1"/>
              </p:cNvSpPr>
              <p:nvPr/>
            </p:nvSpPr>
            <p:spPr bwMode="auto">
              <a:xfrm>
                <a:off x="4093840" y="2667000"/>
                <a:ext cx="3070448" cy="792163"/>
              </a:xfrm>
              <a:prstGeom prst="rect">
                <a:avLst/>
              </a:prstGeom>
              <a:blipFill>
                <a:blip r:embed="rId2"/>
                <a:stretch>
                  <a:fillRect/>
                </a:stretch>
              </a:blipFill>
              <a:ln>
                <a:noFill/>
              </a:ln>
              <a:effectLst/>
              <a:extLst/>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2298" name="Object 10"/>
              <p:cNvSpPr txBox="1"/>
              <p:nvPr/>
            </p:nvSpPr>
            <p:spPr bwMode="auto">
              <a:xfrm>
                <a:off x="4139952" y="4386262"/>
                <a:ext cx="2088232" cy="631489"/>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d>
                        <m:dPr>
                          <m:ctrlPr>
                            <a:rPr lang="es-AR" sz="2000" i="1" smtClean="0">
                              <a:solidFill>
                                <a:srgbClr val="000000"/>
                              </a:solidFill>
                              <a:latin typeface="Cambria Math" panose="02040503050406030204" pitchFamily="18" charset="0"/>
                            </a:rPr>
                          </m:ctrlPr>
                        </m:dPr>
                        <m:e>
                          <m:m>
                            <m:mPr>
                              <m:mcs>
                                <m:mc>
                                  <m:mcPr>
                                    <m:count m:val="1"/>
                                    <m:mcJc m:val="center"/>
                                  </m:mcPr>
                                </m:mc>
                              </m:mcs>
                              <m:ctrlPr>
                                <a:rPr lang="es-AR" sz="2000" i="1">
                                  <a:solidFill>
                                    <a:srgbClr val="000000"/>
                                  </a:solidFill>
                                  <a:latin typeface="Cambria Math" panose="02040503050406030204" pitchFamily="18" charset="0"/>
                                </a:rPr>
                              </m:ctrlPr>
                            </m:mPr>
                            <m:mr>
                              <m:e>
                                <m:r>
                                  <m:rPr>
                                    <m:brk m:alnAt="7"/>
                                  </m:rPr>
                                  <a:rPr lang="es-AR" sz="2000" b="0" i="1" smtClean="0">
                                    <a:solidFill>
                                      <a:srgbClr val="000000"/>
                                    </a:solidFill>
                                    <a:latin typeface="Cambria Math" panose="02040503050406030204" pitchFamily="18" charset="0"/>
                                  </a:rPr>
                                  <m:t>3</m:t>
                                </m:r>
                                <m:r>
                                  <a:rPr lang="es-AR" sz="2000" i="1">
                                    <a:solidFill>
                                      <a:srgbClr val="000000"/>
                                    </a:solidFill>
                                    <a:latin typeface="Cambria Math" panose="02040503050406030204" pitchFamily="18" charset="0"/>
                                  </a:rPr>
                                  <m:t>0</m:t>
                                </m:r>
                              </m:e>
                            </m:mr>
                            <m:mr>
                              <m:e>
                                <m:r>
                                  <a:rPr lang="es-AR" sz="2000" i="1">
                                    <a:solidFill>
                                      <a:srgbClr val="000000"/>
                                    </a:solidFill>
                                    <a:latin typeface="Cambria Math" panose="02040503050406030204" pitchFamily="18" charset="0"/>
                                  </a:rPr>
                                  <m:t>1</m:t>
                                </m:r>
                              </m:e>
                            </m:mr>
                          </m:m>
                        </m:e>
                      </m:d>
                      <m:d>
                        <m:dPr>
                          <m:ctrlPr>
                            <a:rPr lang="es-AR" sz="2000" i="1">
                              <a:solidFill>
                                <a:srgbClr val="000000"/>
                              </a:solidFill>
                              <a:latin typeface="Cambria Math" panose="02040503050406030204" pitchFamily="18" charset="0"/>
                            </a:rPr>
                          </m:ctrlPr>
                        </m:dPr>
                        <m:e>
                          <m:m>
                            <m:mPr>
                              <m:mcs>
                                <m:mc>
                                  <m:mcPr>
                                    <m:count m:val="1"/>
                                    <m:mcJc m:val="center"/>
                                  </m:mcPr>
                                </m:mc>
                              </m:mcs>
                              <m:ctrlPr>
                                <a:rPr lang="es-AR" sz="2000" i="1">
                                  <a:solidFill>
                                    <a:srgbClr val="000000"/>
                                  </a:solidFill>
                                  <a:latin typeface="Cambria Math" panose="02040503050406030204" pitchFamily="18" charset="0"/>
                                </a:rPr>
                              </m:ctrlPr>
                            </m:mPr>
                            <m:mr>
                              <m:e>
                                <m:r>
                                  <m:rPr>
                                    <m:brk m:alnAt="7"/>
                                  </m:rPr>
                                  <a:rPr lang="es-AR" sz="2000" b="0" i="1" smtClean="0">
                                    <a:solidFill>
                                      <a:srgbClr val="000000"/>
                                    </a:solidFill>
                                    <a:latin typeface="Cambria Math" panose="02040503050406030204" pitchFamily="18" charset="0"/>
                                  </a:rPr>
                                  <m:t>1</m:t>
                                </m:r>
                                <m:r>
                                  <a:rPr lang="es-AR" sz="2000" i="1">
                                    <a:solidFill>
                                      <a:srgbClr val="000000"/>
                                    </a:solidFill>
                                    <a:latin typeface="Cambria Math" panose="02040503050406030204" pitchFamily="18" charset="0"/>
                                  </a:rPr>
                                  <m:t>0</m:t>
                                </m:r>
                              </m:e>
                            </m:mr>
                            <m:mr>
                              <m:e>
                                <m:r>
                                  <a:rPr lang="es-AR" sz="2000" i="1">
                                    <a:solidFill>
                                      <a:srgbClr val="000000"/>
                                    </a:solidFill>
                                    <a:latin typeface="Cambria Math" panose="02040503050406030204" pitchFamily="18" charset="0"/>
                                  </a:rPr>
                                  <m:t>1</m:t>
                                </m:r>
                              </m:e>
                            </m:mr>
                          </m:m>
                        </m:e>
                      </m:d>
                      <m:r>
                        <a:rPr lang="es-AR" sz="2000" i="1">
                          <a:solidFill>
                            <a:srgbClr val="000000"/>
                          </a:solidFill>
                          <a:latin typeface="Cambria Math" panose="02040503050406030204" pitchFamily="18" charset="0"/>
                        </a:rPr>
                        <m:t>=</m:t>
                      </m:r>
                      <m:r>
                        <a:rPr lang="es-AR" sz="2000" b="0" i="1" smtClean="0">
                          <a:solidFill>
                            <a:srgbClr val="000000"/>
                          </a:solidFill>
                          <a:latin typeface="Cambria Math" panose="02040503050406030204" pitchFamily="18" charset="0"/>
                        </a:rPr>
                        <m:t>30</m:t>
                      </m:r>
                      <m:r>
                        <a:rPr lang="es-AR" sz="2000" i="1">
                          <a:solidFill>
                            <a:srgbClr val="000000"/>
                          </a:solidFill>
                          <a:latin typeface="Cambria Math" panose="02040503050406030204" pitchFamily="18" charset="0"/>
                        </a:rPr>
                        <m:t>0</m:t>
                      </m:r>
                    </m:oMath>
                  </m:oMathPara>
                </a14:m>
                <a:endParaRPr lang="es-AR" sz="2000" dirty="0"/>
              </a:p>
            </p:txBody>
          </p:sp>
        </mc:Choice>
        <mc:Fallback xmlns="">
          <p:sp>
            <p:nvSpPr>
              <p:cNvPr id="12298" name="Object 10"/>
              <p:cNvSpPr txBox="1">
                <a:spLocks noRot="1" noChangeAspect="1" noMove="1" noResize="1" noEditPoints="1" noAdjustHandles="1" noChangeArrowheads="1" noChangeShapeType="1" noTextEdit="1"/>
              </p:cNvSpPr>
              <p:nvPr/>
            </p:nvSpPr>
            <p:spPr bwMode="auto">
              <a:xfrm>
                <a:off x="4139952" y="4386262"/>
                <a:ext cx="2088232" cy="631489"/>
              </a:xfrm>
              <a:prstGeom prst="rect">
                <a:avLst/>
              </a:prstGeom>
              <a:blipFill>
                <a:blip r:embed="rId3"/>
                <a:stretch>
                  <a:fillRect/>
                </a:stretch>
              </a:blipFill>
              <a:ln>
                <a:noFill/>
              </a:ln>
              <a:effectLst/>
              <a:extLst/>
            </p:spPr>
            <p:txBody>
              <a:bodyPr/>
              <a:lstStyle/>
              <a:p>
                <a:r>
                  <a:rPr lang="es-AR">
                    <a:noFill/>
                  </a:rPr>
                  <a:t> </a:t>
                </a:r>
              </a:p>
            </p:txBody>
          </p:sp>
        </mc:Fallback>
      </mc:AlternateContent>
      <p:sp>
        <p:nvSpPr>
          <p:cNvPr id="12299" name="Text Box 11"/>
          <p:cNvSpPr txBox="1">
            <a:spLocks noChangeArrowheads="1"/>
          </p:cNvSpPr>
          <p:nvPr/>
        </p:nvSpPr>
        <p:spPr bwMode="auto">
          <a:xfrm>
            <a:off x="1447800" y="3429000"/>
            <a:ext cx="7010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endParaRPr lang="es-ES" altLang="en-US" sz="1400"/>
          </a:p>
        </p:txBody>
      </p:sp>
      <p:sp>
        <p:nvSpPr>
          <p:cNvPr id="12301" name="Text Box 13"/>
          <p:cNvSpPr txBox="1">
            <a:spLocks noChangeArrowheads="1"/>
          </p:cNvSpPr>
          <p:nvPr/>
        </p:nvSpPr>
        <p:spPr bwMode="auto">
          <a:xfrm>
            <a:off x="1447800" y="3505200"/>
            <a:ext cx="7162800"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50000"/>
              </a:spcBef>
              <a:buFontTx/>
              <a:buNone/>
            </a:pPr>
            <a:r>
              <a:rPr lang="es-MX" altLang="en-US" sz="1400" dirty="0">
                <a:latin typeface="Arial" panose="020B0604020202020204" pitchFamily="34" charset="0"/>
              </a:rPr>
              <a:t>Con los datos disponibles resulta que hay 30 que hablan sólo inglés, 10 que hablan sólo francés y 40 congresistas que hablan ambos idiomas.</a:t>
            </a:r>
            <a:endParaRPr lang="en-US" altLang="en-US" sz="1400" dirty="0">
              <a:latin typeface="Arial" panose="020B0604020202020204" pitchFamily="34" charset="0"/>
            </a:endParaRPr>
          </a:p>
        </p:txBody>
      </p:sp>
      <p:sp>
        <p:nvSpPr>
          <p:cNvPr id="14" name="Rectangle 2"/>
          <p:cNvSpPr txBox="1">
            <a:spLocks noChangeArrowheads="1"/>
          </p:cNvSpPr>
          <p:nvPr/>
        </p:nvSpPr>
        <p:spPr bwMode="auto">
          <a:xfrm>
            <a:off x="1066800" y="355599"/>
            <a:ext cx="7620000" cy="1216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a:lstStyle>
          <a:p>
            <a:pPr eaLnBrk="1" hangingPunct="1"/>
            <a:r>
              <a:rPr lang="es-MX" altLang="en-US" sz="3200" b="1" dirty="0">
                <a:latin typeface="Broadway" panose="04040905080B02020502" pitchFamily="82" charset="0"/>
              </a:rPr>
              <a:t>Cálculo de probabilidades con la regla de Laplace</a:t>
            </a:r>
            <a:endParaRPr lang="en-US" altLang="en-US" sz="3200" b="1" dirty="0">
              <a:latin typeface="Broadway" panose="04040905080B02020502" pitchFamily="82" charset="0"/>
            </a:endParaRPr>
          </a:p>
        </p:txBody>
      </p:sp>
      <mc:AlternateContent xmlns:mc="http://schemas.openxmlformats.org/markup-compatibility/2006" xmlns:a14="http://schemas.microsoft.com/office/drawing/2010/main">
        <mc:Choice Requires="a14">
          <p:sp>
            <p:nvSpPr>
              <p:cNvPr id="12" name="Object 8">
                <a:extLst>
                  <a:ext uri="{FF2B5EF4-FFF2-40B4-BE49-F238E27FC236}">
                    <a16:creationId xmlns:a16="http://schemas.microsoft.com/office/drawing/2014/main" id="{876C4647-2A7F-4C20-AC1C-749AE58D2FAB}"/>
                  </a:ext>
                </a:extLst>
              </p:cNvPr>
              <p:cNvSpPr txBox="1"/>
              <p:nvPr/>
            </p:nvSpPr>
            <p:spPr bwMode="auto">
              <a:xfrm>
                <a:off x="2483768" y="5610726"/>
                <a:ext cx="4724772" cy="7239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s-AR" sz="2000" i="1">
                          <a:solidFill>
                            <a:srgbClr val="000000"/>
                          </a:solidFill>
                          <a:latin typeface="Cambria Math" panose="02040503050406030204" pitchFamily="18" charset="0"/>
                        </a:rPr>
                        <m:t>𝑃</m:t>
                      </m:r>
                      <m:r>
                        <a:rPr lang="es-AR" sz="2000" i="1">
                          <a:solidFill>
                            <a:srgbClr val="000000"/>
                          </a:solidFill>
                          <a:latin typeface="Cambria Math" panose="02040503050406030204" pitchFamily="18" charset="0"/>
                        </a:rPr>
                        <m:t>=1−</m:t>
                      </m:r>
                      <m:f>
                        <m:fPr>
                          <m:ctrlPr>
                            <a:rPr lang="es-AR" sz="2000" i="1">
                              <a:solidFill>
                                <a:srgbClr val="000000"/>
                              </a:solidFill>
                              <a:latin typeface="Cambria Math" panose="02040503050406030204" pitchFamily="18" charset="0"/>
                            </a:rPr>
                          </m:ctrlPr>
                        </m:fPr>
                        <m:num>
                          <m:r>
                            <a:rPr lang="es-AR" sz="2000" i="1">
                              <a:solidFill>
                                <a:srgbClr val="000000"/>
                              </a:solidFill>
                              <a:latin typeface="Cambria Math" panose="02040503050406030204" pitchFamily="18" charset="0"/>
                            </a:rPr>
                            <m:t>300</m:t>
                          </m:r>
                        </m:num>
                        <m:den>
                          <m:r>
                            <a:rPr lang="es-AR" sz="2000" i="1">
                              <a:solidFill>
                                <a:srgbClr val="000000"/>
                              </a:solidFill>
                              <a:latin typeface="Cambria Math" panose="02040503050406030204" pitchFamily="18" charset="0"/>
                            </a:rPr>
                            <m:t>3160</m:t>
                          </m:r>
                        </m:den>
                      </m:f>
                      <m:r>
                        <a:rPr lang="es-AR" sz="2000" i="1">
                          <a:solidFill>
                            <a:srgbClr val="000000"/>
                          </a:solidFill>
                          <a:latin typeface="Cambria Math" panose="02040503050406030204" pitchFamily="18" charset="0"/>
                        </a:rPr>
                        <m:t>=1−</m:t>
                      </m:r>
                      <m:f>
                        <m:fPr>
                          <m:ctrlPr>
                            <a:rPr lang="es-AR" sz="2000" i="1">
                              <a:solidFill>
                                <a:srgbClr val="000000"/>
                              </a:solidFill>
                              <a:latin typeface="Cambria Math" panose="02040503050406030204" pitchFamily="18" charset="0"/>
                            </a:rPr>
                          </m:ctrlPr>
                        </m:fPr>
                        <m:num>
                          <m:r>
                            <a:rPr lang="es-AR" sz="2000" i="1">
                              <a:solidFill>
                                <a:srgbClr val="000000"/>
                              </a:solidFill>
                              <a:latin typeface="Cambria Math" panose="02040503050406030204" pitchFamily="18" charset="0"/>
                            </a:rPr>
                            <m:t>15</m:t>
                          </m:r>
                        </m:num>
                        <m:den>
                          <m:r>
                            <a:rPr lang="es-AR" sz="2000" i="1">
                              <a:solidFill>
                                <a:srgbClr val="000000"/>
                              </a:solidFill>
                              <a:latin typeface="Cambria Math" panose="02040503050406030204" pitchFamily="18" charset="0"/>
                            </a:rPr>
                            <m:t>158</m:t>
                          </m:r>
                        </m:den>
                      </m:f>
                      <m:r>
                        <a:rPr lang="es-AR" sz="2000" i="1">
                          <a:solidFill>
                            <a:srgbClr val="000000"/>
                          </a:solidFill>
                          <a:latin typeface="Cambria Math" panose="02040503050406030204" pitchFamily="18" charset="0"/>
                        </a:rPr>
                        <m:t>=</m:t>
                      </m:r>
                      <m:f>
                        <m:fPr>
                          <m:ctrlPr>
                            <a:rPr lang="es-AR" sz="2000" i="1">
                              <a:solidFill>
                                <a:srgbClr val="000000"/>
                              </a:solidFill>
                              <a:latin typeface="Cambria Math" panose="02040503050406030204" pitchFamily="18" charset="0"/>
                            </a:rPr>
                          </m:ctrlPr>
                        </m:fPr>
                        <m:num>
                          <m:r>
                            <a:rPr lang="es-AR" sz="2000" i="1">
                              <a:solidFill>
                                <a:srgbClr val="000000"/>
                              </a:solidFill>
                              <a:latin typeface="Cambria Math" panose="02040503050406030204" pitchFamily="18" charset="0"/>
                            </a:rPr>
                            <m:t>143</m:t>
                          </m:r>
                        </m:num>
                        <m:den>
                          <m:r>
                            <a:rPr lang="es-AR" sz="2000" i="1">
                              <a:solidFill>
                                <a:srgbClr val="000000"/>
                              </a:solidFill>
                              <a:latin typeface="Cambria Math" panose="02040503050406030204" pitchFamily="18" charset="0"/>
                            </a:rPr>
                            <m:t>158</m:t>
                          </m:r>
                        </m:den>
                      </m:f>
                      <m:r>
                        <a:rPr lang="es-AR" sz="2000" i="1">
                          <a:solidFill>
                            <a:srgbClr val="000000"/>
                          </a:solidFill>
                          <a:latin typeface="Cambria Math" panose="02040503050406030204" pitchFamily="18" charset="0"/>
                        </a:rPr>
                        <m:t>≈0.905</m:t>
                      </m:r>
                    </m:oMath>
                  </m:oMathPara>
                </a14:m>
                <a:endParaRPr lang="es-AR" sz="2000" dirty="0"/>
              </a:p>
            </p:txBody>
          </p:sp>
        </mc:Choice>
        <mc:Fallback xmlns="">
          <p:sp>
            <p:nvSpPr>
              <p:cNvPr id="12" name="Object 8">
                <a:extLst>
                  <a:ext uri="{FF2B5EF4-FFF2-40B4-BE49-F238E27FC236}">
                    <a16:creationId xmlns:a16="http://schemas.microsoft.com/office/drawing/2014/main" id="{876C4647-2A7F-4C20-AC1C-749AE58D2FAB}"/>
                  </a:ext>
                </a:extLst>
              </p:cNvPr>
              <p:cNvSpPr txBox="1">
                <a:spLocks noRot="1" noChangeAspect="1" noMove="1" noResize="1" noEditPoints="1" noAdjustHandles="1" noChangeArrowheads="1" noChangeShapeType="1" noTextEdit="1"/>
              </p:cNvSpPr>
              <p:nvPr/>
            </p:nvSpPr>
            <p:spPr bwMode="auto">
              <a:xfrm>
                <a:off x="2483768" y="5610726"/>
                <a:ext cx="4724772" cy="723900"/>
              </a:xfrm>
              <a:prstGeom prst="rect">
                <a:avLst/>
              </a:prstGeom>
              <a:blipFill>
                <a:blip r:embed="rId4"/>
                <a:stretch>
                  <a:fillRect/>
                </a:stretch>
              </a:blipFill>
              <a:ln>
                <a:noFill/>
              </a:ln>
              <a:effectLst/>
              <a:extLst/>
            </p:spPr>
            <p:txBody>
              <a:bodyPr/>
              <a:lstStyle/>
              <a:p>
                <a:r>
                  <a:rPr lang="es-AR">
                    <a:noFill/>
                  </a:rPr>
                  <a:t> </a:t>
                </a:r>
              </a:p>
            </p:txBody>
          </p:sp>
        </mc:Fallback>
      </mc:AlternateContent>
    </p:spTree>
    <p:extLst>
      <p:ext uri="{BB962C8B-B14F-4D97-AF65-F5344CB8AC3E}">
        <p14:creationId xmlns:p14="http://schemas.microsoft.com/office/powerpoint/2010/main" val="330604568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229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12297"/>
                                        </p:tgtEl>
                                        <p:attrNameLst>
                                          <p:attrName>style.visibility</p:attrName>
                                        </p:attrNameLst>
                                      </p:cBhvr>
                                      <p:to>
                                        <p:strVal val="visible"/>
                                      </p:to>
                                    </p:set>
                                    <p:anim calcmode="lin" valueType="num">
                                      <p:cBhvr additive="base">
                                        <p:cTn id="11" dur="500" fill="hold"/>
                                        <p:tgtEl>
                                          <p:spTgt spid="12297"/>
                                        </p:tgtEl>
                                        <p:attrNameLst>
                                          <p:attrName>ppt_x</p:attrName>
                                        </p:attrNameLst>
                                      </p:cBhvr>
                                      <p:tavLst>
                                        <p:tav tm="0">
                                          <p:val>
                                            <p:strVal val="#ppt_x"/>
                                          </p:val>
                                        </p:tav>
                                        <p:tav tm="100000">
                                          <p:val>
                                            <p:strVal val="#ppt_x"/>
                                          </p:val>
                                        </p:tav>
                                      </p:tavLst>
                                    </p:anim>
                                    <p:anim calcmode="lin" valueType="num">
                                      <p:cBhvr additive="base">
                                        <p:cTn id="12" dur="500" fill="hold"/>
                                        <p:tgtEl>
                                          <p:spTgt spid="12297"/>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12301"/>
                                        </p:tgtEl>
                                        <p:attrNameLst>
                                          <p:attrName>style.visibility</p:attrName>
                                        </p:attrNameLst>
                                      </p:cBhvr>
                                      <p:to>
                                        <p:strVal val="visible"/>
                                      </p:to>
                                    </p:set>
                                    <p:anim calcmode="lin" valueType="num">
                                      <p:cBhvr additive="base">
                                        <p:cTn id="17" dur="500" fill="hold"/>
                                        <p:tgtEl>
                                          <p:spTgt spid="12301"/>
                                        </p:tgtEl>
                                        <p:attrNameLst>
                                          <p:attrName>ppt_x</p:attrName>
                                        </p:attrNameLst>
                                      </p:cBhvr>
                                      <p:tavLst>
                                        <p:tav tm="0">
                                          <p:val>
                                            <p:strVal val="1+#ppt_w/2"/>
                                          </p:val>
                                        </p:tav>
                                        <p:tav tm="100000">
                                          <p:val>
                                            <p:strVal val="#ppt_x"/>
                                          </p:val>
                                        </p:tav>
                                      </p:tavLst>
                                    </p:anim>
                                    <p:anim calcmode="lin" valueType="num">
                                      <p:cBhvr additive="base">
                                        <p:cTn id="18" dur="500" fill="hold"/>
                                        <p:tgtEl>
                                          <p:spTgt spid="12301"/>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229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2298"/>
                                        </p:tgtEl>
                                        <p:attrNameLst>
                                          <p:attrName>style.visibility</p:attrName>
                                        </p:attrNameLst>
                                      </p:cBhvr>
                                      <p:to>
                                        <p:strVal val="visible"/>
                                      </p:to>
                                    </p:set>
                                    <p:anim calcmode="lin" valueType="num">
                                      <p:cBhvr additive="base">
                                        <p:cTn id="27" dur="500" fill="hold"/>
                                        <p:tgtEl>
                                          <p:spTgt spid="12298"/>
                                        </p:tgtEl>
                                        <p:attrNameLst>
                                          <p:attrName>ppt_x</p:attrName>
                                        </p:attrNameLst>
                                      </p:cBhvr>
                                      <p:tavLst>
                                        <p:tav tm="0">
                                          <p:val>
                                            <p:strVal val="#ppt_x"/>
                                          </p:val>
                                        </p:tav>
                                        <p:tav tm="100000">
                                          <p:val>
                                            <p:strVal val="#ppt_x"/>
                                          </p:val>
                                        </p:tav>
                                      </p:tavLst>
                                    </p:anim>
                                    <p:anim calcmode="lin" valueType="num">
                                      <p:cBhvr additive="base">
                                        <p:cTn id="28" dur="500" fill="hold"/>
                                        <p:tgtEl>
                                          <p:spTgt spid="12298"/>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4" presetClass="entr" presetSubtype="10" fill="hold" grpId="0" nodeType="click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randombar(horizontal)">
                                      <p:cBhvr>
                                        <p:cTn id="33"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2" grpId="0" autoUpdateAnimBg="0"/>
      <p:bldP spid="12294" grpId="0" autoUpdateAnimBg="0"/>
      <p:bldP spid="12297" grpId="0"/>
      <p:bldP spid="12298" grpId="0"/>
      <p:bldP spid="12301" grpId="0" autoUpdateAnimBg="0"/>
      <p:bldP spid="1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Text Box 3"/>
          <p:cNvSpPr txBox="1">
            <a:spLocks noChangeArrowheads="1"/>
          </p:cNvSpPr>
          <p:nvPr/>
        </p:nvSpPr>
        <p:spPr bwMode="auto">
          <a:xfrm>
            <a:off x="1181100" y="1693257"/>
            <a:ext cx="750570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50000"/>
              </a:spcBef>
              <a:buFontTx/>
              <a:buNone/>
            </a:pPr>
            <a:r>
              <a:rPr lang="es-MX" altLang="en-US" sz="2000" dirty="0">
                <a:latin typeface="Arial" panose="020B0604020202020204" pitchFamily="34" charset="0"/>
              </a:rPr>
              <a:t>Calcular la probabilidad de tener póker (4 cartas iguales) al repartir una mano de póker (5 cartas extraídas al azar de un mazo de cartas francesas de 52 cartas sin comodines).</a:t>
            </a:r>
            <a:endParaRPr lang="en-US" altLang="en-US" sz="2000" dirty="0">
              <a:latin typeface="Arial" panose="020B0604020202020204" pitchFamily="34" charset="0"/>
            </a:endParaRPr>
          </a:p>
        </p:txBody>
      </p:sp>
      <p:sp>
        <p:nvSpPr>
          <p:cNvPr id="14340" name="Text Box 4"/>
          <p:cNvSpPr txBox="1">
            <a:spLocks noChangeArrowheads="1"/>
          </p:cNvSpPr>
          <p:nvPr/>
        </p:nvSpPr>
        <p:spPr bwMode="auto">
          <a:xfrm>
            <a:off x="1227138" y="3140968"/>
            <a:ext cx="21336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s-MX" altLang="en-US" sz="1800" dirty="0">
                <a:latin typeface="Broadway" panose="04040905080B02020502" pitchFamily="82" charset="0"/>
              </a:rPr>
              <a:t>Casos posibles </a:t>
            </a:r>
            <a:endParaRPr lang="en-US" altLang="en-US" sz="1800" dirty="0">
              <a:latin typeface="Broadway" panose="04040905080B02020502" pitchFamily="82" charset="0"/>
            </a:endParaRPr>
          </a:p>
        </p:txBody>
      </p:sp>
      <p:sp>
        <p:nvSpPr>
          <p:cNvPr id="14342" name="Text Box 6"/>
          <p:cNvSpPr txBox="1">
            <a:spLocks noChangeArrowheads="1"/>
          </p:cNvSpPr>
          <p:nvPr/>
        </p:nvSpPr>
        <p:spPr bwMode="auto">
          <a:xfrm>
            <a:off x="1261715" y="5075892"/>
            <a:ext cx="24384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s-MX" altLang="en-US" sz="1800" dirty="0">
                <a:latin typeface="Broadway" panose="04040905080B02020502" pitchFamily="82" charset="0"/>
              </a:rPr>
              <a:t>Casos favorables</a:t>
            </a:r>
            <a:endParaRPr lang="en-US" altLang="en-US" sz="1800" dirty="0">
              <a:latin typeface="Broadway" panose="04040905080B02020502" pitchFamily="82" charset="0"/>
            </a:endParaRPr>
          </a:p>
        </p:txBody>
      </p:sp>
      <mc:AlternateContent xmlns:mc="http://schemas.openxmlformats.org/markup-compatibility/2006" xmlns:a14="http://schemas.microsoft.com/office/drawing/2010/main">
        <mc:Choice Requires="a14">
          <p:sp>
            <p:nvSpPr>
              <p:cNvPr id="14344" name="Object 8"/>
              <p:cNvSpPr txBox="1"/>
              <p:nvPr/>
            </p:nvSpPr>
            <p:spPr bwMode="auto">
              <a:xfrm>
                <a:off x="2408238" y="5676900"/>
                <a:ext cx="4937125" cy="987425"/>
              </a:xfrm>
              <a:prstGeom prst="rect">
                <a:avLst/>
              </a:prstGeom>
              <a:noFill/>
              <a:ln>
                <a:noFill/>
              </a:ln>
              <a:effectLst/>
            </p:spPr>
            <p:txBody>
              <a:bodyPr>
                <a:normAutofit fontScale="92500"/>
              </a:bodyPr>
              <a:lstStyle/>
              <a:p>
                <a:pPr/>
                <a14:m>
                  <m:oMathPara xmlns:m="http://schemas.openxmlformats.org/officeDocument/2006/math">
                    <m:oMathParaPr>
                      <m:jc m:val="left"/>
                    </m:oMathParaPr>
                    <m:oMath xmlns:m="http://schemas.openxmlformats.org/officeDocument/2006/math">
                      <m:r>
                        <m:rPr>
                          <m:sty m:val="p"/>
                        </m:rPr>
                        <a:rPr lang="es-AR" i="0">
                          <a:solidFill>
                            <a:srgbClr val="000000"/>
                          </a:solidFill>
                          <a:latin typeface="Cambria Math" panose="02040503050406030204" pitchFamily="18" charset="0"/>
                        </a:rPr>
                        <m:t>P</m:t>
                      </m:r>
                      <m:r>
                        <a:rPr lang="es-AR" i="1">
                          <a:solidFill>
                            <a:srgbClr val="000000"/>
                          </a:solidFill>
                          <a:latin typeface="Cambria Math" panose="02040503050406030204" pitchFamily="18" charset="0"/>
                        </a:rPr>
                        <m:t>=</m:t>
                      </m:r>
                      <m:f>
                        <m:fPr>
                          <m:ctrlPr>
                            <a:rPr lang="es-AR" i="1">
                              <a:solidFill>
                                <a:srgbClr val="000000"/>
                              </a:solidFill>
                              <a:latin typeface="Cambria Math" panose="02040503050406030204" pitchFamily="18" charset="0"/>
                            </a:rPr>
                          </m:ctrlPr>
                        </m:fPr>
                        <m:num>
                          <m:r>
                            <a:rPr lang="es-AR" i="1">
                              <a:solidFill>
                                <a:srgbClr val="000000"/>
                              </a:solidFill>
                              <a:latin typeface="Cambria Math" panose="02040503050406030204" pitchFamily="18" charset="0"/>
                            </a:rPr>
                            <m:t>624</m:t>
                          </m:r>
                        </m:num>
                        <m:den>
                          <m:r>
                            <a:rPr lang="es-AR" i="1">
                              <a:solidFill>
                                <a:srgbClr val="000000"/>
                              </a:solidFill>
                              <a:latin typeface="Cambria Math" panose="02040503050406030204" pitchFamily="18" charset="0"/>
                            </a:rPr>
                            <m:t>2598960</m:t>
                          </m:r>
                        </m:den>
                      </m:f>
                      <m:r>
                        <a:rPr lang="es-AR" i="1">
                          <a:solidFill>
                            <a:srgbClr val="000000"/>
                          </a:solidFill>
                          <a:latin typeface="Cambria Math" panose="02040503050406030204" pitchFamily="18" charset="0"/>
                        </a:rPr>
                        <m:t>≈0.00024  </m:t>
                      </m:r>
                      <m:d>
                        <m:dPr>
                          <m:ctrlPr>
                            <a:rPr lang="es-AR" i="1">
                              <a:solidFill>
                                <a:srgbClr val="000000"/>
                              </a:solidFill>
                              <a:latin typeface="Cambria Math" panose="02040503050406030204" pitchFamily="18" charset="0"/>
                            </a:rPr>
                          </m:ctrlPr>
                        </m:dPr>
                        <m:e>
                          <m:r>
                            <a:rPr lang="es-AR" i="1">
                              <a:solidFill>
                                <a:srgbClr val="000000"/>
                              </a:solidFill>
                              <a:latin typeface="Cambria Math" panose="02040503050406030204" pitchFamily="18" charset="0"/>
                            </a:rPr>
                            <m:t>≈</m:t>
                          </m:r>
                          <m:f>
                            <m:fPr>
                              <m:ctrlPr>
                                <a:rPr lang="es-AR" i="1">
                                  <a:solidFill>
                                    <a:srgbClr val="000000"/>
                                  </a:solidFill>
                                  <a:latin typeface="Cambria Math" panose="02040503050406030204" pitchFamily="18" charset="0"/>
                                </a:rPr>
                              </m:ctrlPr>
                            </m:fPr>
                            <m:num>
                              <m:r>
                                <a:rPr lang="es-AR" i="1">
                                  <a:solidFill>
                                    <a:srgbClr val="000000"/>
                                  </a:solidFill>
                                  <a:latin typeface="Cambria Math" panose="02040503050406030204" pitchFamily="18" charset="0"/>
                                </a:rPr>
                                <m:t>1</m:t>
                              </m:r>
                            </m:num>
                            <m:den>
                              <m:r>
                                <a:rPr lang="es-AR" i="1">
                                  <a:solidFill>
                                    <a:srgbClr val="000000"/>
                                  </a:solidFill>
                                  <a:latin typeface="Cambria Math" panose="02040503050406030204" pitchFamily="18" charset="0"/>
                                </a:rPr>
                                <m:t>4167</m:t>
                              </m:r>
                            </m:den>
                          </m:f>
                        </m:e>
                      </m:d>
                    </m:oMath>
                  </m:oMathPara>
                </a14:m>
                <a:endParaRPr lang="es-AR" dirty="0"/>
              </a:p>
            </p:txBody>
          </p:sp>
        </mc:Choice>
        <mc:Fallback xmlns="">
          <p:sp>
            <p:nvSpPr>
              <p:cNvPr id="14344" name="Object 8"/>
              <p:cNvSpPr txBox="1">
                <a:spLocks noRot="1" noChangeAspect="1" noMove="1" noResize="1" noEditPoints="1" noAdjustHandles="1" noChangeArrowheads="1" noChangeShapeType="1" noTextEdit="1"/>
              </p:cNvSpPr>
              <p:nvPr/>
            </p:nvSpPr>
            <p:spPr bwMode="auto">
              <a:xfrm>
                <a:off x="2408238" y="5676900"/>
                <a:ext cx="4937125" cy="987425"/>
              </a:xfrm>
              <a:prstGeom prst="rect">
                <a:avLst/>
              </a:prstGeom>
              <a:blipFill>
                <a:blip r:embed="rId2"/>
                <a:stretch>
                  <a:fillRect/>
                </a:stretch>
              </a:blipFill>
              <a:ln>
                <a:noFill/>
              </a:ln>
              <a:effectLst/>
              <a:extLst/>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4345" name="Object 9"/>
              <p:cNvSpPr txBox="1"/>
              <p:nvPr/>
            </p:nvSpPr>
            <p:spPr bwMode="auto">
              <a:xfrm>
                <a:off x="3614390" y="2917343"/>
                <a:ext cx="4630018" cy="880353"/>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d>
                        <m:dPr>
                          <m:ctrlPr>
                            <a:rPr lang="es-AR" sz="2000" i="1" smtClean="0">
                              <a:solidFill>
                                <a:srgbClr val="000000"/>
                              </a:solidFill>
                              <a:latin typeface="Cambria Math" panose="02040503050406030204" pitchFamily="18" charset="0"/>
                            </a:rPr>
                          </m:ctrlPr>
                        </m:dPr>
                        <m:e>
                          <m:m>
                            <m:mPr>
                              <m:mcs>
                                <m:mc>
                                  <m:mcPr>
                                    <m:count m:val="1"/>
                                    <m:mcJc m:val="center"/>
                                  </m:mcPr>
                                </m:mc>
                              </m:mcs>
                              <m:ctrlPr>
                                <a:rPr lang="es-AR" sz="2000" i="1">
                                  <a:solidFill>
                                    <a:srgbClr val="000000"/>
                                  </a:solidFill>
                                  <a:latin typeface="Cambria Math" panose="02040503050406030204" pitchFamily="18" charset="0"/>
                                </a:rPr>
                              </m:ctrlPr>
                            </m:mPr>
                            <m:mr>
                              <m:e>
                                <m:r>
                                  <m:rPr>
                                    <m:brk m:alnAt="7"/>
                                  </m:rPr>
                                  <a:rPr lang="es-AR" sz="2000" i="1">
                                    <a:solidFill>
                                      <a:srgbClr val="000000"/>
                                    </a:solidFill>
                                    <a:latin typeface="Cambria Math" panose="02040503050406030204" pitchFamily="18" charset="0"/>
                                  </a:rPr>
                                  <m:t>5</m:t>
                                </m:r>
                                <m:r>
                                  <a:rPr lang="es-AR" sz="2000" i="1">
                                    <a:solidFill>
                                      <a:srgbClr val="000000"/>
                                    </a:solidFill>
                                    <a:latin typeface="Cambria Math" panose="02040503050406030204" pitchFamily="18" charset="0"/>
                                  </a:rPr>
                                  <m:t>2</m:t>
                                </m:r>
                              </m:e>
                            </m:mr>
                            <m:mr>
                              <m:e>
                                <m:r>
                                  <a:rPr lang="es-AR" sz="2000" i="1">
                                    <a:solidFill>
                                      <a:srgbClr val="000000"/>
                                    </a:solidFill>
                                    <a:latin typeface="Cambria Math" panose="02040503050406030204" pitchFamily="18" charset="0"/>
                                  </a:rPr>
                                  <m:t>5</m:t>
                                </m:r>
                              </m:e>
                            </m:mr>
                          </m:m>
                        </m:e>
                      </m:d>
                      <m:r>
                        <a:rPr lang="es-AR" sz="2000" i="1">
                          <a:solidFill>
                            <a:srgbClr val="000000"/>
                          </a:solidFill>
                          <a:latin typeface="Cambria Math" panose="02040503050406030204" pitchFamily="18" charset="0"/>
                        </a:rPr>
                        <m:t>=</m:t>
                      </m:r>
                      <m:f>
                        <m:fPr>
                          <m:ctrlPr>
                            <a:rPr lang="es-AR" sz="2000" i="1">
                              <a:solidFill>
                                <a:srgbClr val="000000"/>
                              </a:solidFill>
                              <a:latin typeface="Cambria Math" panose="02040503050406030204" pitchFamily="18" charset="0"/>
                            </a:rPr>
                          </m:ctrlPr>
                        </m:fPr>
                        <m:num>
                          <m:r>
                            <a:rPr lang="es-AR" sz="2000" i="1">
                              <a:solidFill>
                                <a:srgbClr val="000000"/>
                              </a:solidFill>
                              <a:latin typeface="Cambria Math" panose="02040503050406030204" pitchFamily="18" charset="0"/>
                            </a:rPr>
                            <m:t>52⋅51⋅50⋅49⋅48</m:t>
                          </m:r>
                        </m:num>
                        <m:den>
                          <m:r>
                            <a:rPr lang="es-AR" sz="2000" i="1">
                              <a:solidFill>
                                <a:srgbClr val="000000"/>
                              </a:solidFill>
                              <a:latin typeface="Cambria Math" panose="02040503050406030204" pitchFamily="18" charset="0"/>
                            </a:rPr>
                            <m:t>120</m:t>
                          </m:r>
                        </m:den>
                      </m:f>
                      <m:r>
                        <a:rPr lang="es-AR" sz="2000" i="1">
                          <a:solidFill>
                            <a:srgbClr val="000000"/>
                          </a:solidFill>
                          <a:latin typeface="Cambria Math" panose="02040503050406030204" pitchFamily="18" charset="0"/>
                        </a:rPr>
                        <m:t>=2598960</m:t>
                      </m:r>
                    </m:oMath>
                  </m:oMathPara>
                </a14:m>
                <a:endParaRPr lang="es-AR" sz="2000" dirty="0"/>
              </a:p>
            </p:txBody>
          </p:sp>
        </mc:Choice>
        <mc:Fallback xmlns="">
          <p:sp>
            <p:nvSpPr>
              <p:cNvPr id="14345" name="Object 9"/>
              <p:cNvSpPr txBox="1">
                <a:spLocks noRot="1" noChangeAspect="1" noMove="1" noResize="1" noEditPoints="1" noAdjustHandles="1" noChangeArrowheads="1" noChangeShapeType="1" noTextEdit="1"/>
              </p:cNvSpPr>
              <p:nvPr/>
            </p:nvSpPr>
            <p:spPr bwMode="auto">
              <a:xfrm>
                <a:off x="3614390" y="2917343"/>
                <a:ext cx="4630018" cy="880353"/>
              </a:xfrm>
              <a:prstGeom prst="rect">
                <a:avLst/>
              </a:prstGeom>
              <a:blipFill>
                <a:blip r:embed="rId3"/>
                <a:stretch>
                  <a:fillRect/>
                </a:stretch>
              </a:blipFill>
              <a:ln>
                <a:noFill/>
              </a:ln>
              <a:effectLst/>
              <a:extLst/>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4346" name="Object 10"/>
              <p:cNvSpPr txBox="1"/>
              <p:nvPr/>
            </p:nvSpPr>
            <p:spPr bwMode="auto">
              <a:xfrm>
                <a:off x="3826584" y="5075892"/>
                <a:ext cx="1897544" cy="369888"/>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r>
                        <a:rPr lang="es-AR" sz="2000" i="1">
                          <a:solidFill>
                            <a:srgbClr val="000000"/>
                          </a:solidFill>
                          <a:latin typeface="Cambria Math" panose="02040503050406030204" pitchFamily="18" charset="0"/>
                        </a:rPr>
                        <m:t>13⋅48=624</m:t>
                      </m:r>
                    </m:oMath>
                  </m:oMathPara>
                </a14:m>
                <a:endParaRPr lang="es-AR" sz="2000" dirty="0"/>
              </a:p>
            </p:txBody>
          </p:sp>
        </mc:Choice>
        <mc:Fallback xmlns="">
          <p:sp>
            <p:nvSpPr>
              <p:cNvPr id="14346" name="Object 10"/>
              <p:cNvSpPr txBox="1">
                <a:spLocks noRot="1" noChangeAspect="1" noMove="1" noResize="1" noEditPoints="1" noAdjustHandles="1" noChangeArrowheads="1" noChangeShapeType="1" noTextEdit="1"/>
              </p:cNvSpPr>
              <p:nvPr/>
            </p:nvSpPr>
            <p:spPr bwMode="auto">
              <a:xfrm>
                <a:off x="3826584" y="5075892"/>
                <a:ext cx="1897544" cy="369888"/>
              </a:xfrm>
              <a:prstGeom prst="rect">
                <a:avLst/>
              </a:prstGeom>
              <a:blipFill>
                <a:blip r:embed="rId4"/>
                <a:stretch>
                  <a:fillRect b="-3333"/>
                </a:stretch>
              </a:blipFill>
              <a:ln>
                <a:noFill/>
              </a:ln>
              <a:extLst/>
            </p:spPr>
            <p:txBody>
              <a:bodyPr/>
              <a:lstStyle/>
              <a:p>
                <a:r>
                  <a:rPr lang="es-AR">
                    <a:noFill/>
                  </a:rPr>
                  <a:t> </a:t>
                </a:r>
              </a:p>
            </p:txBody>
          </p:sp>
        </mc:Fallback>
      </mc:AlternateContent>
      <p:sp>
        <p:nvSpPr>
          <p:cNvPr id="14347" name="Text Box 11"/>
          <p:cNvSpPr txBox="1">
            <a:spLocks noChangeArrowheads="1"/>
          </p:cNvSpPr>
          <p:nvPr/>
        </p:nvSpPr>
        <p:spPr bwMode="auto">
          <a:xfrm>
            <a:off x="1447800" y="3821658"/>
            <a:ext cx="7010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endParaRPr lang="es-ES" altLang="en-US" sz="1400"/>
          </a:p>
        </p:txBody>
      </p:sp>
      <p:sp>
        <p:nvSpPr>
          <p:cNvPr id="14348" name="Text Box 12"/>
          <p:cNvSpPr txBox="1">
            <a:spLocks noChangeArrowheads="1"/>
          </p:cNvSpPr>
          <p:nvPr/>
        </p:nvSpPr>
        <p:spPr bwMode="auto">
          <a:xfrm>
            <a:off x="1227138" y="3789040"/>
            <a:ext cx="7459662"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50000"/>
              </a:spcBef>
              <a:buFontTx/>
              <a:buNone/>
            </a:pPr>
            <a:r>
              <a:rPr lang="es-MX" altLang="en-US" sz="2000" dirty="0">
                <a:latin typeface="Arial" panose="020B0604020202020204" pitchFamily="34" charset="0"/>
              </a:rPr>
              <a:t>Como hay 13 cartas en cada palo entonces hay 13 cuartetos. Una vez elegido uno de ellos quedan 48 cartas posibles para la quinta restante.</a:t>
            </a:r>
            <a:endParaRPr lang="en-US" altLang="en-US" sz="2000" dirty="0">
              <a:latin typeface="Arial" panose="020B0604020202020204" pitchFamily="34" charset="0"/>
            </a:endParaRPr>
          </a:p>
        </p:txBody>
      </p:sp>
      <p:sp>
        <p:nvSpPr>
          <p:cNvPr id="16" name="Rectangle 2"/>
          <p:cNvSpPr>
            <a:spLocks noGrp="1" noChangeArrowheads="1"/>
          </p:cNvSpPr>
          <p:nvPr>
            <p:ph type="title"/>
          </p:nvPr>
        </p:nvSpPr>
        <p:spPr>
          <a:xfrm>
            <a:off x="1066800" y="384048"/>
            <a:ext cx="7620000" cy="1166942"/>
          </a:xfrm>
        </p:spPr>
        <p:txBody>
          <a:bodyPr/>
          <a:lstStyle/>
          <a:p>
            <a:pPr eaLnBrk="1" hangingPunct="1"/>
            <a:r>
              <a:rPr lang="es-MX" altLang="en-US" sz="3200" b="1" dirty="0">
                <a:solidFill>
                  <a:srgbClr val="000000"/>
                </a:solidFill>
                <a:latin typeface="Broadway" panose="04040905080B02020502" pitchFamily="82" charset="0"/>
              </a:rPr>
              <a:t>Regla de Laplace</a:t>
            </a:r>
            <a:br>
              <a:rPr lang="es-MX" altLang="en-US" sz="3200" b="1" dirty="0">
                <a:solidFill>
                  <a:srgbClr val="221304"/>
                </a:solidFill>
                <a:latin typeface="Copperplate Gothic Bold" panose="020E0705020206020404" pitchFamily="34" charset="0"/>
              </a:rPr>
            </a:br>
            <a:r>
              <a:rPr lang="es-MX" altLang="en-US" sz="3200" b="1" dirty="0">
                <a:solidFill>
                  <a:srgbClr val="221304"/>
                </a:solidFill>
                <a:latin typeface="Broadway" panose="04040905080B02020502" pitchFamily="82" charset="0"/>
              </a:rPr>
              <a:t>Póker en una mano</a:t>
            </a:r>
            <a:endParaRPr lang="en-US" altLang="en-US" sz="1800" b="1" dirty="0">
              <a:latin typeface="Copperplate Gothic Bold" panose="020E07050202060204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434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14345"/>
                                        </p:tgtEl>
                                        <p:attrNameLst>
                                          <p:attrName>style.visibility</p:attrName>
                                        </p:attrNameLst>
                                      </p:cBhvr>
                                      <p:to>
                                        <p:strVal val="visible"/>
                                      </p:to>
                                    </p:set>
                                    <p:anim calcmode="lin" valueType="num">
                                      <p:cBhvr additive="base">
                                        <p:cTn id="11" dur="500" fill="hold"/>
                                        <p:tgtEl>
                                          <p:spTgt spid="14345"/>
                                        </p:tgtEl>
                                        <p:attrNameLst>
                                          <p:attrName>ppt_x</p:attrName>
                                        </p:attrNameLst>
                                      </p:cBhvr>
                                      <p:tavLst>
                                        <p:tav tm="0">
                                          <p:val>
                                            <p:strVal val="#ppt_x"/>
                                          </p:val>
                                        </p:tav>
                                        <p:tav tm="100000">
                                          <p:val>
                                            <p:strVal val="#ppt_x"/>
                                          </p:val>
                                        </p:tav>
                                      </p:tavLst>
                                    </p:anim>
                                    <p:anim calcmode="lin" valueType="num">
                                      <p:cBhvr additive="base">
                                        <p:cTn id="12" dur="500" fill="hold"/>
                                        <p:tgtEl>
                                          <p:spTgt spid="14345"/>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14348"/>
                                        </p:tgtEl>
                                        <p:attrNameLst>
                                          <p:attrName>style.visibility</p:attrName>
                                        </p:attrNameLst>
                                      </p:cBhvr>
                                      <p:to>
                                        <p:strVal val="visible"/>
                                      </p:to>
                                    </p:set>
                                    <p:anim calcmode="lin" valueType="num">
                                      <p:cBhvr additive="base">
                                        <p:cTn id="17" dur="500" fill="hold"/>
                                        <p:tgtEl>
                                          <p:spTgt spid="14348"/>
                                        </p:tgtEl>
                                        <p:attrNameLst>
                                          <p:attrName>ppt_x</p:attrName>
                                        </p:attrNameLst>
                                      </p:cBhvr>
                                      <p:tavLst>
                                        <p:tav tm="0">
                                          <p:val>
                                            <p:strVal val="1+#ppt_w/2"/>
                                          </p:val>
                                        </p:tav>
                                        <p:tav tm="100000">
                                          <p:val>
                                            <p:strVal val="#ppt_x"/>
                                          </p:val>
                                        </p:tav>
                                      </p:tavLst>
                                    </p:anim>
                                    <p:anim calcmode="lin" valueType="num">
                                      <p:cBhvr additive="base">
                                        <p:cTn id="18" dur="500" fill="hold"/>
                                        <p:tgtEl>
                                          <p:spTgt spid="14348"/>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434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4346"/>
                                        </p:tgtEl>
                                        <p:attrNameLst>
                                          <p:attrName>style.visibility</p:attrName>
                                        </p:attrNameLst>
                                      </p:cBhvr>
                                      <p:to>
                                        <p:strVal val="visible"/>
                                      </p:to>
                                    </p:set>
                                    <p:anim calcmode="lin" valueType="num">
                                      <p:cBhvr additive="base">
                                        <p:cTn id="27" dur="500" fill="hold"/>
                                        <p:tgtEl>
                                          <p:spTgt spid="14346"/>
                                        </p:tgtEl>
                                        <p:attrNameLst>
                                          <p:attrName>ppt_x</p:attrName>
                                        </p:attrNameLst>
                                      </p:cBhvr>
                                      <p:tavLst>
                                        <p:tav tm="0">
                                          <p:val>
                                            <p:strVal val="#ppt_x"/>
                                          </p:val>
                                        </p:tav>
                                        <p:tav tm="100000">
                                          <p:val>
                                            <p:strVal val="#ppt_x"/>
                                          </p:val>
                                        </p:tav>
                                      </p:tavLst>
                                    </p:anim>
                                    <p:anim calcmode="lin" valueType="num">
                                      <p:cBhvr additive="base">
                                        <p:cTn id="28" dur="500" fill="hold"/>
                                        <p:tgtEl>
                                          <p:spTgt spid="14346"/>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4" presetClass="entr" presetSubtype="10" fill="hold" grpId="0" nodeType="clickEffect">
                                  <p:stCondLst>
                                    <p:cond delay="0"/>
                                  </p:stCondLst>
                                  <p:childTnLst>
                                    <p:set>
                                      <p:cBhvr>
                                        <p:cTn id="32" dur="1" fill="hold">
                                          <p:stCondLst>
                                            <p:cond delay="0"/>
                                          </p:stCondLst>
                                        </p:cTn>
                                        <p:tgtEl>
                                          <p:spTgt spid="14344"/>
                                        </p:tgtEl>
                                        <p:attrNameLst>
                                          <p:attrName>style.visibility</p:attrName>
                                        </p:attrNameLst>
                                      </p:cBhvr>
                                      <p:to>
                                        <p:strVal val="visible"/>
                                      </p:to>
                                    </p:set>
                                    <p:animEffect transition="in" filter="randombar(horizontal)">
                                      <p:cBhvr>
                                        <p:cTn id="33" dur="500"/>
                                        <p:tgtEl>
                                          <p:spTgt spid="143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0" grpId="0" autoUpdateAnimBg="0"/>
      <p:bldP spid="14342" grpId="0" autoUpdateAnimBg="0"/>
      <p:bldP spid="14344" grpId="0"/>
      <p:bldP spid="14345" grpId="0"/>
      <p:bldP spid="14346" grpId="0"/>
      <p:bldP spid="14348"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Text Box 3"/>
          <p:cNvSpPr txBox="1">
            <a:spLocks noChangeArrowheads="1"/>
          </p:cNvSpPr>
          <p:nvPr/>
        </p:nvSpPr>
        <p:spPr bwMode="auto">
          <a:xfrm>
            <a:off x="1273721" y="1768474"/>
            <a:ext cx="739140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50000"/>
              </a:spcBef>
              <a:buFontTx/>
              <a:buNone/>
            </a:pPr>
            <a:r>
              <a:rPr lang="es-MX" altLang="en-US" sz="2000" dirty="0">
                <a:latin typeface="Arial" panose="020B0604020202020204" pitchFamily="34" charset="0"/>
              </a:rPr>
              <a:t>Calcular la probabilidad de que en una reunión de </a:t>
            </a:r>
            <a:r>
              <a:rPr lang="es-MX" altLang="en-US" sz="2000" i="1" dirty="0">
                <a:latin typeface="Arial" panose="020B0604020202020204" pitchFamily="34" charset="0"/>
              </a:rPr>
              <a:t>n</a:t>
            </a:r>
            <a:r>
              <a:rPr lang="es-MX" altLang="en-US" sz="2000" dirty="0">
                <a:latin typeface="Arial" panose="020B0604020202020204" pitchFamily="34" charset="0"/>
              </a:rPr>
              <a:t> personas elegidas al azar al menos dos tengan la misma fecha de cumpleaños.</a:t>
            </a:r>
            <a:endParaRPr lang="en-US" altLang="en-US" sz="2000" dirty="0">
              <a:latin typeface="Arial" panose="020B0604020202020204" pitchFamily="34" charset="0"/>
            </a:endParaRPr>
          </a:p>
        </p:txBody>
      </p:sp>
      <p:sp>
        <p:nvSpPr>
          <p:cNvPr id="15364" name="Text Box 4"/>
          <p:cNvSpPr txBox="1">
            <a:spLocks noChangeArrowheads="1"/>
          </p:cNvSpPr>
          <p:nvPr/>
        </p:nvSpPr>
        <p:spPr bwMode="auto">
          <a:xfrm>
            <a:off x="1282899" y="3146400"/>
            <a:ext cx="21336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s-MX" altLang="en-US" sz="1800" dirty="0">
                <a:latin typeface="Broadway" panose="04040905080B02020502" pitchFamily="82" charset="0"/>
              </a:rPr>
              <a:t>Casos posibles </a:t>
            </a:r>
            <a:endParaRPr lang="en-US" altLang="en-US" sz="1800" dirty="0">
              <a:latin typeface="Broadway" panose="04040905080B02020502" pitchFamily="82" charset="0"/>
            </a:endParaRPr>
          </a:p>
        </p:txBody>
      </p:sp>
      <p:sp>
        <p:nvSpPr>
          <p:cNvPr id="15366" name="Text Box 6"/>
          <p:cNvSpPr txBox="1">
            <a:spLocks noChangeArrowheads="1"/>
          </p:cNvSpPr>
          <p:nvPr/>
        </p:nvSpPr>
        <p:spPr bwMode="auto">
          <a:xfrm>
            <a:off x="1371600" y="4851127"/>
            <a:ext cx="24384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eaLnBrk="1" hangingPunct="1">
              <a:spcBef>
                <a:spcPct val="50000"/>
              </a:spcBef>
              <a:buFontTx/>
              <a:buNone/>
              <a:defRPr sz="1800">
                <a:latin typeface="Broadway" panose="04040905080B02020502" pitchFamily="82" charset="0"/>
              </a:defRPr>
            </a:lvl1pPr>
            <a:lvl2pPr marL="742950" indent="-285750">
              <a:spcBef>
                <a:spcPct val="20000"/>
              </a:spcBef>
              <a:buChar char="–"/>
              <a:defRPr sz="2800"/>
            </a:lvl2pPr>
            <a:lvl3pPr marL="1143000" indent="-228600">
              <a:spcBef>
                <a:spcPct val="20000"/>
              </a:spcBef>
              <a:buChar char="•"/>
            </a:lvl3pPr>
            <a:lvl4pPr marL="1600200" indent="-228600">
              <a:spcBef>
                <a:spcPct val="20000"/>
              </a:spcBef>
              <a:buChar char="–"/>
              <a:defRPr sz="2000"/>
            </a:lvl4pPr>
            <a:lvl5pPr marL="2057400" indent="-228600">
              <a:spcBef>
                <a:spcPct val="20000"/>
              </a:spcBef>
              <a:buChar char="»"/>
              <a:defRPr sz="2000"/>
            </a:lvl5pPr>
            <a:lvl6pPr marL="2514600" indent="-228600" eaLnBrk="0" fontAlgn="base" hangingPunct="0">
              <a:spcBef>
                <a:spcPct val="20000"/>
              </a:spcBef>
              <a:spcAft>
                <a:spcPct val="0"/>
              </a:spcAft>
              <a:buChar char="»"/>
              <a:defRPr sz="2000"/>
            </a:lvl6pPr>
            <a:lvl7pPr marL="2971800" indent="-228600" eaLnBrk="0" fontAlgn="base" hangingPunct="0">
              <a:spcBef>
                <a:spcPct val="20000"/>
              </a:spcBef>
              <a:spcAft>
                <a:spcPct val="0"/>
              </a:spcAft>
              <a:buChar char="»"/>
              <a:defRPr sz="2000"/>
            </a:lvl7pPr>
            <a:lvl8pPr marL="3429000" indent="-228600" eaLnBrk="0" fontAlgn="base" hangingPunct="0">
              <a:spcBef>
                <a:spcPct val="20000"/>
              </a:spcBef>
              <a:spcAft>
                <a:spcPct val="0"/>
              </a:spcAft>
              <a:buChar char="»"/>
              <a:defRPr sz="2000"/>
            </a:lvl8pPr>
            <a:lvl9pPr marL="3886200" indent="-228600" eaLnBrk="0" fontAlgn="base" hangingPunct="0">
              <a:spcBef>
                <a:spcPct val="20000"/>
              </a:spcBef>
              <a:spcAft>
                <a:spcPct val="0"/>
              </a:spcAft>
              <a:buChar char="»"/>
              <a:defRPr sz="2000"/>
            </a:lvl9pPr>
          </a:lstStyle>
          <a:p>
            <a:r>
              <a:rPr lang="es-MX" altLang="en-US"/>
              <a:t>Casos </a:t>
            </a:r>
            <a:r>
              <a:rPr lang="es-MX" altLang="en-US" dirty="0"/>
              <a:t>favorables</a:t>
            </a:r>
            <a:endParaRPr lang="en-US" altLang="en-US" dirty="0"/>
          </a:p>
        </p:txBody>
      </p:sp>
      <mc:AlternateContent xmlns:mc="http://schemas.openxmlformats.org/markup-compatibility/2006" xmlns:a14="http://schemas.microsoft.com/office/drawing/2010/main">
        <mc:Choice Requires="a14">
          <p:sp>
            <p:nvSpPr>
              <p:cNvPr id="15368" name="Object 8"/>
              <p:cNvSpPr txBox="1"/>
              <p:nvPr/>
            </p:nvSpPr>
            <p:spPr bwMode="auto">
              <a:xfrm>
                <a:off x="2347913" y="5589588"/>
                <a:ext cx="5170487" cy="962025"/>
              </a:xfrm>
              <a:prstGeom prst="rect">
                <a:avLst/>
              </a:prstGeom>
              <a:noFill/>
              <a:ln>
                <a:noFill/>
              </a:ln>
              <a:effectLst/>
            </p:spPr>
            <p:txBody>
              <a:bodyPr>
                <a:normAutofit fontScale="92500"/>
              </a:bodyPr>
              <a:lstStyle/>
              <a:p>
                <a:pPr/>
                <a14:m>
                  <m:oMathPara xmlns:m="http://schemas.openxmlformats.org/officeDocument/2006/math">
                    <m:oMathParaPr>
                      <m:jc m:val="left"/>
                    </m:oMathParaPr>
                    <m:oMath xmlns:m="http://schemas.openxmlformats.org/officeDocument/2006/math">
                      <m:sSub>
                        <m:sSubPr>
                          <m:ctrlPr>
                            <a:rPr lang="es-AR" i="1">
                              <a:solidFill>
                                <a:srgbClr val="000000"/>
                              </a:solidFill>
                              <a:latin typeface="Cambria Math" panose="02040503050406030204" pitchFamily="18" charset="0"/>
                            </a:rPr>
                          </m:ctrlPr>
                        </m:sSubPr>
                        <m:e>
                          <m:r>
                            <m:rPr>
                              <m:sty m:val="p"/>
                            </m:rPr>
                            <a:rPr lang="es-AR" i="0">
                              <a:solidFill>
                                <a:srgbClr val="000000"/>
                              </a:solidFill>
                              <a:latin typeface="Cambria Math" panose="02040503050406030204" pitchFamily="18" charset="0"/>
                            </a:rPr>
                            <m:t>P</m:t>
                          </m:r>
                        </m:e>
                        <m:sub>
                          <m:r>
                            <a:rPr lang="es-AR" i="1">
                              <a:solidFill>
                                <a:srgbClr val="000000"/>
                              </a:solidFill>
                              <a:latin typeface="Cambria Math" panose="02040503050406030204" pitchFamily="18" charset="0"/>
                            </a:rPr>
                            <m:t>𝑛</m:t>
                          </m:r>
                        </m:sub>
                      </m:sSub>
                      <m:r>
                        <a:rPr lang="es-AR" i="1">
                          <a:solidFill>
                            <a:srgbClr val="000000"/>
                          </a:solidFill>
                          <a:latin typeface="Cambria Math" panose="02040503050406030204" pitchFamily="18" charset="0"/>
                        </a:rPr>
                        <m:t>=1−</m:t>
                      </m:r>
                      <m:f>
                        <m:fPr>
                          <m:ctrlPr>
                            <a:rPr lang="es-AR" i="1">
                              <a:solidFill>
                                <a:srgbClr val="000000"/>
                              </a:solidFill>
                              <a:latin typeface="Cambria Math" panose="02040503050406030204" pitchFamily="18" charset="0"/>
                            </a:rPr>
                          </m:ctrlPr>
                        </m:fPr>
                        <m:num>
                          <m:r>
                            <a:rPr lang="es-AR" i="1">
                              <a:solidFill>
                                <a:srgbClr val="000000"/>
                              </a:solidFill>
                              <a:latin typeface="Cambria Math" panose="02040503050406030204" pitchFamily="18" charset="0"/>
                            </a:rPr>
                            <m:t>365⋅364⋅…(365−(</m:t>
                          </m:r>
                          <m:r>
                            <a:rPr lang="es-AR" i="1">
                              <a:solidFill>
                                <a:srgbClr val="000000"/>
                              </a:solidFill>
                              <a:latin typeface="Cambria Math" panose="02040503050406030204" pitchFamily="18" charset="0"/>
                            </a:rPr>
                            <m:t>𝑛</m:t>
                          </m:r>
                          <m:r>
                            <a:rPr lang="es-AR" i="1">
                              <a:solidFill>
                                <a:srgbClr val="000000"/>
                              </a:solidFill>
                              <a:latin typeface="Cambria Math" panose="02040503050406030204" pitchFamily="18" charset="0"/>
                            </a:rPr>
                            <m:t>−1))</m:t>
                          </m:r>
                        </m:num>
                        <m:den>
                          <m:r>
                            <a:rPr lang="es-AR" i="1">
                              <a:solidFill>
                                <a:srgbClr val="000000"/>
                              </a:solidFill>
                              <a:latin typeface="Cambria Math" panose="02040503050406030204" pitchFamily="18" charset="0"/>
                            </a:rPr>
                            <m:t>36</m:t>
                          </m:r>
                          <m:sSup>
                            <m:sSupPr>
                              <m:ctrlPr>
                                <a:rPr lang="es-AR" i="1">
                                  <a:solidFill>
                                    <a:srgbClr val="000000"/>
                                  </a:solidFill>
                                  <a:latin typeface="Cambria Math" panose="02040503050406030204" pitchFamily="18" charset="0"/>
                                </a:rPr>
                              </m:ctrlPr>
                            </m:sSupPr>
                            <m:e>
                              <m:r>
                                <a:rPr lang="es-AR" i="1">
                                  <a:solidFill>
                                    <a:srgbClr val="000000"/>
                                  </a:solidFill>
                                  <a:latin typeface="Cambria Math" panose="02040503050406030204" pitchFamily="18" charset="0"/>
                                </a:rPr>
                                <m:t>5</m:t>
                              </m:r>
                            </m:e>
                            <m:sup>
                              <m:r>
                                <a:rPr lang="es-AR" i="1">
                                  <a:solidFill>
                                    <a:srgbClr val="000000"/>
                                  </a:solidFill>
                                  <a:latin typeface="Cambria Math" panose="02040503050406030204" pitchFamily="18" charset="0"/>
                                </a:rPr>
                                <m:t>𝑛</m:t>
                              </m:r>
                            </m:sup>
                          </m:sSup>
                        </m:den>
                      </m:f>
                    </m:oMath>
                  </m:oMathPara>
                </a14:m>
                <a:endParaRPr lang="es-AR" dirty="0"/>
              </a:p>
            </p:txBody>
          </p:sp>
        </mc:Choice>
        <mc:Fallback xmlns="">
          <p:sp>
            <p:nvSpPr>
              <p:cNvPr id="15368" name="Object 8"/>
              <p:cNvSpPr txBox="1">
                <a:spLocks noRot="1" noChangeAspect="1" noMove="1" noResize="1" noEditPoints="1" noAdjustHandles="1" noChangeArrowheads="1" noChangeShapeType="1" noTextEdit="1"/>
              </p:cNvSpPr>
              <p:nvPr/>
            </p:nvSpPr>
            <p:spPr bwMode="auto">
              <a:xfrm>
                <a:off x="2347913" y="5589588"/>
                <a:ext cx="5170487" cy="962025"/>
              </a:xfrm>
              <a:prstGeom prst="rect">
                <a:avLst/>
              </a:prstGeom>
              <a:blipFill>
                <a:blip r:embed="rId2"/>
                <a:stretch>
                  <a:fillRect/>
                </a:stretch>
              </a:blipFill>
              <a:ln>
                <a:noFill/>
              </a:ln>
              <a:effectLst/>
              <a:extLst/>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5369" name="Object 9"/>
              <p:cNvSpPr txBox="1"/>
              <p:nvPr/>
            </p:nvSpPr>
            <p:spPr bwMode="auto">
              <a:xfrm>
                <a:off x="3530600" y="3121000"/>
                <a:ext cx="609600" cy="38735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s-AR" sz="2000" i="1">
                          <a:solidFill>
                            <a:srgbClr val="000000"/>
                          </a:solidFill>
                          <a:latin typeface="Cambria Math" panose="02040503050406030204" pitchFamily="18" charset="0"/>
                        </a:rPr>
                        <m:t>36</m:t>
                      </m:r>
                      <m:sSup>
                        <m:sSupPr>
                          <m:ctrlPr>
                            <a:rPr lang="es-AR" sz="2000" i="1">
                              <a:solidFill>
                                <a:srgbClr val="000000"/>
                              </a:solidFill>
                              <a:latin typeface="Cambria Math" panose="02040503050406030204" pitchFamily="18" charset="0"/>
                            </a:rPr>
                          </m:ctrlPr>
                        </m:sSupPr>
                        <m:e>
                          <m:r>
                            <a:rPr lang="es-AR" sz="2000" i="1">
                              <a:solidFill>
                                <a:srgbClr val="000000"/>
                              </a:solidFill>
                              <a:latin typeface="Cambria Math" panose="02040503050406030204" pitchFamily="18" charset="0"/>
                            </a:rPr>
                            <m:t>5</m:t>
                          </m:r>
                        </m:e>
                        <m:sup>
                          <m:r>
                            <a:rPr lang="es-AR" sz="2000" i="1">
                              <a:solidFill>
                                <a:srgbClr val="000000"/>
                              </a:solidFill>
                              <a:latin typeface="Cambria Math" panose="02040503050406030204" pitchFamily="18" charset="0"/>
                            </a:rPr>
                            <m:t>𝑛</m:t>
                          </m:r>
                        </m:sup>
                      </m:sSup>
                    </m:oMath>
                  </m:oMathPara>
                </a14:m>
                <a:endParaRPr lang="es-AR" sz="2000" dirty="0"/>
              </a:p>
            </p:txBody>
          </p:sp>
        </mc:Choice>
        <mc:Fallback xmlns="">
          <p:sp>
            <p:nvSpPr>
              <p:cNvPr id="15369" name="Object 9"/>
              <p:cNvSpPr txBox="1">
                <a:spLocks noRot="1" noChangeAspect="1" noMove="1" noResize="1" noEditPoints="1" noAdjustHandles="1" noChangeArrowheads="1" noChangeShapeType="1" noTextEdit="1"/>
              </p:cNvSpPr>
              <p:nvPr/>
            </p:nvSpPr>
            <p:spPr bwMode="auto">
              <a:xfrm>
                <a:off x="3530600" y="3121000"/>
                <a:ext cx="609600" cy="387350"/>
              </a:xfrm>
              <a:prstGeom prst="rect">
                <a:avLst/>
              </a:prstGeom>
              <a:blipFill>
                <a:blip r:embed="rId3"/>
                <a:stretch>
                  <a:fillRect r="-12000"/>
                </a:stretch>
              </a:blipFill>
              <a:ln>
                <a:noFill/>
              </a:ln>
              <a:effectLst/>
              <a:extLst/>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5370" name="Object 10"/>
              <p:cNvSpPr txBox="1"/>
              <p:nvPr/>
            </p:nvSpPr>
            <p:spPr bwMode="auto">
              <a:xfrm>
                <a:off x="4140200" y="4813543"/>
                <a:ext cx="4457700" cy="4445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s-AR" sz="2000" i="1">
                          <a:solidFill>
                            <a:srgbClr val="000000"/>
                          </a:solidFill>
                          <a:latin typeface="Cambria Math" panose="02040503050406030204" pitchFamily="18" charset="0"/>
                        </a:rPr>
                        <m:t>36</m:t>
                      </m:r>
                      <m:sSup>
                        <m:sSupPr>
                          <m:ctrlPr>
                            <a:rPr lang="es-AR" sz="2000" i="1">
                              <a:solidFill>
                                <a:srgbClr val="000000"/>
                              </a:solidFill>
                              <a:latin typeface="Cambria Math" panose="02040503050406030204" pitchFamily="18" charset="0"/>
                            </a:rPr>
                          </m:ctrlPr>
                        </m:sSupPr>
                        <m:e>
                          <m:r>
                            <a:rPr lang="es-AR" sz="2000" i="1">
                              <a:solidFill>
                                <a:srgbClr val="000000"/>
                              </a:solidFill>
                              <a:latin typeface="Cambria Math" panose="02040503050406030204" pitchFamily="18" charset="0"/>
                            </a:rPr>
                            <m:t>5</m:t>
                          </m:r>
                        </m:e>
                        <m:sup>
                          <m:r>
                            <a:rPr lang="es-AR" sz="2000" i="1">
                              <a:solidFill>
                                <a:srgbClr val="000000"/>
                              </a:solidFill>
                              <a:latin typeface="Cambria Math" panose="02040503050406030204" pitchFamily="18" charset="0"/>
                            </a:rPr>
                            <m:t>𝑛</m:t>
                          </m:r>
                        </m:sup>
                      </m:sSup>
                      <m:r>
                        <a:rPr lang="es-AR" sz="2000" i="1">
                          <a:solidFill>
                            <a:srgbClr val="000000"/>
                          </a:solidFill>
                          <a:latin typeface="Cambria Math" panose="02040503050406030204" pitchFamily="18" charset="0"/>
                        </a:rPr>
                        <m:t>−365⋅364⋅…(365−(</m:t>
                      </m:r>
                      <m:r>
                        <a:rPr lang="es-AR" sz="2000" i="1">
                          <a:solidFill>
                            <a:srgbClr val="000000"/>
                          </a:solidFill>
                          <a:latin typeface="Cambria Math" panose="02040503050406030204" pitchFamily="18" charset="0"/>
                        </a:rPr>
                        <m:t>𝑛</m:t>
                      </m:r>
                      <m:r>
                        <a:rPr lang="es-AR" sz="2000" i="1">
                          <a:solidFill>
                            <a:srgbClr val="000000"/>
                          </a:solidFill>
                          <a:latin typeface="Cambria Math" panose="02040503050406030204" pitchFamily="18" charset="0"/>
                        </a:rPr>
                        <m:t>−1))</m:t>
                      </m:r>
                    </m:oMath>
                  </m:oMathPara>
                </a14:m>
                <a:endParaRPr lang="es-AR" sz="2000" dirty="0"/>
              </a:p>
            </p:txBody>
          </p:sp>
        </mc:Choice>
        <mc:Fallback xmlns="">
          <p:sp>
            <p:nvSpPr>
              <p:cNvPr id="15370" name="Object 10"/>
              <p:cNvSpPr txBox="1">
                <a:spLocks noRot="1" noChangeAspect="1" noMove="1" noResize="1" noEditPoints="1" noAdjustHandles="1" noChangeArrowheads="1" noChangeShapeType="1" noTextEdit="1"/>
              </p:cNvSpPr>
              <p:nvPr/>
            </p:nvSpPr>
            <p:spPr bwMode="auto">
              <a:xfrm>
                <a:off x="4140200" y="4813543"/>
                <a:ext cx="4457700" cy="444500"/>
              </a:xfrm>
              <a:prstGeom prst="rect">
                <a:avLst/>
              </a:prstGeom>
              <a:blipFill>
                <a:blip r:embed="rId4"/>
                <a:stretch>
                  <a:fillRect b="-4110"/>
                </a:stretch>
              </a:blipFill>
              <a:ln>
                <a:noFill/>
              </a:ln>
              <a:effectLst/>
              <a:extLst/>
            </p:spPr>
            <p:txBody>
              <a:bodyPr/>
              <a:lstStyle/>
              <a:p>
                <a:r>
                  <a:rPr lang="es-AR">
                    <a:noFill/>
                  </a:rPr>
                  <a:t> </a:t>
                </a:r>
              </a:p>
            </p:txBody>
          </p:sp>
        </mc:Fallback>
      </mc:AlternateContent>
      <p:sp>
        <p:nvSpPr>
          <p:cNvPr id="15372" name="Text Box 12"/>
          <p:cNvSpPr txBox="1">
            <a:spLocks noChangeArrowheads="1"/>
          </p:cNvSpPr>
          <p:nvPr/>
        </p:nvSpPr>
        <p:spPr bwMode="auto">
          <a:xfrm>
            <a:off x="1382935" y="4114789"/>
            <a:ext cx="729352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s-MX" altLang="en-US" sz="1800" dirty="0">
                <a:latin typeface="Arial" panose="020B0604020202020204" pitchFamily="34" charset="0"/>
              </a:rPr>
              <a:t>Conviene analizar el caso en que todos los cumpleaños son distintos. </a:t>
            </a:r>
            <a:endParaRPr lang="en-US" altLang="en-US" sz="1800" dirty="0">
              <a:latin typeface="Arial" panose="020B0604020202020204" pitchFamily="34" charset="0"/>
            </a:endParaRPr>
          </a:p>
        </p:txBody>
      </p:sp>
      <p:sp>
        <p:nvSpPr>
          <p:cNvPr id="15373" name="Text Box 13"/>
          <p:cNvSpPr txBox="1">
            <a:spLocks noChangeArrowheads="1"/>
          </p:cNvSpPr>
          <p:nvPr/>
        </p:nvSpPr>
        <p:spPr bwMode="auto">
          <a:xfrm>
            <a:off x="4419600" y="2781275"/>
            <a:ext cx="42672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50000"/>
              </a:spcBef>
              <a:buFontTx/>
              <a:buNone/>
            </a:pPr>
            <a:r>
              <a:rPr lang="es-MX" altLang="en-US" sz="1800" dirty="0">
                <a:latin typeface="Arial" panose="020B0604020202020204" pitchFamily="34" charset="0"/>
              </a:rPr>
              <a:t>Suponga que todos los días son igualmente probables y que por supuesto pueden repetirse los cumpleaños. </a:t>
            </a:r>
            <a:endParaRPr lang="en-US" altLang="en-US" sz="1800" dirty="0">
              <a:latin typeface="Arial" panose="020B0604020202020204" pitchFamily="34" charset="0"/>
            </a:endParaRPr>
          </a:p>
        </p:txBody>
      </p:sp>
      <p:sp>
        <p:nvSpPr>
          <p:cNvPr id="15" name="Rectangle 2"/>
          <p:cNvSpPr txBox="1">
            <a:spLocks noChangeArrowheads="1"/>
          </p:cNvSpPr>
          <p:nvPr/>
        </p:nvSpPr>
        <p:spPr bwMode="auto">
          <a:xfrm>
            <a:off x="1066800" y="355599"/>
            <a:ext cx="7620000" cy="1216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a:lstStyle>
          <a:p>
            <a:pPr eaLnBrk="1" hangingPunct="1"/>
            <a:r>
              <a:rPr lang="es-MX" altLang="en-US" sz="3200" b="1" dirty="0">
                <a:latin typeface="Broadway" panose="04040905080B02020502" pitchFamily="82" charset="0"/>
              </a:rPr>
              <a:t>Regla de Laplace</a:t>
            </a:r>
          </a:p>
          <a:p>
            <a:pPr eaLnBrk="1" hangingPunct="1"/>
            <a:r>
              <a:rPr lang="en-US" altLang="en-US" sz="3200" b="1" dirty="0">
                <a:latin typeface="Broadway" panose="04040905080B02020502" pitchFamily="82" charset="0"/>
              </a:rPr>
              <a:t>Un </a:t>
            </a:r>
            <a:r>
              <a:rPr lang="en-US" altLang="en-US" sz="3200" b="1" dirty="0" err="1">
                <a:latin typeface="Broadway" panose="04040905080B02020502" pitchFamily="82" charset="0"/>
              </a:rPr>
              <a:t>problema</a:t>
            </a:r>
            <a:r>
              <a:rPr lang="en-US" altLang="en-US" sz="3200" b="1" dirty="0">
                <a:latin typeface="Broadway" panose="04040905080B02020502" pitchFamily="82" charset="0"/>
              </a:rPr>
              <a:t> de </a:t>
            </a:r>
            <a:r>
              <a:rPr lang="en-US" altLang="en-US" sz="3200" b="1" dirty="0" err="1">
                <a:latin typeface="Broadway" panose="04040905080B02020502" pitchFamily="82" charset="0"/>
              </a:rPr>
              <a:t>cumpleaños</a:t>
            </a:r>
            <a:endParaRPr lang="en-US" altLang="en-US" sz="3200" b="1" dirty="0">
              <a:latin typeface="Broadway" panose="04040905080B02020502" pitchFamily="8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537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536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15369"/>
                                        </p:tgtEl>
                                        <p:attrNameLst>
                                          <p:attrName>style.visibility</p:attrName>
                                        </p:attrNameLst>
                                      </p:cBhvr>
                                      <p:to>
                                        <p:strVal val="visible"/>
                                      </p:to>
                                    </p:set>
                                    <p:anim calcmode="lin" valueType="num">
                                      <p:cBhvr additive="base">
                                        <p:cTn id="15" dur="500" fill="hold"/>
                                        <p:tgtEl>
                                          <p:spTgt spid="15369"/>
                                        </p:tgtEl>
                                        <p:attrNameLst>
                                          <p:attrName>ppt_x</p:attrName>
                                        </p:attrNameLst>
                                      </p:cBhvr>
                                      <p:tavLst>
                                        <p:tav tm="0">
                                          <p:val>
                                            <p:strVal val="#ppt_x"/>
                                          </p:val>
                                        </p:tav>
                                        <p:tav tm="100000">
                                          <p:val>
                                            <p:strVal val="#ppt_x"/>
                                          </p:val>
                                        </p:tav>
                                      </p:tavLst>
                                    </p:anim>
                                    <p:anim calcmode="lin" valueType="num">
                                      <p:cBhvr additive="base">
                                        <p:cTn id="16" dur="500" fill="hold"/>
                                        <p:tgtEl>
                                          <p:spTgt spid="15369"/>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2" fill="hold" grpId="0" nodeType="clickEffect">
                                  <p:stCondLst>
                                    <p:cond delay="0"/>
                                  </p:stCondLst>
                                  <p:childTnLst>
                                    <p:set>
                                      <p:cBhvr>
                                        <p:cTn id="20" dur="1" fill="hold">
                                          <p:stCondLst>
                                            <p:cond delay="0"/>
                                          </p:stCondLst>
                                        </p:cTn>
                                        <p:tgtEl>
                                          <p:spTgt spid="15372"/>
                                        </p:tgtEl>
                                        <p:attrNameLst>
                                          <p:attrName>style.visibility</p:attrName>
                                        </p:attrNameLst>
                                      </p:cBhvr>
                                      <p:to>
                                        <p:strVal val="visible"/>
                                      </p:to>
                                    </p:set>
                                    <p:anim calcmode="lin" valueType="num">
                                      <p:cBhvr additive="base">
                                        <p:cTn id="21" dur="500" fill="hold"/>
                                        <p:tgtEl>
                                          <p:spTgt spid="15372"/>
                                        </p:tgtEl>
                                        <p:attrNameLst>
                                          <p:attrName>ppt_x</p:attrName>
                                        </p:attrNameLst>
                                      </p:cBhvr>
                                      <p:tavLst>
                                        <p:tav tm="0">
                                          <p:val>
                                            <p:strVal val="1+#ppt_w/2"/>
                                          </p:val>
                                        </p:tav>
                                        <p:tav tm="100000">
                                          <p:val>
                                            <p:strVal val="#ppt_x"/>
                                          </p:val>
                                        </p:tav>
                                      </p:tavLst>
                                    </p:anim>
                                    <p:anim calcmode="lin" valueType="num">
                                      <p:cBhvr additive="base">
                                        <p:cTn id="22" dur="500" fill="hold"/>
                                        <p:tgtEl>
                                          <p:spTgt spid="15372"/>
                                        </p:tgtEl>
                                        <p:attrNameLst>
                                          <p:attrName>ppt_y</p:attrName>
                                        </p:attrNameLst>
                                      </p:cBhvr>
                                      <p:tavLst>
                                        <p:tav tm="0">
                                          <p:val>
                                            <p:strVal val="#ppt_y"/>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1536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5370"/>
                                        </p:tgtEl>
                                        <p:attrNameLst>
                                          <p:attrName>style.visibility</p:attrName>
                                        </p:attrNameLst>
                                      </p:cBhvr>
                                      <p:to>
                                        <p:strVal val="visible"/>
                                      </p:to>
                                    </p:set>
                                    <p:anim calcmode="lin" valueType="num">
                                      <p:cBhvr additive="base">
                                        <p:cTn id="31" dur="500" fill="hold"/>
                                        <p:tgtEl>
                                          <p:spTgt spid="15370"/>
                                        </p:tgtEl>
                                        <p:attrNameLst>
                                          <p:attrName>ppt_x</p:attrName>
                                        </p:attrNameLst>
                                      </p:cBhvr>
                                      <p:tavLst>
                                        <p:tav tm="0">
                                          <p:val>
                                            <p:strVal val="#ppt_x"/>
                                          </p:val>
                                        </p:tav>
                                        <p:tav tm="100000">
                                          <p:val>
                                            <p:strVal val="#ppt_x"/>
                                          </p:val>
                                        </p:tav>
                                      </p:tavLst>
                                    </p:anim>
                                    <p:anim calcmode="lin" valueType="num">
                                      <p:cBhvr additive="base">
                                        <p:cTn id="32" dur="500" fill="hold"/>
                                        <p:tgtEl>
                                          <p:spTgt spid="15370"/>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15368"/>
                                        </p:tgtEl>
                                        <p:attrNameLst>
                                          <p:attrName>style.visibility</p:attrName>
                                        </p:attrNameLst>
                                      </p:cBhvr>
                                      <p:to>
                                        <p:strVal val="visible"/>
                                      </p:to>
                                    </p:set>
                                    <p:animEffect transition="in" filter="randombar(horizontal)">
                                      <p:cBhvr>
                                        <p:cTn id="37" dur="500"/>
                                        <p:tgtEl>
                                          <p:spTgt spid="153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4" grpId="0" autoUpdateAnimBg="0"/>
      <p:bldP spid="15366" grpId="0" autoUpdateAnimBg="0"/>
      <p:bldP spid="15368" grpId="0"/>
      <p:bldP spid="15369" grpId="0"/>
      <p:bldP spid="15370" grpId="0"/>
      <p:bldP spid="15372" grpId="0" autoUpdateAnimBg="0"/>
      <p:bldP spid="15373"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9" name="Text Box 5"/>
          <p:cNvSpPr txBox="1">
            <a:spLocks noChangeArrowheads="1"/>
          </p:cNvSpPr>
          <p:nvPr/>
        </p:nvSpPr>
        <p:spPr bwMode="auto">
          <a:xfrm>
            <a:off x="4343400" y="2819400"/>
            <a:ext cx="2057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endParaRPr lang="es-ES" altLang="en-US" sz="2400"/>
          </a:p>
        </p:txBody>
      </p:sp>
      <mc:AlternateContent xmlns:mc="http://schemas.openxmlformats.org/markup-compatibility/2006" xmlns:a14="http://schemas.microsoft.com/office/drawing/2010/main">
        <mc:Choice Requires="a14">
          <p:sp>
            <p:nvSpPr>
              <p:cNvPr id="2" name="Object 8"/>
              <p:cNvSpPr txBox="1"/>
              <p:nvPr/>
            </p:nvSpPr>
            <p:spPr bwMode="auto">
              <a:xfrm>
                <a:off x="2736850" y="1748929"/>
                <a:ext cx="4279900" cy="815975"/>
              </a:xfrm>
              <a:prstGeom prst="rect">
                <a:avLst/>
              </a:prstGeom>
              <a:noFill/>
              <a:ln>
                <a:noFill/>
              </a:ln>
              <a:effectLst/>
            </p:spPr>
            <p:txBody>
              <a:bodyPr>
                <a:normAutofit fontScale="77500" lnSpcReduction="20000"/>
              </a:bodyPr>
              <a:lstStyle/>
              <a:p>
                <a:pPr/>
                <a14:m>
                  <m:oMathPara xmlns:m="http://schemas.openxmlformats.org/officeDocument/2006/math">
                    <m:oMathParaPr>
                      <m:jc m:val="left"/>
                    </m:oMathParaPr>
                    <m:oMath xmlns:m="http://schemas.openxmlformats.org/officeDocument/2006/math">
                      <m:sSub>
                        <m:sSubPr>
                          <m:ctrlPr>
                            <a:rPr lang="es-AR" i="1">
                              <a:solidFill>
                                <a:srgbClr val="000000"/>
                              </a:solidFill>
                              <a:latin typeface="Cambria Math" panose="02040503050406030204" pitchFamily="18" charset="0"/>
                            </a:rPr>
                          </m:ctrlPr>
                        </m:sSubPr>
                        <m:e>
                          <m:r>
                            <m:rPr>
                              <m:sty m:val="p"/>
                            </m:rPr>
                            <a:rPr lang="es-AR" i="0">
                              <a:solidFill>
                                <a:srgbClr val="000000"/>
                              </a:solidFill>
                              <a:latin typeface="Cambria Math" panose="02040503050406030204" pitchFamily="18" charset="0"/>
                            </a:rPr>
                            <m:t>P</m:t>
                          </m:r>
                        </m:e>
                        <m:sub>
                          <m:r>
                            <a:rPr lang="es-AR" i="1">
                              <a:solidFill>
                                <a:srgbClr val="000000"/>
                              </a:solidFill>
                              <a:latin typeface="Cambria Math" panose="02040503050406030204" pitchFamily="18" charset="0"/>
                            </a:rPr>
                            <m:t>𝑛</m:t>
                          </m:r>
                        </m:sub>
                      </m:sSub>
                      <m:r>
                        <a:rPr lang="es-AR" i="1">
                          <a:solidFill>
                            <a:srgbClr val="000000"/>
                          </a:solidFill>
                          <a:latin typeface="Cambria Math" panose="02040503050406030204" pitchFamily="18" charset="0"/>
                        </a:rPr>
                        <m:t>=1−</m:t>
                      </m:r>
                      <m:f>
                        <m:fPr>
                          <m:ctrlPr>
                            <a:rPr lang="es-AR" i="1">
                              <a:solidFill>
                                <a:srgbClr val="000000"/>
                              </a:solidFill>
                              <a:latin typeface="Cambria Math" panose="02040503050406030204" pitchFamily="18" charset="0"/>
                            </a:rPr>
                          </m:ctrlPr>
                        </m:fPr>
                        <m:num>
                          <m:r>
                            <a:rPr lang="es-AR" i="1">
                              <a:solidFill>
                                <a:srgbClr val="000000"/>
                              </a:solidFill>
                              <a:latin typeface="Cambria Math" panose="02040503050406030204" pitchFamily="18" charset="0"/>
                            </a:rPr>
                            <m:t>365⋅364⋯(365−(</m:t>
                          </m:r>
                          <m:r>
                            <a:rPr lang="es-AR" i="1">
                              <a:solidFill>
                                <a:srgbClr val="000000"/>
                              </a:solidFill>
                              <a:latin typeface="Cambria Math" panose="02040503050406030204" pitchFamily="18" charset="0"/>
                            </a:rPr>
                            <m:t>𝑛</m:t>
                          </m:r>
                          <m:r>
                            <a:rPr lang="es-AR" i="1">
                              <a:solidFill>
                                <a:srgbClr val="000000"/>
                              </a:solidFill>
                              <a:latin typeface="Cambria Math" panose="02040503050406030204" pitchFamily="18" charset="0"/>
                            </a:rPr>
                            <m:t>−1))</m:t>
                          </m:r>
                        </m:num>
                        <m:den>
                          <m:r>
                            <a:rPr lang="es-AR" i="1">
                              <a:solidFill>
                                <a:srgbClr val="000000"/>
                              </a:solidFill>
                              <a:latin typeface="Cambria Math" panose="02040503050406030204" pitchFamily="18" charset="0"/>
                            </a:rPr>
                            <m:t>36</m:t>
                          </m:r>
                          <m:sSup>
                            <m:sSupPr>
                              <m:ctrlPr>
                                <a:rPr lang="es-AR" i="1">
                                  <a:solidFill>
                                    <a:srgbClr val="000000"/>
                                  </a:solidFill>
                                  <a:latin typeface="Cambria Math" panose="02040503050406030204" pitchFamily="18" charset="0"/>
                                </a:rPr>
                              </m:ctrlPr>
                            </m:sSupPr>
                            <m:e>
                              <m:r>
                                <a:rPr lang="es-AR" i="1">
                                  <a:solidFill>
                                    <a:srgbClr val="000000"/>
                                  </a:solidFill>
                                  <a:latin typeface="Cambria Math" panose="02040503050406030204" pitchFamily="18" charset="0"/>
                                </a:rPr>
                                <m:t>5</m:t>
                              </m:r>
                            </m:e>
                            <m:sup>
                              <m:r>
                                <a:rPr lang="es-AR" i="1">
                                  <a:solidFill>
                                    <a:srgbClr val="000000"/>
                                  </a:solidFill>
                                  <a:latin typeface="Cambria Math" panose="02040503050406030204" pitchFamily="18" charset="0"/>
                                </a:rPr>
                                <m:t>𝑛</m:t>
                              </m:r>
                            </m:sup>
                          </m:sSup>
                        </m:den>
                      </m:f>
                    </m:oMath>
                  </m:oMathPara>
                </a14:m>
                <a:endParaRPr lang="es-AR"/>
              </a:p>
            </p:txBody>
          </p:sp>
        </mc:Choice>
        <mc:Fallback xmlns="">
          <p:sp>
            <p:nvSpPr>
              <p:cNvPr id="2" name="Object 8"/>
              <p:cNvSpPr txBox="1">
                <a:spLocks noRot="1" noChangeAspect="1" noMove="1" noResize="1" noEditPoints="1" noAdjustHandles="1" noChangeArrowheads="1" noChangeShapeType="1" noTextEdit="1"/>
              </p:cNvSpPr>
              <p:nvPr/>
            </p:nvSpPr>
            <p:spPr bwMode="auto">
              <a:xfrm>
                <a:off x="2736850" y="1748929"/>
                <a:ext cx="4279900" cy="815975"/>
              </a:xfrm>
              <a:prstGeom prst="rect">
                <a:avLst/>
              </a:prstGeom>
              <a:blipFill>
                <a:blip r:embed="rId3"/>
                <a:stretch>
                  <a:fillRect/>
                </a:stretch>
              </a:blipFill>
              <a:ln>
                <a:noFill/>
              </a:ln>
              <a:effectLst/>
              <a:extLst/>
            </p:spPr>
            <p:txBody>
              <a:bodyPr/>
              <a:lstStyle/>
              <a:p>
                <a:r>
                  <a:rPr lang="es-AR">
                    <a:noFill/>
                  </a:rPr>
                  <a:t> </a:t>
                </a:r>
              </a:p>
            </p:txBody>
          </p:sp>
        </mc:Fallback>
      </mc:AlternateContent>
      <p:graphicFrame>
        <p:nvGraphicFramePr>
          <p:cNvPr id="16391" name="Object 15"/>
          <p:cNvGraphicFramePr>
            <a:graphicFrameLocks noChangeAspect="1"/>
          </p:cNvGraphicFramePr>
          <p:nvPr>
            <p:extLst>
              <p:ext uri="{D42A27DB-BD31-4B8C-83A1-F6EECF244321}">
                <p14:modId xmlns:p14="http://schemas.microsoft.com/office/powerpoint/2010/main" val="107336080"/>
              </p:ext>
            </p:extLst>
          </p:nvPr>
        </p:nvGraphicFramePr>
        <p:xfrm>
          <a:off x="165888" y="2708920"/>
          <a:ext cx="5774264" cy="3816424"/>
        </p:xfrm>
        <a:graphic>
          <a:graphicData uri="http://schemas.openxmlformats.org/presentationml/2006/ole">
            <mc:AlternateContent xmlns:mc="http://schemas.openxmlformats.org/markup-compatibility/2006">
              <mc:Choice xmlns:v="urn:schemas-microsoft-com:vml" Requires="v">
                <p:oleObj name="Mathcad 5.0" r:id="rId4" imgW="3048000" imgH="1838325" progId="Mathcad">
                  <p:embed/>
                </p:oleObj>
              </mc:Choice>
              <mc:Fallback>
                <p:oleObj name="Mathcad 5.0" r:id="rId4" imgW="3048000" imgH="1838325" progId="Mathcad">
                  <p:embed/>
                  <p:pic>
                    <p:nvPicPr>
                      <p:cNvPr id="0" name="Object 1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5888" y="2708920"/>
                        <a:ext cx="5774264" cy="3816424"/>
                      </a:xfrm>
                      <a:prstGeom prst="rect">
                        <a:avLst/>
                      </a:prstGeom>
                      <a:noFill/>
                      <a:ln>
                        <a:noFill/>
                      </a:ln>
                      <a:effectLst/>
                    </p:spPr>
                  </p:pic>
                </p:oleObj>
              </mc:Fallback>
            </mc:AlternateContent>
          </a:graphicData>
        </a:graphic>
      </p:graphicFrame>
      <p:graphicFrame>
        <p:nvGraphicFramePr>
          <p:cNvPr id="4" name="Table 3"/>
          <p:cNvGraphicFramePr>
            <a:graphicFrameLocks noGrp="1"/>
          </p:cNvGraphicFramePr>
          <p:nvPr>
            <p:extLst>
              <p:ext uri="{D42A27DB-BD31-4B8C-83A1-F6EECF244321}">
                <p14:modId xmlns:p14="http://schemas.microsoft.com/office/powerpoint/2010/main" val="2400252550"/>
              </p:ext>
            </p:extLst>
          </p:nvPr>
        </p:nvGraphicFramePr>
        <p:xfrm>
          <a:off x="6228184" y="2780928"/>
          <a:ext cx="2461896" cy="3337560"/>
        </p:xfrm>
        <a:graphic>
          <a:graphicData uri="http://schemas.openxmlformats.org/drawingml/2006/table">
            <a:tbl>
              <a:tblPr firstRow="1" bandRow="1">
                <a:tableStyleId>{5C22544A-7EE6-4342-B048-85BDC9FD1C3A}</a:tableStyleId>
              </a:tblPr>
              <a:tblGrid>
                <a:gridCol w="1230948">
                  <a:extLst>
                    <a:ext uri="{9D8B030D-6E8A-4147-A177-3AD203B41FA5}">
                      <a16:colId xmlns:a16="http://schemas.microsoft.com/office/drawing/2014/main" val="3698941591"/>
                    </a:ext>
                  </a:extLst>
                </a:gridCol>
                <a:gridCol w="1230948">
                  <a:extLst>
                    <a:ext uri="{9D8B030D-6E8A-4147-A177-3AD203B41FA5}">
                      <a16:colId xmlns:a16="http://schemas.microsoft.com/office/drawing/2014/main" val="4060284964"/>
                    </a:ext>
                  </a:extLst>
                </a:gridCol>
              </a:tblGrid>
              <a:tr h="370840">
                <a:tc>
                  <a:txBody>
                    <a:bodyPr/>
                    <a:lstStyle/>
                    <a:p>
                      <a:pPr algn="ctr"/>
                      <a:r>
                        <a:rPr lang="en-US" b="1" i="1" dirty="0">
                          <a:solidFill>
                            <a:schemeClr val="tx1"/>
                          </a:solidFill>
                          <a:latin typeface="Arial" panose="020B0604020202020204" pitchFamily="34" charset="0"/>
                          <a:cs typeface="Arial" panose="020B0604020202020204" pitchFamily="34" charset="0"/>
                        </a:rPr>
                        <a:t>N</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1" dirty="0" err="1">
                          <a:solidFill>
                            <a:schemeClr val="tx1"/>
                          </a:solidFill>
                          <a:latin typeface="Arial" panose="020B0604020202020204" pitchFamily="34" charset="0"/>
                          <a:cs typeface="Arial" panose="020B0604020202020204" pitchFamily="34" charset="0"/>
                        </a:rPr>
                        <a:t>P</a:t>
                      </a:r>
                      <a:r>
                        <a:rPr lang="en-US" b="1" i="1" baseline="-25000" dirty="0" err="1">
                          <a:solidFill>
                            <a:schemeClr val="tx1"/>
                          </a:solidFill>
                          <a:latin typeface="Arial" panose="020B0604020202020204" pitchFamily="34" charset="0"/>
                          <a:cs typeface="Arial" panose="020B0604020202020204" pitchFamily="34" charset="0"/>
                        </a:rPr>
                        <a:t>n</a:t>
                      </a:r>
                      <a:endParaRPr lang="en-US" b="1" i="1" baseline="-2500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54252396"/>
                  </a:ext>
                </a:extLst>
              </a:tr>
              <a:tr h="370840">
                <a:tc>
                  <a:txBody>
                    <a:bodyPr/>
                    <a:lstStyle/>
                    <a:p>
                      <a:pPr algn="ctr"/>
                      <a:r>
                        <a:rPr lang="en-US" dirty="0">
                          <a:latin typeface="Arial" panose="020B0604020202020204" pitchFamily="34" charset="0"/>
                          <a:cs typeface="Arial" panose="020B0604020202020204" pitchFamily="34" charset="0"/>
                        </a:rPr>
                        <a:t>18</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latin typeface="Arial" panose="020B0604020202020204" pitchFamily="34" charset="0"/>
                          <a:cs typeface="Arial" panose="020B0604020202020204" pitchFamily="34" charset="0"/>
                        </a:rPr>
                        <a:t>0.347</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77787606"/>
                  </a:ext>
                </a:extLst>
              </a:tr>
              <a:tr h="370840">
                <a:tc>
                  <a:txBody>
                    <a:bodyPr/>
                    <a:lstStyle/>
                    <a:p>
                      <a:pPr algn="ctr"/>
                      <a:r>
                        <a:rPr lang="en-US" dirty="0">
                          <a:latin typeface="Arial" panose="020B0604020202020204" pitchFamily="34" charset="0"/>
                          <a:cs typeface="Arial" panose="020B0604020202020204" pitchFamily="34" charset="0"/>
                        </a:rPr>
                        <a:t>19</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latin typeface="Arial" panose="020B0604020202020204" pitchFamily="34" charset="0"/>
                          <a:cs typeface="Arial" panose="020B0604020202020204" pitchFamily="34" charset="0"/>
                        </a:rPr>
                        <a:t>0.379</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60667358"/>
                  </a:ext>
                </a:extLst>
              </a:tr>
              <a:tr h="370840">
                <a:tc>
                  <a:txBody>
                    <a:bodyPr/>
                    <a:lstStyle/>
                    <a:p>
                      <a:pPr algn="ctr"/>
                      <a:r>
                        <a:rPr lang="en-US" dirty="0">
                          <a:latin typeface="Arial" panose="020B0604020202020204" pitchFamily="34" charset="0"/>
                          <a:cs typeface="Arial" panose="020B0604020202020204" pitchFamily="34" charset="0"/>
                        </a:rPr>
                        <a:t>20</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latin typeface="Arial" panose="020B0604020202020204" pitchFamily="34" charset="0"/>
                          <a:cs typeface="Arial" panose="020B0604020202020204" pitchFamily="34" charset="0"/>
                        </a:rPr>
                        <a:t>0.411</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42607320"/>
                  </a:ext>
                </a:extLst>
              </a:tr>
              <a:tr h="370840">
                <a:tc>
                  <a:txBody>
                    <a:bodyPr/>
                    <a:lstStyle/>
                    <a:p>
                      <a:pPr algn="ctr"/>
                      <a:r>
                        <a:rPr lang="en-US" dirty="0">
                          <a:latin typeface="Arial" panose="020B0604020202020204" pitchFamily="34" charset="0"/>
                          <a:cs typeface="Arial" panose="020B0604020202020204" pitchFamily="34" charset="0"/>
                        </a:rPr>
                        <a:t>21</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latin typeface="Arial" panose="020B0604020202020204" pitchFamily="34" charset="0"/>
                          <a:cs typeface="Arial" panose="020B0604020202020204" pitchFamily="34" charset="0"/>
                        </a:rPr>
                        <a:t>0.444</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33494387"/>
                  </a:ext>
                </a:extLst>
              </a:tr>
              <a:tr h="370840">
                <a:tc>
                  <a:txBody>
                    <a:bodyPr/>
                    <a:lstStyle/>
                    <a:p>
                      <a:pPr algn="ctr"/>
                      <a:r>
                        <a:rPr lang="en-US" b="1" dirty="0">
                          <a:latin typeface="Arial" panose="020B0604020202020204" pitchFamily="34" charset="0"/>
                          <a:cs typeface="Arial" panose="020B0604020202020204" pitchFamily="34" charset="0"/>
                        </a:rPr>
                        <a:t>22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1" dirty="0">
                          <a:latin typeface="Arial" panose="020B0604020202020204" pitchFamily="34" charset="0"/>
                          <a:cs typeface="Arial" panose="020B0604020202020204" pitchFamily="34" charset="0"/>
                        </a:rPr>
                        <a:t>0.476</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91094625"/>
                  </a:ext>
                </a:extLst>
              </a:tr>
              <a:tr h="370840">
                <a:tc>
                  <a:txBody>
                    <a:bodyPr/>
                    <a:lstStyle/>
                    <a:p>
                      <a:pPr algn="ctr"/>
                      <a:r>
                        <a:rPr lang="en-US" b="1" dirty="0">
                          <a:latin typeface="Arial" panose="020B0604020202020204" pitchFamily="34" charset="0"/>
                          <a:cs typeface="Arial" panose="020B0604020202020204" pitchFamily="34" charset="0"/>
                        </a:rPr>
                        <a:t>23</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1" dirty="0">
                          <a:latin typeface="Arial" panose="020B0604020202020204" pitchFamily="34" charset="0"/>
                          <a:cs typeface="Arial" panose="020B0604020202020204" pitchFamily="34" charset="0"/>
                        </a:rPr>
                        <a:t>0.507</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68007428"/>
                  </a:ext>
                </a:extLst>
              </a:tr>
              <a:tr h="370840">
                <a:tc>
                  <a:txBody>
                    <a:bodyPr/>
                    <a:lstStyle/>
                    <a:p>
                      <a:pPr algn="ctr"/>
                      <a:r>
                        <a:rPr lang="en-US" dirty="0">
                          <a:latin typeface="Arial" panose="020B0604020202020204" pitchFamily="34" charset="0"/>
                          <a:cs typeface="Arial" panose="020B0604020202020204" pitchFamily="34" charset="0"/>
                        </a:rPr>
                        <a:t>24</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latin typeface="Arial" panose="020B0604020202020204" pitchFamily="34" charset="0"/>
                          <a:cs typeface="Arial" panose="020B0604020202020204" pitchFamily="34" charset="0"/>
                        </a:rPr>
                        <a:t>0.538</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73447370"/>
                  </a:ext>
                </a:extLst>
              </a:tr>
              <a:tr h="370840">
                <a:tc>
                  <a:txBody>
                    <a:bodyPr/>
                    <a:lstStyle/>
                    <a:p>
                      <a:pPr algn="ctr"/>
                      <a:r>
                        <a:rPr lang="en-US" dirty="0">
                          <a:latin typeface="Arial" panose="020B0604020202020204" pitchFamily="34" charset="0"/>
                          <a:cs typeface="Arial" panose="020B0604020202020204" pitchFamily="34" charset="0"/>
                        </a:rPr>
                        <a:t>25</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dirty="0">
                          <a:latin typeface="Arial" panose="020B0604020202020204" pitchFamily="34" charset="0"/>
                          <a:cs typeface="Arial" panose="020B0604020202020204" pitchFamily="34" charset="0"/>
                        </a:rPr>
                        <a:t>0.569</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1905814127"/>
                  </a:ext>
                </a:extLst>
              </a:tr>
            </a:tbl>
          </a:graphicData>
        </a:graphic>
      </p:graphicFrame>
      <p:sp>
        <p:nvSpPr>
          <p:cNvPr id="12" name="Rectangle 2">
            <a:extLst>
              <a:ext uri="{FF2B5EF4-FFF2-40B4-BE49-F238E27FC236}">
                <a16:creationId xmlns:a16="http://schemas.microsoft.com/office/drawing/2014/main" id="{A55CF141-6935-43B9-A6D9-AF1E41A5ED90}"/>
              </a:ext>
            </a:extLst>
          </p:cNvPr>
          <p:cNvSpPr txBox="1">
            <a:spLocks noChangeArrowheads="1"/>
          </p:cNvSpPr>
          <p:nvPr/>
        </p:nvSpPr>
        <p:spPr bwMode="auto">
          <a:xfrm>
            <a:off x="1066800" y="355599"/>
            <a:ext cx="7620000" cy="1216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a:lstStyle>
          <a:p>
            <a:pPr eaLnBrk="1" hangingPunct="1"/>
            <a:r>
              <a:rPr lang="es-MX" altLang="en-US" sz="3200" b="1" dirty="0">
                <a:latin typeface="Broadway" panose="04040905080B02020502" pitchFamily="82" charset="0"/>
              </a:rPr>
              <a:t>Regla de Laplace</a:t>
            </a:r>
          </a:p>
          <a:p>
            <a:pPr eaLnBrk="1" hangingPunct="1"/>
            <a:r>
              <a:rPr lang="en-US" altLang="en-US" sz="3200" b="1" dirty="0">
                <a:latin typeface="Broadway" panose="04040905080B02020502" pitchFamily="82" charset="0"/>
              </a:rPr>
              <a:t>Un </a:t>
            </a:r>
            <a:r>
              <a:rPr lang="en-US" altLang="en-US" sz="3200" b="1" dirty="0" err="1">
                <a:latin typeface="Broadway" panose="04040905080B02020502" pitchFamily="82" charset="0"/>
              </a:rPr>
              <a:t>problema</a:t>
            </a:r>
            <a:r>
              <a:rPr lang="en-US" altLang="en-US" sz="3200" b="1" dirty="0">
                <a:latin typeface="Broadway" panose="04040905080B02020502" pitchFamily="82" charset="0"/>
              </a:rPr>
              <a:t> de </a:t>
            </a:r>
            <a:r>
              <a:rPr lang="en-US" altLang="en-US" sz="3200" b="1" dirty="0" err="1">
                <a:latin typeface="Broadway" panose="04040905080B02020502" pitchFamily="82" charset="0"/>
              </a:rPr>
              <a:t>cumpleaños</a:t>
            </a:r>
            <a:endParaRPr lang="en-US" altLang="en-US" sz="3200" b="1" dirty="0">
              <a:latin typeface="Broadway" panose="04040905080B02020502" pitchFamily="82"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nodePh="1">
                                  <p:stCondLst>
                                    <p:cond delay="0"/>
                                  </p:stCondLst>
                                  <p:endCondLst>
                                    <p:cond evt="begin" delay="0">
                                      <p:tn val="5"/>
                                    </p:cond>
                                  </p:endCondLst>
                                  <p:childTnLst>
                                    <p:set>
                                      <p:cBhvr>
                                        <p:cTn id="6" dur="1" fill="hold">
                                          <p:stCondLst>
                                            <p:cond delay="0"/>
                                          </p:stCondLst>
                                        </p:cTn>
                                        <p:tgtEl>
                                          <p:spTgt spid="16389"/>
                                        </p:tgtEl>
                                        <p:attrNameLst>
                                          <p:attrName>style.visibility</p:attrName>
                                        </p:attrNameLst>
                                      </p:cBhvr>
                                      <p:to>
                                        <p:strVal val="visible"/>
                                      </p:to>
                                    </p:set>
                                    <p:animEffect transition="in" filter="blinds(horizontal)">
                                      <p:cBhvr>
                                        <p:cTn id="7" dur="500"/>
                                        <p:tgtEl>
                                          <p:spTgt spid="163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9" grpId="0" autoUpdateAnimBg="0"/>
    </p:bldLst>
  </p:timing>
</p:sld>
</file>

<file path=ppt/theme/theme1.xml><?xml version="1.0" encoding="utf-8"?>
<a:theme xmlns:a="http://schemas.openxmlformats.org/drawingml/2006/main" name="Notebook">
  <a:themeElements>
    <a:clrScheme name="Notebook 1">
      <a:dk1>
        <a:srgbClr val="000000"/>
      </a:dk1>
      <a:lt1>
        <a:srgbClr val="FEFDE3"/>
      </a:lt1>
      <a:dk2>
        <a:srgbClr val="221304"/>
      </a:dk2>
      <a:lt2>
        <a:srgbClr val="CBBD83"/>
      </a:lt2>
      <a:accent1>
        <a:srgbClr val="A1BD69"/>
      </a:accent1>
      <a:accent2>
        <a:srgbClr val="3694B6"/>
      </a:accent2>
      <a:accent3>
        <a:srgbClr val="FEFEEF"/>
      </a:accent3>
      <a:accent4>
        <a:srgbClr val="000000"/>
      </a:accent4>
      <a:accent5>
        <a:srgbClr val="CDDBB9"/>
      </a:accent5>
      <a:accent6>
        <a:srgbClr val="3086A5"/>
      </a:accent6>
      <a:hlink>
        <a:srgbClr val="660066"/>
      </a:hlink>
      <a:folHlink>
        <a:srgbClr val="666699"/>
      </a:folHlink>
    </a:clrScheme>
    <a:fontScheme name="Notebook">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Notebook 1">
        <a:dk1>
          <a:srgbClr val="000000"/>
        </a:dk1>
        <a:lt1>
          <a:srgbClr val="FEFDE3"/>
        </a:lt1>
        <a:dk2>
          <a:srgbClr val="221304"/>
        </a:dk2>
        <a:lt2>
          <a:srgbClr val="CBBD83"/>
        </a:lt2>
        <a:accent1>
          <a:srgbClr val="A1BD69"/>
        </a:accent1>
        <a:accent2>
          <a:srgbClr val="3694B6"/>
        </a:accent2>
        <a:accent3>
          <a:srgbClr val="FEFEEF"/>
        </a:accent3>
        <a:accent4>
          <a:srgbClr val="000000"/>
        </a:accent4>
        <a:accent5>
          <a:srgbClr val="CDDBB9"/>
        </a:accent5>
        <a:accent6>
          <a:srgbClr val="3086A5"/>
        </a:accent6>
        <a:hlink>
          <a:srgbClr val="660066"/>
        </a:hlink>
        <a:folHlink>
          <a:srgbClr val="666699"/>
        </a:folHlink>
      </a:clrScheme>
      <a:clrMap bg1="lt1" tx1="dk1" bg2="lt2" tx2="dk2" accent1="accent1" accent2="accent2" accent3="accent3" accent4="accent4" accent5="accent5" accent6="accent6" hlink="hlink" folHlink="folHlink"/>
    </a:extraClrScheme>
    <a:extraClrScheme>
      <a:clrScheme name="Notebook 2">
        <a:dk1>
          <a:srgbClr val="000000"/>
        </a:dk1>
        <a:lt1>
          <a:srgbClr val="FFFFFF"/>
        </a:lt1>
        <a:dk2>
          <a:srgbClr val="221304"/>
        </a:dk2>
        <a:lt2>
          <a:srgbClr val="CBBD83"/>
        </a:lt2>
        <a:accent1>
          <a:srgbClr val="A1BD69"/>
        </a:accent1>
        <a:accent2>
          <a:srgbClr val="3694B6"/>
        </a:accent2>
        <a:accent3>
          <a:srgbClr val="FFFFFF"/>
        </a:accent3>
        <a:accent4>
          <a:srgbClr val="000000"/>
        </a:accent4>
        <a:accent5>
          <a:srgbClr val="CDDBB9"/>
        </a:accent5>
        <a:accent6>
          <a:srgbClr val="3086A5"/>
        </a:accent6>
        <a:hlink>
          <a:srgbClr val="660066"/>
        </a:hlink>
        <a:folHlink>
          <a:srgbClr val="666699"/>
        </a:folHlink>
      </a:clrScheme>
      <a:clrMap bg1="lt1" tx1="dk1" bg2="lt2" tx2="dk2" accent1="accent1" accent2="accent2" accent3="accent3" accent4="accent4" accent5="accent5" accent6="accent6" hlink="hlink" folHlink="folHlink"/>
    </a:extraClrScheme>
    <a:extraClrScheme>
      <a:clrScheme name="Notebook 3">
        <a:dk1>
          <a:srgbClr val="000000"/>
        </a:dk1>
        <a:lt1>
          <a:srgbClr val="FFFFFF"/>
        </a:lt1>
        <a:dk2>
          <a:srgbClr val="000000"/>
        </a:dk2>
        <a:lt2>
          <a:srgbClr val="DDDDDD"/>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777777"/>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90342E83A592574FBDC5DCFFC4DA0D87" ma:contentTypeVersion="8" ma:contentTypeDescription="Crear nuevo documento." ma:contentTypeScope="" ma:versionID="e7524ad1a3cd06ea7e9ae4061b1b2ea6">
  <xsd:schema xmlns:xsd="http://www.w3.org/2001/XMLSchema" xmlns:p="http://schemas.microsoft.com/office/2006/metadata/properties" xmlns:ns2="ec82e05e-5215-4d49-b17f-4ff2283cfc0c" xmlns:ns3="c9260321-2f47-4675-b46b-f8e3f10ea3c9" targetNamespace="http://schemas.microsoft.com/office/2006/metadata/properties" ma:root="true" ma:fieldsID="a3f90285a75ae4c37ac4695b37760fb1" ns2:_="" ns3:_="">
    <xsd:import namespace="ec82e05e-5215-4d49-b17f-4ff2283cfc0c"/>
    <xsd:import namespace="c9260321-2f47-4675-b46b-f8e3f10ea3c9"/>
    <xsd:element name="properties">
      <xsd:complexType>
        <xsd:sequence>
          <xsd:element name="documentManagement">
            <xsd:complexType>
              <xsd:all>
                <xsd:element ref="ns2:Vigente_x0020_Desde0" minOccurs="0"/>
                <xsd:element ref="ns3:Vigente_x0020_Hasta" minOccurs="0"/>
                <xsd:element ref="ns2:Descargar" minOccurs="0"/>
                <xsd:element ref="ns2:Eliminar" minOccurs="0"/>
              </xsd:all>
            </xsd:complexType>
          </xsd:element>
        </xsd:sequence>
      </xsd:complexType>
    </xsd:element>
  </xsd:schema>
  <xsd:schema xmlns:xsd="http://www.w3.org/2001/XMLSchema" xmlns:dms="http://schemas.microsoft.com/office/2006/documentManagement/types" targetNamespace="ec82e05e-5215-4d49-b17f-4ff2283cfc0c" elementFormDefault="qualified">
    <xsd:import namespace="http://schemas.microsoft.com/office/2006/documentManagement/types"/>
    <xsd:element name="Vigente_x0020_Desde0" ma:index="1" nillable="true" ma:displayName="Vigente Desde" ma:default="[today]" ma:format="DateOnly" ma:internalName="Vigente_x0020_Desde0">
      <xsd:simpleType>
        <xsd:restriction base="dms:DateTime"/>
      </xsd:simpleType>
    </xsd:element>
    <xsd:element name="Descargar" ma:index="10" nillable="true" ma:displayName="Descargar" ma:internalName="Descargar">
      <xsd:simpleType>
        <xsd:restriction base="dms:Unknown"/>
      </xsd:simpleType>
    </xsd:element>
    <xsd:element name="Eliminar" ma:index="11" nillable="true" ma:displayName="Eliminar" ma:internalName="Eliminar">
      <xsd:simpleType>
        <xsd:restriction base="dms:Unknown"/>
      </xsd:simpleType>
    </xsd:element>
  </xsd:schema>
  <xsd:schema xmlns:xsd="http://www.w3.org/2001/XMLSchema" xmlns:dms="http://schemas.microsoft.com/office/2006/documentManagement/types" targetNamespace="c9260321-2f47-4675-b46b-f8e3f10ea3c9" elementFormDefault="qualified">
    <xsd:import namespace="http://schemas.microsoft.com/office/2006/documentManagement/types"/>
    <xsd:element name="Vigente_x0020_Hasta" ma:index="2" nillable="true" ma:displayName="Vigente Hasta" ma:format="DateOnly" ma:internalName="Vigente_x0020_Hasta">
      <xsd:simpleType>
        <xsd:restriction base="dms:DateTim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office/internal/2005/internalDocumentation"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6" ma:displayName="Tipo de contenido" ma:readOnly="true"/>
        <xsd:element ref="dc:title" minOccurs="0" maxOccurs="1" ma:index="0"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lastPrinted" minOccurs="0" maxOccurs="1" type="xsd:dateTime"/>
        <xsd:element name="contentStatus" minOccurs="0" maxOccurs="1" type="xsd:string"/>
      </xsd:all>
    </xsd:complexType>
  </xsd: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Eliminar xmlns="ec82e05e-5215-4d49-b17f-4ff2283cfc0c">if(confirm('Esta seguro?')){SubmitFormPost('/grado/93.24/_vti_bin/owssvr.dll?CS=65001&amp;Cmd=Delete&amp;List={ec82e05e-5215-4d49-b17f-4ff2283cfc0c}&amp;ID=70&amp;owsfileref=/grado/93.24/Material Didctico/Cálculo de probabilidades con la regla de Laplace.ppt&amp;NextUsing=/grado/93.24/Material Didctico/')}</Eliminar>
    <Descargar xmlns="ec82e05e-5215-4d49-b17f-4ff2283cfc0c">/grado/93.24/_layouts/download.aspx?SourceUrl=/grado/93.24/Material Didctico/Cálculo de probabilidades con la regla de Laplace.ppt&amp;Source= &amp;FldUrl=/grado/93.24/Material Didctico/Cálculo de probabilidades con la regla de Laplace.ppt</Descargar>
    <Vigente_x0020_Hasta xmlns="c9260321-2f47-4675-b46b-f8e3f10ea3c9" xsi:nil="true"/>
    <Vigente_x0020_Desde0 xmlns="ec82e05e-5215-4d49-b17f-4ff2283cfc0c">2016-03-11T18:46:29+00:00</Vigente_x0020_Desde0>
  </documentManagement>
</p:properties>
</file>

<file path=customXml/item3.xml><?xml version="1.0" encoding="utf-8"?>
<LongProperties xmlns="http://schemas.microsoft.com/office/2006/metadata/longProperties">
  <LongProp xmlns="" name="Eliminar"><![CDATA[if(confirm('Esta seguro?')){SubmitFormPost('/grado/93.24/_vti_bin/owssvr.dll?CS=65001&Cmd=Delete&List={ec82e05e-5215-4d49-b17f-4ff2283cfc0c}&ID=70&owsfileref=/grado/93.24/Material Didctico/Cálculo de probabilidades con la regla de Laplace.ppt&NextUsing=/grado/93.24/Material Didctico/')}]]></LongProp>
</LongProperties>
</file>

<file path=customXml/itemProps1.xml><?xml version="1.0" encoding="utf-8"?>
<ds:datastoreItem xmlns:ds="http://schemas.openxmlformats.org/officeDocument/2006/customXml" ds:itemID="{35B7E403-6C8D-4185-85B8-0A0F63A7970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c82e05e-5215-4d49-b17f-4ff2283cfc0c"/>
    <ds:schemaRef ds:uri="c9260321-2f47-4675-b46b-f8e3f10ea3c9"/>
    <ds:schemaRef ds:uri="http://schemas.microsoft.com/office/2006/documentManagement/types"/>
    <ds:schemaRef ds:uri="http://schemas.openxmlformats.org/package/2006/metadata/core-properties"/>
    <ds:schemaRef ds:uri="http://purl.org/dc/elements/1.1/"/>
    <ds:schemaRef ds:uri="http://purl.org/dc/terms/"/>
    <ds:schemaRef ds:uri="http://schemas.microsoft.com/office/internal/2005/internalDocumentation"/>
  </ds:schemaRefs>
</ds:datastoreItem>
</file>

<file path=customXml/itemProps2.xml><?xml version="1.0" encoding="utf-8"?>
<ds:datastoreItem xmlns:ds="http://schemas.openxmlformats.org/officeDocument/2006/customXml" ds:itemID="{2775C6B8-86D9-488D-A22A-65AF6A065704}">
  <ds:schemaRefs>
    <ds:schemaRef ds:uri="http://schemas.openxmlformats.org/package/2006/metadata/core-properties"/>
    <ds:schemaRef ds:uri="http://purl.org/dc/dcmitype/"/>
    <ds:schemaRef ds:uri="http://purl.org/dc/elements/1.1/"/>
    <ds:schemaRef ds:uri="http://schemas.microsoft.com/office/2006/metadata/properties"/>
    <ds:schemaRef ds:uri="ec82e05e-5215-4d49-b17f-4ff2283cfc0c"/>
    <ds:schemaRef ds:uri="http://schemas.microsoft.com/office/2006/documentManagement/types"/>
    <ds:schemaRef ds:uri="c9260321-2f47-4675-b46b-f8e3f10ea3c9"/>
    <ds:schemaRef ds:uri="http://www.w3.org/XML/1998/namespace"/>
    <ds:schemaRef ds:uri="http://purl.org/dc/terms/"/>
    <ds:schemaRef ds:uri="http://schemas.microsoft.com/office/infopath/2007/PartnerControls"/>
  </ds:schemaRefs>
</ds:datastoreItem>
</file>

<file path=customXml/itemProps3.xml><?xml version="1.0" encoding="utf-8"?>
<ds:datastoreItem xmlns:ds="http://schemas.openxmlformats.org/officeDocument/2006/customXml" ds:itemID="{C5979E83-08C1-4F2C-8B10-3946EE334373}">
  <ds:schemaRefs>
    <ds:schemaRef ds:uri="http://schemas.microsoft.com/office/2006/metadata/longProperties"/>
    <ds:schemaRef ds:uri=""/>
  </ds:schemaRefs>
</ds:datastoreItem>
</file>

<file path=docProps/app.xml><?xml version="1.0" encoding="utf-8"?>
<Properties xmlns="http://schemas.openxmlformats.org/officeDocument/2006/extended-properties" xmlns:vt="http://schemas.openxmlformats.org/officeDocument/2006/docPropsVTypes">
  <Template>C:\Archivos de programa\Microsoft Office\Templates\Presentation Designs\Notebook.pot</Template>
  <TotalTime>557</TotalTime>
  <Words>1324</Words>
  <Application>Microsoft Office PowerPoint</Application>
  <PresentationFormat>On-screen Show (4:3)</PresentationFormat>
  <Paragraphs>172</Paragraphs>
  <Slides>20</Slides>
  <Notes>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20</vt:i4>
      </vt:variant>
    </vt:vector>
  </HeadingPairs>
  <TitlesOfParts>
    <vt:vector size="27" baseType="lpstr">
      <vt:lpstr>Arial</vt:lpstr>
      <vt:lpstr>Broadway</vt:lpstr>
      <vt:lpstr>Cambria Math</vt:lpstr>
      <vt:lpstr>Copperplate Gothic Bold</vt:lpstr>
      <vt:lpstr>Times New Roman</vt:lpstr>
      <vt:lpstr>Notebook</vt:lpstr>
      <vt:lpstr>Mathcad 5.0</vt:lpstr>
      <vt:lpstr>Cálculo de probabilidades con la regla de Laplace</vt:lpstr>
      <vt:lpstr>Cálculo de probabilidades con la regla de Laplace</vt:lpstr>
      <vt:lpstr>Cálculo de probabilidades con la regla de Laplace</vt:lpstr>
      <vt:lpstr>Cálculo de probabilidades con la regla de Laplace</vt:lpstr>
      <vt:lpstr>Cálculo de probabilidades con la regla de Laplace</vt:lpstr>
      <vt:lpstr>Regla de Laplace ¿Qué conviene hacer?</vt:lpstr>
      <vt:lpstr>Regla de Laplace ¿Qué conviene hacer?</vt:lpstr>
      <vt:lpstr>Regla de Laplace ¿Qué conviene hacer?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Regla de Laplace Póker en una mano</vt:lpstr>
      <vt:lpstr>PowerPoint Presentation</vt:lpstr>
      <vt:lpstr>PowerPoint Presentation</vt:lpstr>
    </vt:vector>
  </TitlesOfParts>
  <Company>Transporte de Hidrocarburos SA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Cálculo de probabilidades con la regla de Laplace</dc:title>
  <dc:creator>Richard Romero</dc:creator>
  <cp:lastModifiedBy>Pablo Fierens</cp:lastModifiedBy>
  <cp:revision>107</cp:revision>
  <dcterms:created xsi:type="dcterms:W3CDTF">1999-01-01T03:08:04Z</dcterms:created>
  <dcterms:modified xsi:type="dcterms:W3CDTF">2024-02-14T18:34:26Z</dcterms:modified>
</cp:coreProperties>
</file>